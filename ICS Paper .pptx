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26355457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26355457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LIDES_API126355457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LIDES_API126355457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S_API1263554574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S_API1263554574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SLIDES_API1263554574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SLIDES_API1263554574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SLIDES_API1263554574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SLIDES_API1263554574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S_API1263554574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S_API1263554574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SLIDES_API1263554574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SLIDES_API1263554574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SLIDES_API1263554574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SLIDES_API1263554574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SLIDES_API1263554574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SLIDES_API1263554574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1954530"/>
            <a:ext cx="9144000" cy="12345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457200" y="2005965"/>
            <a:ext cx="8229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</a:rPr>
              <a:t>Literature Review &amp; Emerging Trends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57200" y="26746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</a:rPr>
              <a:t>Industrial Wireless Communication for Industry 4.0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56A0"/>
                </a:solidFill>
              </a:rPr>
              <a:t>2.1  Early Wireless Sensor Networks (WSN)</a:t>
            </a:r>
            <a:endParaRPr b="1" sz="2200">
              <a:solidFill>
                <a:srgbClr val="1A56A0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365760" y="1080135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365760" y="1080135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Foundation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2468880" y="1080135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2651760" y="1080135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WSN established the foundation of industrial wireless communication, based on IEEE 802.15.4 standards.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65760" y="1980248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365760" y="1980248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Main Goal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2468880" y="1980248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2651760" y="1980248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Collect and transmit data wirelessly with low power consumption, allowing devices to run on batteries for years.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365760" y="2880360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365760" y="2880360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Key Challenges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68880" y="2880360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2651760" y="2880360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Unstable delays, electromagnetic interference from machines, and signal loss in metallic factory environments.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65760" y="3780473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365760" y="3780473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Significance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2468880" y="3780473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651760" y="3780473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Despite the challenges, WSN shaped the design principles still used in modern industrial wireless systems today.</a:t>
            </a:r>
            <a:endParaRPr sz="12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56A0"/>
                </a:solidFill>
              </a:rPr>
              <a:t>2.2  Industrial Wi-Fi Evolution</a:t>
            </a:r>
            <a:endParaRPr b="1" sz="2200">
              <a:solidFill>
                <a:srgbClr val="1A56A0"/>
              </a:solidFill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365760" y="1080135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365760" y="1080135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802.11b/g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2194560" y="1080135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2377440" y="1080135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High variable latency — not suitable for closed-loop industrial control.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365760" y="1954530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365760" y="1954530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802.11e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2194560" y="1954530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2377440" y="1954530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QoS (EDCA) introduced traffic prioritisation, improving reliability.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365760" y="2828925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365760" y="2828925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802.11n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2194560" y="2828925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2377440" y="2828925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MIMO antennas enabled spatial multiplexing and increased data rates.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65760" y="3703320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365760" y="3703320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Wi-Fi 6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2194560" y="3703320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2377440" y="3703320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OFDMA and TWT reduced latency to ~5 ms — suitable for high-bandwidth industrial applications.</a:t>
            </a:r>
            <a:endParaRPr sz="12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56A0"/>
                </a:solidFill>
              </a:rPr>
              <a:t>2.3  5G and the URLLC Paradigm</a:t>
            </a:r>
            <a:endParaRPr b="1" sz="2200">
              <a:solidFill>
                <a:srgbClr val="1A56A0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365760" y="1080135"/>
            <a:ext cx="2560200" cy="11316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365760" y="1080135"/>
            <a:ext cx="2560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&lt; 1 ms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365760" y="1594485"/>
            <a:ext cx="2560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Latency for motion control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291840" y="1080135"/>
            <a:ext cx="2560200" cy="11316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3291840" y="1080135"/>
            <a:ext cx="2560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99.9999%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291840" y="1594485"/>
            <a:ext cx="2560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Reliability (URLLC)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217920" y="1080135"/>
            <a:ext cx="2560200" cy="11316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217920" y="1080135"/>
            <a:ext cx="2560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70%+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217920" y="1594485"/>
            <a:ext cx="2560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New private wireless spend on standalone 5G (2025)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48640" y="257175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3GPP Release 15 (2018): 5G NR air interface standardised.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48640" y="324040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Release 16 (2020): mini-slot scheduling and enhanced HARQ added for URLLC.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48640" y="390906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Release 16 also defines 5G as a TSN bridge for end-to-end deterministic delivery.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48640" y="457771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Many industries are now adopting private 5G networks for real-time control tasks.</a:t>
            </a:r>
            <a:endParaRPr sz="13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56A0"/>
                </a:solidFill>
              </a:rPr>
              <a:t>2.4  TSN Integration — Towards Wireless Determinism</a:t>
            </a:r>
            <a:endParaRPr b="1" sz="2200">
              <a:solidFill>
                <a:srgbClr val="1A56A0"/>
              </a:solidFill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365760" y="1080135"/>
            <a:ext cx="40233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56A0"/>
                </a:solidFill>
              </a:rPr>
              <a:t>What TSN Provides</a:t>
            </a:r>
            <a:endParaRPr b="1">
              <a:solidFill>
                <a:srgbClr val="1A56A0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48640" y="159448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Credit-Based Shaping (802.1Qav)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548640" y="226314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Time-Aware Shaping (802.1Qbv)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48640" y="293179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Cyclic Queuing and Forwarding (802.1Qch)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48640" y="360045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Sub-microsecond time synchronisation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4754880" y="1080135"/>
            <a:ext cx="40233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56A0"/>
                </a:solidFill>
              </a:rPr>
              <a:t>Key Impact</a:t>
            </a:r>
            <a:endParaRPr b="1">
              <a:solidFill>
                <a:srgbClr val="1A56A0"/>
              </a:solidFill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846320" y="1594485"/>
            <a:ext cx="393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Wireless becomes as reliable as wired PROFINET / EtherCAT.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4846320" y="2391728"/>
            <a:ext cx="393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Wired and wireless robot axes driven by the same scheduler.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4846320" y="3188970"/>
            <a:ext cx="3931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IEEE actively extending TSN standards to Wi-Fi (802.11).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572000" y="1080135"/>
            <a:ext cx="36600" cy="370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56A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731520" y="1285875"/>
            <a:ext cx="7680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731520" y="1800225"/>
            <a:ext cx="7680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</a:rPr>
              <a:t>Emerging Trends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731520" y="3086100"/>
            <a:ext cx="7680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DD7EE"/>
                </a:solidFill>
              </a:rPr>
              <a:t>Wi-Fi 7  ·  Private 5G  ·  Wireless TSN  ·  6G Outlook</a:t>
            </a:r>
            <a:endParaRPr>
              <a:solidFill>
                <a:srgbClr val="BDD7E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56A0"/>
                </a:solidFill>
              </a:rPr>
              <a:t>5.1  Wi-Fi 7 — Multi-Link Operation (MLO)</a:t>
            </a:r>
            <a:endParaRPr b="1" sz="2200">
              <a:solidFill>
                <a:srgbClr val="1A56A0"/>
              </a:solidFill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365760" y="1131570"/>
            <a:ext cx="2469000" cy="8229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365760" y="113157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2.4 GHz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3291840" y="1131570"/>
            <a:ext cx="2469000" cy="8229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3291840" y="113157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5 GHz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6217920" y="1131570"/>
            <a:ext cx="2469000" cy="8229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6217920" y="113157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6 GHz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365760" y="2005965"/>
            <a:ext cx="841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666666"/>
                </a:solidFill>
              </a:rPr>
              <a:t>All three frequency bands used simultaneously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548640" y="257175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MLO provides packet-level diversity — a dropped packet on one band is recovered on another without retransmission delay.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548640" y="324040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IEEE 802.11be (Wi-Fi 7) is finalised. Draft 1.0 of Wi-Fi 8 (802.11bn) completed August 2025.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548640" y="390906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Wi-Fi 8 targets deterministic performance and reliability rather than just higher throughput.</a:t>
            </a:r>
            <a:endParaRPr sz="13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56A0"/>
                </a:solidFill>
              </a:rPr>
              <a:t>5.2  Private 5G Campus Networks</a:t>
            </a:r>
            <a:endParaRPr b="1" sz="2200">
              <a:solidFill>
                <a:srgbClr val="1A56A0"/>
              </a:solidFill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365760" y="1543050"/>
            <a:ext cx="2377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of new private wireless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spend in 2025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48640" y="174879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Companies build and manage their own 5G network instead of using public infrastructure.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48640" y="241744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Full control over security, service levels, and spectrum allocation.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48640" y="308610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Optimised for deterministic, high-density industrial environments such as factories.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48640" y="375475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Complements industrial Ethernet and Wi-Fi in new (greenfield) factory deployments.</a:t>
            </a:r>
            <a:endParaRPr sz="13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56A0"/>
                </a:solidFill>
              </a:rPr>
              <a:t>5.3  Wireless Time-Sensitive Networking</a:t>
            </a:r>
            <a:endParaRPr b="1" sz="2200">
              <a:solidFill>
                <a:srgbClr val="1A56A0"/>
              </a:solidFill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429015" y="141996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TSN ensures data arrives at the exact required time — critical for real-time control.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29015" y="217559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Closes the "last mile" gap: wireless now matches wired PROFINET and EtherCAT guarantees.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72515" y="2895958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A single TSN scheduler can drive both wired and wireless robot axes at the same time.</a:t>
            </a:r>
            <a:endParaRPr sz="13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