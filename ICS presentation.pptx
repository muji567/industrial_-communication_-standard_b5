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5" r:id="rId7"/>
    <p:sldId id="266" r:id="rId8"/>
    <p:sldId id="267" r:id="rId9"/>
    <p:sldId id="268" r:id="rId10"/>
    <p:sldId id="269" r:id="rId11"/>
    <p:sldId id="261" r:id="rId12"/>
    <p:sldId id="262" r:id="rId13"/>
    <p:sldId id="263" r:id="rId14"/>
    <p:sldId id="264" r:id="rId1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393" y="4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SLIDES_API126355457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SLIDES_API126355457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SLIDES_API1263554574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SLIDES_API1263554574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SLIDES_API1263554574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SLIDES_API1263554574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SLIDES_API1263554574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SLIDES_API1263554574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SLIDES_API1263554574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SLIDES_API1263554574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SLIDES_API1263554574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SLIDES_API1263554574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SLIDES_API1263554574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SLIDES_API1263554574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SLIDES_API1263554574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SLIDES_API1263554574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SLIDES_API1263554574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SLIDES_API1263554574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0" y="1954530"/>
            <a:ext cx="9144000" cy="12345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13"/>
          <p:cNvSpPr txBox="1"/>
          <p:nvPr/>
        </p:nvSpPr>
        <p:spPr>
          <a:xfrm>
            <a:off x="457200" y="2005965"/>
            <a:ext cx="8229600" cy="66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rgbClr val="FFFFFF"/>
                </a:solidFill>
              </a:rPr>
              <a:t>Literature Review &amp; Emerging Trends</a:t>
            </a:r>
            <a:endParaRPr sz="2800" b="1">
              <a:solidFill>
                <a:srgbClr val="FFFFFF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457200" y="2674620"/>
            <a:ext cx="82296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FFFF"/>
                </a:solidFill>
              </a:rPr>
              <a:t>Industrial Wireless Communication for Industry 4.0</a:t>
            </a:r>
            <a:endParaRPr sz="15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/>
        </p:nvSpPr>
        <p:spPr>
          <a:xfrm>
            <a:off x="365760" y="205740"/>
            <a:ext cx="8412600" cy="66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rgbClr val="1A56A0"/>
                </a:solidFill>
              </a:rPr>
              <a:t>2.1  Early Wireless Sensor Networks (WSN)</a:t>
            </a:r>
            <a:endParaRPr sz="2200" b="1">
              <a:solidFill>
                <a:srgbClr val="1A56A0"/>
              </a:solidFill>
            </a:endParaRPr>
          </a:p>
        </p:txBody>
      </p:sp>
      <p:sp>
        <p:nvSpPr>
          <p:cNvPr id="62" name="Google Shape;62;p14"/>
          <p:cNvSpPr/>
          <p:nvPr/>
        </p:nvSpPr>
        <p:spPr>
          <a:xfrm>
            <a:off x="365760" y="900113"/>
            <a:ext cx="8412600" cy="207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4"/>
          <p:cNvSpPr/>
          <p:nvPr/>
        </p:nvSpPr>
        <p:spPr>
          <a:xfrm>
            <a:off x="365760" y="1080135"/>
            <a:ext cx="2011800" cy="7200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14"/>
          <p:cNvSpPr txBox="1"/>
          <p:nvPr/>
        </p:nvSpPr>
        <p:spPr>
          <a:xfrm>
            <a:off x="365760" y="1080135"/>
            <a:ext cx="20118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FFFF"/>
                </a:solidFill>
              </a:rPr>
              <a:t>Foundation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5" name="Google Shape;65;p14"/>
          <p:cNvSpPr/>
          <p:nvPr/>
        </p:nvSpPr>
        <p:spPr>
          <a:xfrm>
            <a:off x="2468880" y="1080135"/>
            <a:ext cx="6217800" cy="72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4"/>
          <p:cNvSpPr txBox="1"/>
          <p:nvPr/>
        </p:nvSpPr>
        <p:spPr>
          <a:xfrm>
            <a:off x="2651760" y="1080135"/>
            <a:ext cx="585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444444"/>
                </a:solidFill>
              </a:rPr>
              <a:t>WSN established the foundation of industrial wireless communication, based on IEEE 802.15.4 standards.</a:t>
            </a:r>
            <a:endParaRPr sz="1200">
              <a:solidFill>
                <a:srgbClr val="444444"/>
              </a:solidFill>
            </a:endParaRPr>
          </a:p>
        </p:txBody>
      </p:sp>
      <p:sp>
        <p:nvSpPr>
          <p:cNvPr id="67" name="Google Shape;67;p14"/>
          <p:cNvSpPr/>
          <p:nvPr/>
        </p:nvSpPr>
        <p:spPr>
          <a:xfrm>
            <a:off x="365760" y="1980248"/>
            <a:ext cx="2011800" cy="7200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14"/>
          <p:cNvSpPr txBox="1"/>
          <p:nvPr/>
        </p:nvSpPr>
        <p:spPr>
          <a:xfrm>
            <a:off x="365760" y="1980248"/>
            <a:ext cx="20118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FFFF"/>
                </a:solidFill>
              </a:rPr>
              <a:t>Main Goal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9" name="Google Shape;69;p14"/>
          <p:cNvSpPr/>
          <p:nvPr/>
        </p:nvSpPr>
        <p:spPr>
          <a:xfrm>
            <a:off x="2468880" y="1980248"/>
            <a:ext cx="6217800" cy="72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4"/>
          <p:cNvSpPr txBox="1"/>
          <p:nvPr/>
        </p:nvSpPr>
        <p:spPr>
          <a:xfrm>
            <a:off x="2651760" y="1980248"/>
            <a:ext cx="585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444444"/>
                </a:solidFill>
              </a:rPr>
              <a:t>Collect and transmit data wirelessly with low power consumption, allowing devices to run on batteries for years.</a:t>
            </a:r>
            <a:endParaRPr sz="1200">
              <a:solidFill>
                <a:srgbClr val="444444"/>
              </a:solidFill>
            </a:endParaRPr>
          </a:p>
        </p:txBody>
      </p:sp>
      <p:sp>
        <p:nvSpPr>
          <p:cNvPr id="71" name="Google Shape;71;p14"/>
          <p:cNvSpPr/>
          <p:nvPr/>
        </p:nvSpPr>
        <p:spPr>
          <a:xfrm>
            <a:off x="365760" y="2880360"/>
            <a:ext cx="2011800" cy="7200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365760" y="2880360"/>
            <a:ext cx="20118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FFFF"/>
                </a:solidFill>
              </a:rPr>
              <a:t>Key Challenges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73" name="Google Shape;73;p14"/>
          <p:cNvSpPr/>
          <p:nvPr/>
        </p:nvSpPr>
        <p:spPr>
          <a:xfrm>
            <a:off x="2468880" y="2880360"/>
            <a:ext cx="6217800" cy="72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14"/>
          <p:cNvSpPr txBox="1"/>
          <p:nvPr/>
        </p:nvSpPr>
        <p:spPr>
          <a:xfrm>
            <a:off x="2651760" y="2880360"/>
            <a:ext cx="585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444444"/>
                </a:solidFill>
              </a:rPr>
              <a:t>Unstable delays, electromagnetic interference from machines, and signal loss in metallic factory environments.</a:t>
            </a:r>
            <a:endParaRPr sz="1200">
              <a:solidFill>
                <a:srgbClr val="444444"/>
              </a:solidFill>
            </a:endParaRPr>
          </a:p>
        </p:txBody>
      </p:sp>
      <p:sp>
        <p:nvSpPr>
          <p:cNvPr id="75" name="Google Shape;75;p14"/>
          <p:cNvSpPr/>
          <p:nvPr/>
        </p:nvSpPr>
        <p:spPr>
          <a:xfrm>
            <a:off x="365760" y="3780473"/>
            <a:ext cx="2011800" cy="7200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4"/>
          <p:cNvSpPr txBox="1"/>
          <p:nvPr/>
        </p:nvSpPr>
        <p:spPr>
          <a:xfrm>
            <a:off x="365760" y="3780473"/>
            <a:ext cx="20118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FFFF"/>
                </a:solidFill>
              </a:rPr>
              <a:t>Significance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77" name="Google Shape;77;p14"/>
          <p:cNvSpPr/>
          <p:nvPr/>
        </p:nvSpPr>
        <p:spPr>
          <a:xfrm>
            <a:off x="2468880" y="3780473"/>
            <a:ext cx="6217800" cy="72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14"/>
          <p:cNvSpPr txBox="1"/>
          <p:nvPr/>
        </p:nvSpPr>
        <p:spPr>
          <a:xfrm>
            <a:off x="2651760" y="3780473"/>
            <a:ext cx="585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444444"/>
                </a:solidFill>
              </a:rPr>
              <a:t>Despite the challenges, WSN shaped the design principles still used in modern industrial wireless systems today.</a:t>
            </a:r>
            <a:endParaRPr sz="1200">
              <a:solidFill>
                <a:srgbClr val="444444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5"/>
          <p:cNvSpPr txBox="1"/>
          <p:nvPr/>
        </p:nvSpPr>
        <p:spPr>
          <a:xfrm>
            <a:off x="365760" y="205740"/>
            <a:ext cx="8412600" cy="66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rgbClr val="1A56A0"/>
                </a:solidFill>
              </a:rPr>
              <a:t>2.2  Industrial Wi-Fi Evolution</a:t>
            </a:r>
            <a:endParaRPr sz="2200" b="1">
              <a:solidFill>
                <a:srgbClr val="1A56A0"/>
              </a:solidFill>
            </a:endParaRPr>
          </a:p>
        </p:txBody>
      </p:sp>
      <p:sp>
        <p:nvSpPr>
          <p:cNvPr id="84" name="Google Shape;84;p15"/>
          <p:cNvSpPr/>
          <p:nvPr/>
        </p:nvSpPr>
        <p:spPr>
          <a:xfrm>
            <a:off x="365760" y="900113"/>
            <a:ext cx="8412600" cy="207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5"/>
          <p:cNvSpPr/>
          <p:nvPr/>
        </p:nvSpPr>
        <p:spPr>
          <a:xfrm>
            <a:off x="365760" y="1080135"/>
            <a:ext cx="1645800" cy="6687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5"/>
          <p:cNvSpPr txBox="1"/>
          <p:nvPr/>
        </p:nvSpPr>
        <p:spPr>
          <a:xfrm>
            <a:off x="365760" y="1080135"/>
            <a:ext cx="1645800" cy="66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FFFF"/>
                </a:solidFill>
              </a:rPr>
              <a:t>802.11b/g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87" name="Google Shape;87;p15"/>
          <p:cNvSpPr/>
          <p:nvPr/>
        </p:nvSpPr>
        <p:spPr>
          <a:xfrm>
            <a:off x="2194560" y="1080135"/>
            <a:ext cx="6492300" cy="668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5"/>
          <p:cNvSpPr txBox="1"/>
          <p:nvPr/>
        </p:nvSpPr>
        <p:spPr>
          <a:xfrm>
            <a:off x="2377440" y="1080135"/>
            <a:ext cx="6126600" cy="66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444444"/>
                </a:solidFill>
              </a:rPr>
              <a:t>High variable latency — not suitable for closed-loop industrial control.</a:t>
            </a:r>
            <a:endParaRPr sz="1200">
              <a:solidFill>
                <a:srgbClr val="444444"/>
              </a:solidFill>
            </a:endParaRPr>
          </a:p>
        </p:txBody>
      </p:sp>
      <p:sp>
        <p:nvSpPr>
          <p:cNvPr id="89" name="Google Shape;89;p15"/>
          <p:cNvSpPr/>
          <p:nvPr/>
        </p:nvSpPr>
        <p:spPr>
          <a:xfrm>
            <a:off x="365760" y="1954530"/>
            <a:ext cx="1645800" cy="6687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5"/>
          <p:cNvSpPr txBox="1"/>
          <p:nvPr/>
        </p:nvSpPr>
        <p:spPr>
          <a:xfrm>
            <a:off x="365760" y="1954530"/>
            <a:ext cx="1645800" cy="66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FFFF"/>
                </a:solidFill>
              </a:rPr>
              <a:t>802.11e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91" name="Google Shape;91;p15"/>
          <p:cNvSpPr/>
          <p:nvPr/>
        </p:nvSpPr>
        <p:spPr>
          <a:xfrm>
            <a:off x="2194560" y="1954530"/>
            <a:ext cx="6492300" cy="668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5"/>
          <p:cNvSpPr txBox="1"/>
          <p:nvPr/>
        </p:nvSpPr>
        <p:spPr>
          <a:xfrm>
            <a:off x="2377440" y="1954530"/>
            <a:ext cx="6126600" cy="66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444444"/>
                </a:solidFill>
              </a:rPr>
              <a:t>QoS (EDCA) introduced traffic prioritisation, improving reliability.</a:t>
            </a:r>
            <a:endParaRPr sz="1200">
              <a:solidFill>
                <a:srgbClr val="444444"/>
              </a:solidFill>
            </a:endParaRPr>
          </a:p>
        </p:txBody>
      </p:sp>
      <p:sp>
        <p:nvSpPr>
          <p:cNvPr id="93" name="Google Shape;93;p15"/>
          <p:cNvSpPr/>
          <p:nvPr/>
        </p:nvSpPr>
        <p:spPr>
          <a:xfrm>
            <a:off x="365760" y="2828925"/>
            <a:ext cx="1645800" cy="6687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15"/>
          <p:cNvSpPr txBox="1"/>
          <p:nvPr/>
        </p:nvSpPr>
        <p:spPr>
          <a:xfrm>
            <a:off x="365760" y="2828925"/>
            <a:ext cx="1645800" cy="66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FFFF"/>
                </a:solidFill>
              </a:rPr>
              <a:t>802.11n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95" name="Google Shape;95;p15"/>
          <p:cNvSpPr/>
          <p:nvPr/>
        </p:nvSpPr>
        <p:spPr>
          <a:xfrm>
            <a:off x="2194560" y="2828925"/>
            <a:ext cx="6492300" cy="668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15"/>
          <p:cNvSpPr txBox="1"/>
          <p:nvPr/>
        </p:nvSpPr>
        <p:spPr>
          <a:xfrm>
            <a:off x="2377440" y="2828925"/>
            <a:ext cx="6126600" cy="66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444444"/>
                </a:solidFill>
              </a:rPr>
              <a:t>MIMO antennas enabled spatial multiplexing and increased data rates.</a:t>
            </a:r>
            <a:endParaRPr sz="1200">
              <a:solidFill>
                <a:srgbClr val="444444"/>
              </a:solidFill>
            </a:endParaRPr>
          </a:p>
        </p:txBody>
      </p:sp>
      <p:sp>
        <p:nvSpPr>
          <p:cNvPr id="97" name="Google Shape;97;p15"/>
          <p:cNvSpPr/>
          <p:nvPr/>
        </p:nvSpPr>
        <p:spPr>
          <a:xfrm>
            <a:off x="365760" y="3703320"/>
            <a:ext cx="1645800" cy="6687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5"/>
          <p:cNvSpPr txBox="1"/>
          <p:nvPr/>
        </p:nvSpPr>
        <p:spPr>
          <a:xfrm>
            <a:off x="365760" y="3703320"/>
            <a:ext cx="1645800" cy="66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FFFF"/>
                </a:solidFill>
              </a:rPr>
              <a:t>Wi-Fi 6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99" name="Google Shape;99;p15"/>
          <p:cNvSpPr/>
          <p:nvPr/>
        </p:nvSpPr>
        <p:spPr>
          <a:xfrm>
            <a:off x="2194560" y="3703320"/>
            <a:ext cx="6492300" cy="668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15"/>
          <p:cNvSpPr txBox="1"/>
          <p:nvPr/>
        </p:nvSpPr>
        <p:spPr>
          <a:xfrm>
            <a:off x="2377440" y="3703320"/>
            <a:ext cx="6126600" cy="66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444444"/>
                </a:solidFill>
              </a:rPr>
              <a:t>OFDMA and TWT reduced latency to ~5 ms — suitable for high-bandwidth industrial applications.</a:t>
            </a:r>
            <a:endParaRPr sz="1200">
              <a:solidFill>
                <a:srgbClr val="444444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/>
        </p:nvSpPr>
        <p:spPr>
          <a:xfrm>
            <a:off x="365760" y="205740"/>
            <a:ext cx="8412600" cy="66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rgbClr val="1A56A0"/>
                </a:solidFill>
              </a:rPr>
              <a:t>2.3  5G and the URLLC Paradigm</a:t>
            </a:r>
            <a:endParaRPr sz="2200" b="1">
              <a:solidFill>
                <a:srgbClr val="1A56A0"/>
              </a:solidFill>
            </a:endParaRPr>
          </a:p>
        </p:txBody>
      </p:sp>
      <p:sp>
        <p:nvSpPr>
          <p:cNvPr id="106" name="Google Shape;106;p16"/>
          <p:cNvSpPr/>
          <p:nvPr/>
        </p:nvSpPr>
        <p:spPr>
          <a:xfrm>
            <a:off x="365760" y="900113"/>
            <a:ext cx="8412600" cy="207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16"/>
          <p:cNvSpPr/>
          <p:nvPr/>
        </p:nvSpPr>
        <p:spPr>
          <a:xfrm>
            <a:off x="365760" y="1080135"/>
            <a:ext cx="2560200" cy="11316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6"/>
          <p:cNvSpPr txBox="1"/>
          <p:nvPr/>
        </p:nvSpPr>
        <p:spPr>
          <a:xfrm>
            <a:off x="365760" y="1080135"/>
            <a:ext cx="25602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FFFFFF"/>
                </a:solidFill>
              </a:rPr>
              <a:t>&lt; 1 ms</a:t>
            </a:r>
            <a:endParaRPr sz="2400" b="1">
              <a:solidFill>
                <a:srgbClr val="FFFFFF"/>
              </a:solidFill>
            </a:endParaRPr>
          </a:p>
        </p:txBody>
      </p:sp>
      <p:sp>
        <p:nvSpPr>
          <p:cNvPr id="109" name="Google Shape;109;p16"/>
          <p:cNvSpPr txBox="1"/>
          <p:nvPr/>
        </p:nvSpPr>
        <p:spPr>
          <a:xfrm>
            <a:off x="365760" y="1594485"/>
            <a:ext cx="25602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</a:rPr>
              <a:t>Latency for motion control</a:t>
            </a:r>
            <a:endParaRPr sz="1100">
              <a:solidFill>
                <a:srgbClr val="FFFFFF"/>
              </a:solidFill>
            </a:endParaRPr>
          </a:p>
        </p:txBody>
      </p:sp>
      <p:sp>
        <p:nvSpPr>
          <p:cNvPr id="110" name="Google Shape;110;p16"/>
          <p:cNvSpPr/>
          <p:nvPr/>
        </p:nvSpPr>
        <p:spPr>
          <a:xfrm>
            <a:off x="3291840" y="1080135"/>
            <a:ext cx="2560200" cy="11316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16"/>
          <p:cNvSpPr txBox="1"/>
          <p:nvPr/>
        </p:nvSpPr>
        <p:spPr>
          <a:xfrm>
            <a:off x="3291840" y="1080135"/>
            <a:ext cx="25602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FFFFFF"/>
                </a:solidFill>
              </a:rPr>
              <a:t>99.9999%</a:t>
            </a:r>
            <a:endParaRPr sz="2400" b="1">
              <a:solidFill>
                <a:srgbClr val="FFFFFF"/>
              </a:solidFill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3291840" y="1594485"/>
            <a:ext cx="25602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</a:rPr>
              <a:t>Reliability (URLLC)</a:t>
            </a:r>
            <a:endParaRPr sz="1100">
              <a:solidFill>
                <a:srgbClr val="FFFFFF"/>
              </a:solidFill>
            </a:endParaRPr>
          </a:p>
        </p:txBody>
      </p:sp>
      <p:sp>
        <p:nvSpPr>
          <p:cNvPr id="113" name="Google Shape;113;p16"/>
          <p:cNvSpPr/>
          <p:nvPr/>
        </p:nvSpPr>
        <p:spPr>
          <a:xfrm>
            <a:off x="6217920" y="1080135"/>
            <a:ext cx="2560200" cy="11316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6"/>
          <p:cNvSpPr txBox="1"/>
          <p:nvPr/>
        </p:nvSpPr>
        <p:spPr>
          <a:xfrm>
            <a:off x="6217920" y="1080135"/>
            <a:ext cx="25602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FFFFFF"/>
                </a:solidFill>
              </a:rPr>
              <a:t>70%+</a:t>
            </a:r>
            <a:endParaRPr sz="2400" b="1">
              <a:solidFill>
                <a:srgbClr val="FFFFFF"/>
              </a:solidFill>
            </a:endParaRPr>
          </a:p>
        </p:txBody>
      </p:sp>
      <p:sp>
        <p:nvSpPr>
          <p:cNvPr id="115" name="Google Shape;115;p16"/>
          <p:cNvSpPr txBox="1"/>
          <p:nvPr/>
        </p:nvSpPr>
        <p:spPr>
          <a:xfrm>
            <a:off x="6217920" y="1594485"/>
            <a:ext cx="25602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</a:rPr>
              <a:t>New private wireless spend on standalone 5G (2025)</a:t>
            </a:r>
            <a:endParaRPr sz="1100">
              <a:solidFill>
                <a:srgbClr val="FFFFFF"/>
              </a:solidFill>
            </a:endParaRPr>
          </a:p>
        </p:txBody>
      </p:sp>
      <p:sp>
        <p:nvSpPr>
          <p:cNvPr id="116" name="Google Shape;116;p16"/>
          <p:cNvSpPr txBox="1"/>
          <p:nvPr/>
        </p:nvSpPr>
        <p:spPr>
          <a:xfrm>
            <a:off x="548640" y="2571750"/>
            <a:ext cx="80466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3GPP Release 15 (2018): 5G NR air interface standardised.</a:t>
            </a:r>
            <a:endParaRPr sz="1300">
              <a:solidFill>
                <a:srgbClr val="444444"/>
              </a:solidFill>
            </a:endParaRPr>
          </a:p>
        </p:txBody>
      </p:sp>
      <p:sp>
        <p:nvSpPr>
          <p:cNvPr id="117" name="Google Shape;117;p16"/>
          <p:cNvSpPr txBox="1"/>
          <p:nvPr/>
        </p:nvSpPr>
        <p:spPr>
          <a:xfrm>
            <a:off x="548640" y="3240405"/>
            <a:ext cx="80466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Release 16 (2020): mini-slot scheduling and enhanced HARQ added for URLLC.</a:t>
            </a:r>
            <a:endParaRPr sz="1300">
              <a:solidFill>
                <a:srgbClr val="444444"/>
              </a:solidFill>
            </a:endParaRPr>
          </a:p>
        </p:txBody>
      </p:sp>
      <p:sp>
        <p:nvSpPr>
          <p:cNvPr id="118" name="Google Shape;118;p16"/>
          <p:cNvSpPr txBox="1"/>
          <p:nvPr/>
        </p:nvSpPr>
        <p:spPr>
          <a:xfrm>
            <a:off x="548640" y="3909060"/>
            <a:ext cx="80466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Release 16 also defines 5G as a TSN bridge for end-to-end deterministic delivery.</a:t>
            </a:r>
            <a:endParaRPr sz="1300">
              <a:solidFill>
                <a:srgbClr val="444444"/>
              </a:solidFill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548640" y="4577715"/>
            <a:ext cx="80466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Many industries are now adopting private 5G networks for real-time control tasks.</a:t>
            </a:r>
            <a:endParaRPr sz="1300">
              <a:solidFill>
                <a:srgbClr val="444444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/>
          <p:nvPr/>
        </p:nvSpPr>
        <p:spPr>
          <a:xfrm>
            <a:off x="365760" y="205740"/>
            <a:ext cx="8412600" cy="66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rgbClr val="1A56A0"/>
                </a:solidFill>
              </a:rPr>
              <a:t>2.4  TSN Integration — Towards Wireless Determinism</a:t>
            </a:r>
            <a:endParaRPr sz="2200" b="1">
              <a:solidFill>
                <a:srgbClr val="1A56A0"/>
              </a:solidFill>
            </a:endParaRPr>
          </a:p>
        </p:txBody>
      </p:sp>
      <p:sp>
        <p:nvSpPr>
          <p:cNvPr id="125" name="Google Shape;125;p17"/>
          <p:cNvSpPr/>
          <p:nvPr/>
        </p:nvSpPr>
        <p:spPr>
          <a:xfrm>
            <a:off x="365760" y="900113"/>
            <a:ext cx="8412600" cy="207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17"/>
          <p:cNvSpPr txBox="1"/>
          <p:nvPr/>
        </p:nvSpPr>
        <p:spPr>
          <a:xfrm>
            <a:off x="365760" y="1080135"/>
            <a:ext cx="4023300" cy="4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1A56A0"/>
                </a:solidFill>
              </a:rPr>
              <a:t>What TSN Provides</a:t>
            </a:r>
            <a:endParaRPr b="1">
              <a:solidFill>
                <a:srgbClr val="1A56A0"/>
              </a:solidFill>
            </a:endParaRPr>
          </a:p>
        </p:txBody>
      </p:sp>
      <p:sp>
        <p:nvSpPr>
          <p:cNvPr id="127" name="Google Shape;127;p17"/>
          <p:cNvSpPr txBox="1"/>
          <p:nvPr/>
        </p:nvSpPr>
        <p:spPr>
          <a:xfrm>
            <a:off x="548640" y="1594485"/>
            <a:ext cx="80466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Credit-Based Shaping (802.1Qav)</a:t>
            </a:r>
            <a:endParaRPr sz="1300">
              <a:solidFill>
                <a:srgbClr val="444444"/>
              </a:solidFill>
            </a:endParaRPr>
          </a:p>
        </p:txBody>
      </p:sp>
      <p:sp>
        <p:nvSpPr>
          <p:cNvPr id="128" name="Google Shape;128;p17"/>
          <p:cNvSpPr txBox="1"/>
          <p:nvPr/>
        </p:nvSpPr>
        <p:spPr>
          <a:xfrm>
            <a:off x="548640" y="2263140"/>
            <a:ext cx="80466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Time-Aware Shaping (802.1Qbv)</a:t>
            </a:r>
            <a:endParaRPr sz="1300">
              <a:solidFill>
                <a:srgbClr val="444444"/>
              </a:solidFill>
            </a:endParaRPr>
          </a:p>
        </p:txBody>
      </p:sp>
      <p:sp>
        <p:nvSpPr>
          <p:cNvPr id="129" name="Google Shape;129;p17"/>
          <p:cNvSpPr txBox="1"/>
          <p:nvPr/>
        </p:nvSpPr>
        <p:spPr>
          <a:xfrm>
            <a:off x="548640" y="2931795"/>
            <a:ext cx="80466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Cyclic Queuing and Forwarding (802.1Qch)</a:t>
            </a:r>
            <a:endParaRPr sz="1300">
              <a:solidFill>
                <a:srgbClr val="444444"/>
              </a:solidFill>
            </a:endParaRPr>
          </a:p>
        </p:txBody>
      </p:sp>
      <p:sp>
        <p:nvSpPr>
          <p:cNvPr id="130" name="Google Shape;130;p17"/>
          <p:cNvSpPr txBox="1"/>
          <p:nvPr/>
        </p:nvSpPr>
        <p:spPr>
          <a:xfrm>
            <a:off x="548640" y="3600450"/>
            <a:ext cx="80466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Sub-microsecond time synchronisation</a:t>
            </a:r>
            <a:endParaRPr sz="1300">
              <a:solidFill>
                <a:srgbClr val="444444"/>
              </a:solidFill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4754880" y="1080135"/>
            <a:ext cx="4023300" cy="4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1A56A0"/>
                </a:solidFill>
              </a:rPr>
              <a:t>Key Impact</a:t>
            </a:r>
            <a:endParaRPr b="1">
              <a:solidFill>
                <a:srgbClr val="1A56A0"/>
              </a:solidFill>
            </a:endParaRPr>
          </a:p>
        </p:txBody>
      </p:sp>
      <p:sp>
        <p:nvSpPr>
          <p:cNvPr id="132" name="Google Shape;132;p17"/>
          <p:cNvSpPr txBox="1"/>
          <p:nvPr/>
        </p:nvSpPr>
        <p:spPr>
          <a:xfrm>
            <a:off x="4846320" y="1594485"/>
            <a:ext cx="39318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Wireless becomes as reliable as wired PROFINET / EtherCAT.</a:t>
            </a:r>
            <a:endParaRPr sz="1300">
              <a:solidFill>
                <a:srgbClr val="444444"/>
              </a:solidFill>
            </a:endParaRPr>
          </a:p>
        </p:txBody>
      </p:sp>
      <p:sp>
        <p:nvSpPr>
          <p:cNvPr id="133" name="Google Shape;133;p17"/>
          <p:cNvSpPr txBox="1"/>
          <p:nvPr/>
        </p:nvSpPr>
        <p:spPr>
          <a:xfrm>
            <a:off x="4846320" y="2391728"/>
            <a:ext cx="39318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Wired and wireless robot axes driven by the same scheduler.</a:t>
            </a:r>
            <a:endParaRPr sz="1300">
              <a:solidFill>
                <a:srgbClr val="444444"/>
              </a:solidFill>
            </a:endParaRPr>
          </a:p>
        </p:txBody>
      </p:sp>
      <p:sp>
        <p:nvSpPr>
          <p:cNvPr id="134" name="Google Shape;134;p17"/>
          <p:cNvSpPr txBox="1"/>
          <p:nvPr/>
        </p:nvSpPr>
        <p:spPr>
          <a:xfrm>
            <a:off x="4846320" y="3188970"/>
            <a:ext cx="39318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IEEE actively extending TSN standards to Wi-Fi (802.11).</a:t>
            </a:r>
            <a:endParaRPr sz="1300">
              <a:solidFill>
                <a:srgbClr val="444444"/>
              </a:solidFill>
            </a:endParaRPr>
          </a:p>
        </p:txBody>
      </p:sp>
      <p:sp>
        <p:nvSpPr>
          <p:cNvPr id="135" name="Google Shape;135;p17"/>
          <p:cNvSpPr/>
          <p:nvPr/>
        </p:nvSpPr>
        <p:spPr>
          <a:xfrm>
            <a:off x="4572000" y="1080135"/>
            <a:ext cx="36600" cy="370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5">
                <a:lumMod val="7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05940"/>
            <a:ext cx="9144000" cy="1783080"/>
          </a:xfrm>
          <a:prstGeom prst="rect">
            <a:avLst/>
          </a:prstGeom>
          <a:solidFill>
            <a:srgbClr val="0F6E78"/>
          </a:solidFill>
          <a:ln w="1270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40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Wireless Standards: Architecture and Protocol Stack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653307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6E78"/>
                </a:solidFill>
              </a:rPr>
              <a:t>Wi-Fi (802.11)   ·   Zigbee (802.15.4)   ·   5G New Radio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</a:t>
            </a:r>
            <a:r>
              <a:rPr lang="en-US" sz="2300" b="1" dirty="0">
                <a:solidFill>
                  <a:srgbClr val="0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802.11 (Wi-Fi)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2860"/>
          </a:xfrm>
          <a:prstGeom prst="rect">
            <a:avLst/>
          </a:prstGeom>
          <a:solidFill>
            <a:srgbClr val="0F6E78"/>
          </a:solidFill>
          <a:ln w="1270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4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Operates on 2.4, 5 and 6 GHz bands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4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CSMA/CA for channel access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4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 6 adds OFDMA and TWT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4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802.11r enables fast roaming for AGVs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4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up to 9.6 Gbps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370332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C8C99"/>
          </a:solidFill>
          <a:ln w="12700">
            <a:solidFill>
              <a:srgbClr val="1C8C9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PROS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463040" y="3703320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6E"/>
                </a:solidFill>
              </a:rPr>
              <a:t>High speed, huge ecosystem, native TCP/IP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411480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457200" y="411480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CONS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463040" y="4114800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6E"/>
                </a:solidFill>
              </a:rPr>
              <a:t>Unreliable under load, shared spectrum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23774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8C99"/>
                </a:solidFill>
              </a:rPr>
              <a:t>[ IMAGE ]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28346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A6B6E"/>
                </a:solidFill>
              </a:rPr>
              <a:t>Wi-Fi factory deployment</a:t>
            </a:r>
            <a:endParaRPr lang="en-US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44A44A6-D7A0-E025-4000-E126C070A5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1897" y="1142420"/>
            <a:ext cx="4497303" cy="32512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</a:t>
            </a:r>
            <a:r>
              <a:rPr lang="en-US" sz="2300" b="1" dirty="0">
                <a:solidFill>
                  <a:srgbClr val="0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802.15.4 / Zigbee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2860"/>
          </a:xfrm>
          <a:prstGeom prst="rect">
            <a:avLst/>
          </a:prstGeom>
          <a:solidFill>
            <a:srgbClr val="0F6E78"/>
          </a:solidFill>
          <a:ln w="1270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4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Low-power wireless WPAN standard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4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at 2.4 GHz, up to 250 kbps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4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roles: Coordinator, Router, End Device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4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star, tree and mesh topologies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4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life of 2 to 5 years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370332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C8C99"/>
          </a:solidFill>
          <a:ln w="12700">
            <a:solidFill>
              <a:srgbClr val="1C8C9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PROS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463040" y="3703320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6E"/>
                </a:solidFill>
              </a:rPr>
              <a:t>Long battery life, low cost, self-healing mesh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411480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457200" y="411480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CONS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463040" y="4114800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6E"/>
                </a:solidFill>
              </a:rPr>
              <a:t>Low data rate, short range of 10 to 100 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23774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8C99"/>
                </a:solidFill>
              </a:rPr>
              <a:t>[ IMAGE ]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28346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A6B6E"/>
                </a:solidFill>
              </a:rPr>
              <a:t>Zigbee mesh topology</a:t>
            </a:r>
            <a:endParaRPr lang="en-US" sz="12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63CC9E1-DB5B-4B4A-1204-28AC4B2423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809481"/>
            <a:ext cx="4222892" cy="268668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D2CB063-A753-5430-E1EC-B30CDA9656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315" r="6176" b="6204"/>
          <a:stretch>
            <a:fillRect/>
          </a:stretch>
        </p:blipFill>
        <p:spPr>
          <a:xfrm>
            <a:off x="5014173" y="3496161"/>
            <a:ext cx="2142187" cy="15996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</a:t>
            </a:r>
            <a:r>
              <a:rPr lang="en-US" sz="2300" b="1" dirty="0">
                <a:solidFill>
                  <a:srgbClr val="0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5G New Radio (NR)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2860"/>
          </a:xfrm>
          <a:prstGeom prst="rect">
            <a:avLst/>
          </a:prstGeom>
          <a:solidFill>
            <a:srgbClr val="0F6E78"/>
          </a:solidFill>
          <a:ln w="1270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4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Standardised by 3GPP, uses licensed bands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4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classes: eMBB, mMTC, URLLC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4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URLLC reaches under 1 ms at 99.999%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4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campus networks kept on site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4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 as a TSN bridge from Release 16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02032" y="417737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C8C99"/>
          </a:solidFill>
          <a:ln w="12700">
            <a:solidFill>
              <a:srgbClr val="1C8C9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4102032" y="417737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PROS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35321" y="4232953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6E"/>
                </a:solidFill>
              </a:rPr>
              <a:t>Licensed spectrum, deterministic, private networks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02032" y="458885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4102032" y="458885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CONS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16432" y="4599432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6E"/>
                </a:solidFill>
              </a:rPr>
              <a:t>Costly, complex, power-hungry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23774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8C99"/>
                </a:solidFill>
              </a:rPr>
              <a:t>[ IMAGE ]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28346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A6B6E"/>
                </a:solidFill>
              </a:rPr>
              <a:t>Private 5G campus network</a:t>
            </a:r>
            <a:endParaRPr lang="en-US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92D6B4C-C39B-0CAB-876F-808414333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8376" y="1382332"/>
            <a:ext cx="4271344" cy="2553935"/>
          </a:xfrm>
          <a:prstGeom prst="rect">
            <a:avLst/>
          </a:prstGeom>
        </p:spPr>
      </p:pic>
      <p:pic>
        <p:nvPicPr>
          <p:cNvPr id="16" name="Picture 15" descr="5G new radio fixed wireless access portfolio introduced | Electronics360">
            <a:extLst>
              <a:ext uri="{FF2B5EF4-FFF2-40B4-BE49-F238E27FC236}">
                <a16:creationId xmlns:a16="http://schemas.microsoft.com/office/drawing/2014/main" id="{63608C8A-354F-ABB3-3CE2-F97A1CFD8C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411" t="7198" r="19975" b="4925"/>
          <a:stretch>
            <a:fillRect/>
          </a:stretch>
        </p:blipFill>
        <p:spPr>
          <a:xfrm rot="21441899">
            <a:off x="976344" y="3087595"/>
            <a:ext cx="2201523" cy="189008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 </a:t>
            </a:r>
            <a:r>
              <a:rPr lang="en-US" sz="2300" b="1" dirty="0">
                <a:solidFill>
                  <a:srgbClr val="0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at a Glance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2860"/>
          </a:xfrm>
          <a:prstGeom prst="rect">
            <a:avLst/>
          </a:prstGeom>
          <a:solidFill>
            <a:srgbClr val="0F6E78"/>
          </a:solidFill>
          <a:ln w="1270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246888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Wi-Fi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Zigbee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5G NR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43B40"/>
                          </a:solidFill>
                        </a:rPr>
                        <a:t>Data rate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43B40"/>
                          </a:solidFill>
                        </a:rPr>
                        <a:t>9.6 Gbps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43B40"/>
                          </a:solidFill>
                        </a:rPr>
                        <a:t>250 kbps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43B40"/>
                          </a:solidFill>
                        </a:rPr>
                        <a:t>Multi-Gbps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43B40"/>
                          </a:solidFill>
                        </a:rPr>
                        <a:t>Latency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43B40"/>
                          </a:solidFill>
                        </a:rPr>
                        <a:t>~5 ms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43B40"/>
                          </a:solidFill>
                        </a:rPr>
                        <a:t>15 to 30 ms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43B40"/>
                          </a:solidFill>
                        </a:rPr>
                        <a:t>&lt; 1 ms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43B40"/>
                          </a:solidFill>
                        </a:rPr>
                        <a:t>Range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43B40"/>
                          </a:solidFill>
                        </a:rPr>
                        <a:t>~100 m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43B40"/>
                          </a:solidFill>
                        </a:rPr>
                        <a:t>10 to 100 m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43B40"/>
                          </a:solidFill>
                        </a:rPr>
                        <a:t>Wide / campus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43B40"/>
                          </a:solidFill>
                        </a:rPr>
                        <a:t>Power use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43B40"/>
                          </a:solidFill>
                        </a:rPr>
                        <a:t>High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43B40"/>
                          </a:solidFill>
                        </a:rPr>
                        <a:t>Very low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43B40"/>
                          </a:solidFill>
                        </a:rPr>
                        <a:t>High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43B40"/>
                          </a:solidFill>
                        </a:rPr>
                        <a:t>Best for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43B40"/>
                          </a:solidFill>
                        </a:rPr>
                        <a:t>High bandwidth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43B40"/>
                          </a:solidFill>
                        </a:rPr>
                        <a:t>Sensors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43B40"/>
                          </a:solidFill>
                        </a:rPr>
                        <a:t>Real-time control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E3F2F3"/>
          </a:solidFill>
          <a:ln w="12700">
            <a:solidFill>
              <a:srgbClr val="1C8C99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4" name="Text 3"/>
          <p:cNvSpPr/>
          <p:nvPr/>
        </p:nvSpPr>
        <p:spPr>
          <a:xfrm>
            <a:off x="731520" y="3794760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r>
              <a:rPr lang="en-US" sz="1400" dirty="0">
                <a:solidFill>
                  <a:srgbClr val="24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standard fits every need, so factories mix all three by use case.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56A0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8"/>
          <p:cNvSpPr txBox="1"/>
          <p:nvPr/>
        </p:nvSpPr>
        <p:spPr>
          <a:xfrm>
            <a:off x="731520" y="1285875"/>
            <a:ext cx="76809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rgbClr val="FFFFFF"/>
              </a:solidFill>
            </a:endParaRPr>
          </a:p>
        </p:txBody>
      </p:sp>
      <p:sp>
        <p:nvSpPr>
          <p:cNvPr id="141" name="Google Shape;141;p18"/>
          <p:cNvSpPr txBox="1"/>
          <p:nvPr/>
        </p:nvSpPr>
        <p:spPr>
          <a:xfrm>
            <a:off x="731520" y="1800225"/>
            <a:ext cx="76809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FFFFFF"/>
                </a:solidFill>
              </a:rPr>
              <a:t>Emerging Trends</a:t>
            </a:r>
            <a:endParaRPr sz="3600" b="1">
              <a:solidFill>
                <a:srgbClr val="FFFFFF"/>
              </a:solidFill>
            </a:endParaRPr>
          </a:p>
        </p:txBody>
      </p:sp>
      <p:sp>
        <p:nvSpPr>
          <p:cNvPr id="142" name="Google Shape;142;p18"/>
          <p:cNvSpPr txBox="1"/>
          <p:nvPr/>
        </p:nvSpPr>
        <p:spPr>
          <a:xfrm>
            <a:off x="731520" y="3086100"/>
            <a:ext cx="76809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DD7EE"/>
                </a:solidFill>
              </a:rPr>
              <a:t>Wi-Fi 7  ·  Private 5G  ·  Wireless TSN  ·  6G Outlook</a:t>
            </a:r>
            <a:endParaRPr>
              <a:solidFill>
                <a:srgbClr val="BDD7EE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9"/>
          <p:cNvSpPr txBox="1"/>
          <p:nvPr/>
        </p:nvSpPr>
        <p:spPr>
          <a:xfrm>
            <a:off x="365760" y="205740"/>
            <a:ext cx="8412600" cy="66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rgbClr val="1A56A0"/>
                </a:solidFill>
              </a:rPr>
              <a:t>5.1  Wi-Fi 7 — Multi-Link Operation (MLO)</a:t>
            </a:r>
            <a:endParaRPr sz="2200" b="1">
              <a:solidFill>
                <a:srgbClr val="1A56A0"/>
              </a:solidFill>
            </a:endParaRPr>
          </a:p>
        </p:txBody>
      </p:sp>
      <p:sp>
        <p:nvSpPr>
          <p:cNvPr id="148" name="Google Shape;148;p19"/>
          <p:cNvSpPr/>
          <p:nvPr/>
        </p:nvSpPr>
        <p:spPr>
          <a:xfrm>
            <a:off x="365760" y="900113"/>
            <a:ext cx="8412600" cy="207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9"/>
          <p:cNvSpPr/>
          <p:nvPr/>
        </p:nvSpPr>
        <p:spPr>
          <a:xfrm>
            <a:off x="365760" y="1131570"/>
            <a:ext cx="2469000" cy="8229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9"/>
          <p:cNvSpPr txBox="1"/>
          <p:nvPr/>
        </p:nvSpPr>
        <p:spPr>
          <a:xfrm>
            <a:off x="365760" y="1131570"/>
            <a:ext cx="2469000" cy="8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rgbClr val="FFFFFF"/>
                </a:solidFill>
              </a:rPr>
              <a:t>2.4 GHz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151" name="Google Shape;151;p19"/>
          <p:cNvSpPr/>
          <p:nvPr/>
        </p:nvSpPr>
        <p:spPr>
          <a:xfrm>
            <a:off x="3291840" y="1131570"/>
            <a:ext cx="2469000" cy="8229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9"/>
          <p:cNvSpPr txBox="1"/>
          <p:nvPr/>
        </p:nvSpPr>
        <p:spPr>
          <a:xfrm>
            <a:off x="3291840" y="1131570"/>
            <a:ext cx="2469000" cy="8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rgbClr val="FFFFFF"/>
                </a:solidFill>
              </a:rPr>
              <a:t>5 GHz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153" name="Google Shape;153;p19"/>
          <p:cNvSpPr/>
          <p:nvPr/>
        </p:nvSpPr>
        <p:spPr>
          <a:xfrm>
            <a:off x="6217920" y="1131570"/>
            <a:ext cx="2469000" cy="8229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19"/>
          <p:cNvSpPr txBox="1"/>
          <p:nvPr/>
        </p:nvSpPr>
        <p:spPr>
          <a:xfrm>
            <a:off x="6217920" y="1131570"/>
            <a:ext cx="2469000" cy="8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rgbClr val="FFFFFF"/>
                </a:solidFill>
              </a:rPr>
              <a:t>6 GHz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155" name="Google Shape;155;p19"/>
          <p:cNvSpPr txBox="1"/>
          <p:nvPr/>
        </p:nvSpPr>
        <p:spPr>
          <a:xfrm>
            <a:off x="365760" y="2005965"/>
            <a:ext cx="84126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solidFill>
                  <a:srgbClr val="666666"/>
                </a:solidFill>
              </a:rPr>
              <a:t>All three frequency bands used simultaneously</a:t>
            </a:r>
            <a:endParaRPr sz="1200" i="1">
              <a:solidFill>
                <a:srgbClr val="666666"/>
              </a:solidFill>
            </a:endParaRPr>
          </a:p>
        </p:txBody>
      </p:sp>
      <p:sp>
        <p:nvSpPr>
          <p:cNvPr id="156" name="Google Shape;156;p19"/>
          <p:cNvSpPr txBox="1"/>
          <p:nvPr/>
        </p:nvSpPr>
        <p:spPr>
          <a:xfrm>
            <a:off x="548640" y="2571750"/>
            <a:ext cx="80466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MLO provides packet-level diversity — a dropped packet on one band is recovered on another without retransmission delay.</a:t>
            </a:r>
            <a:endParaRPr sz="1300">
              <a:solidFill>
                <a:srgbClr val="444444"/>
              </a:solidFill>
            </a:endParaRPr>
          </a:p>
        </p:txBody>
      </p:sp>
      <p:sp>
        <p:nvSpPr>
          <p:cNvPr id="157" name="Google Shape;157;p19"/>
          <p:cNvSpPr txBox="1"/>
          <p:nvPr/>
        </p:nvSpPr>
        <p:spPr>
          <a:xfrm>
            <a:off x="548640" y="3240405"/>
            <a:ext cx="80466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IEEE 802.11be (Wi-Fi 7) is finalised. Draft 1.0 of Wi-Fi 8 (802.11bn) completed August 2025.</a:t>
            </a:r>
            <a:endParaRPr sz="1300">
              <a:solidFill>
                <a:srgbClr val="444444"/>
              </a:solidFill>
            </a:endParaRPr>
          </a:p>
        </p:txBody>
      </p:sp>
      <p:sp>
        <p:nvSpPr>
          <p:cNvPr id="158" name="Google Shape;158;p19"/>
          <p:cNvSpPr txBox="1"/>
          <p:nvPr/>
        </p:nvSpPr>
        <p:spPr>
          <a:xfrm>
            <a:off x="548640" y="3909060"/>
            <a:ext cx="80466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Wi-Fi 8 targets deterministic performance and reliability rather than just higher throughput.</a:t>
            </a:r>
            <a:endParaRPr sz="1300">
              <a:solidFill>
                <a:srgbClr val="444444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0"/>
          <p:cNvSpPr txBox="1"/>
          <p:nvPr/>
        </p:nvSpPr>
        <p:spPr>
          <a:xfrm>
            <a:off x="365760" y="205740"/>
            <a:ext cx="8412600" cy="66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rgbClr val="1A56A0"/>
                </a:solidFill>
              </a:rPr>
              <a:t>5.2  Private 5G Campus Networks</a:t>
            </a:r>
            <a:endParaRPr sz="2200" b="1">
              <a:solidFill>
                <a:srgbClr val="1A56A0"/>
              </a:solidFill>
            </a:endParaRPr>
          </a:p>
        </p:txBody>
      </p:sp>
      <p:sp>
        <p:nvSpPr>
          <p:cNvPr id="164" name="Google Shape;164;p20"/>
          <p:cNvSpPr/>
          <p:nvPr/>
        </p:nvSpPr>
        <p:spPr>
          <a:xfrm>
            <a:off x="365760" y="900113"/>
            <a:ext cx="8412600" cy="207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20"/>
          <p:cNvSpPr txBox="1"/>
          <p:nvPr/>
        </p:nvSpPr>
        <p:spPr>
          <a:xfrm>
            <a:off x="365760" y="1543050"/>
            <a:ext cx="2377500" cy="56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</a:rPr>
              <a:t>of new private wireless</a:t>
            </a:r>
            <a:endParaRPr sz="1100">
              <a:solidFill>
                <a:srgbClr val="FFFFFF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</a:rPr>
              <a:t>spend in 2025</a:t>
            </a:r>
            <a:endParaRPr sz="1100">
              <a:solidFill>
                <a:srgbClr val="FFFFFF"/>
              </a:solidFill>
            </a:endParaRPr>
          </a:p>
        </p:txBody>
      </p:sp>
      <p:sp>
        <p:nvSpPr>
          <p:cNvPr id="166" name="Google Shape;166;p20"/>
          <p:cNvSpPr txBox="1"/>
          <p:nvPr/>
        </p:nvSpPr>
        <p:spPr>
          <a:xfrm>
            <a:off x="548640" y="1748790"/>
            <a:ext cx="80466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Companies build and manage their own 5G network instead of using public infrastructure.</a:t>
            </a:r>
            <a:endParaRPr sz="1300">
              <a:solidFill>
                <a:srgbClr val="444444"/>
              </a:solidFill>
            </a:endParaRPr>
          </a:p>
        </p:txBody>
      </p:sp>
      <p:sp>
        <p:nvSpPr>
          <p:cNvPr id="167" name="Google Shape;167;p20"/>
          <p:cNvSpPr txBox="1"/>
          <p:nvPr/>
        </p:nvSpPr>
        <p:spPr>
          <a:xfrm>
            <a:off x="548640" y="2417445"/>
            <a:ext cx="80466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Full control over security, service levels, and spectrum allocation.</a:t>
            </a:r>
            <a:endParaRPr sz="1300">
              <a:solidFill>
                <a:srgbClr val="444444"/>
              </a:solidFill>
            </a:endParaRPr>
          </a:p>
        </p:txBody>
      </p:sp>
      <p:sp>
        <p:nvSpPr>
          <p:cNvPr id="168" name="Google Shape;168;p20"/>
          <p:cNvSpPr txBox="1"/>
          <p:nvPr/>
        </p:nvSpPr>
        <p:spPr>
          <a:xfrm>
            <a:off x="548640" y="3086100"/>
            <a:ext cx="80466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Optimised for deterministic, high-density industrial environments such as factories.</a:t>
            </a:r>
            <a:endParaRPr sz="1300">
              <a:solidFill>
                <a:srgbClr val="444444"/>
              </a:solidFill>
            </a:endParaRPr>
          </a:p>
        </p:txBody>
      </p:sp>
      <p:sp>
        <p:nvSpPr>
          <p:cNvPr id="169" name="Google Shape;169;p20"/>
          <p:cNvSpPr txBox="1"/>
          <p:nvPr/>
        </p:nvSpPr>
        <p:spPr>
          <a:xfrm>
            <a:off x="548640" y="3754755"/>
            <a:ext cx="80466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Complements industrial Ethernet and Wi-Fi in new (greenfield) factory deployments.</a:t>
            </a:r>
            <a:endParaRPr sz="1300">
              <a:solidFill>
                <a:srgbClr val="444444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1"/>
          <p:cNvSpPr txBox="1"/>
          <p:nvPr/>
        </p:nvSpPr>
        <p:spPr>
          <a:xfrm>
            <a:off x="365760" y="205740"/>
            <a:ext cx="8412600" cy="66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rgbClr val="1A56A0"/>
                </a:solidFill>
              </a:rPr>
              <a:t>5.3  Wireless Time-Sensitive Networking</a:t>
            </a:r>
            <a:endParaRPr sz="2200" b="1">
              <a:solidFill>
                <a:srgbClr val="1A56A0"/>
              </a:solidFill>
            </a:endParaRPr>
          </a:p>
        </p:txBody>
      </p:sp>
      <p:sp>
        <p:nvSpPr>
          <p:cNvPr id="175" name="Google Shape;175;p21"/>
          <p:cNvSpPr/>
          <p:nvPr/>
        </p:nvSpPr>
        <p:spPr>
          <a:xfrm>
            <a:off x="365760" y="900113"/>
            <a:ext cx="8412600" cy="20700"/>
          </a:xfrm>
          <a:prstGeom prst="rect">
            <a:avLst/>
          </a:prstGeom>
          <a:solidFill>
            <a:srgbClr val="1A56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21"/>
          <p:cNvSpPr txBox="1"/>
          <p:nvPr/>
        </p:nvSpPr>
        <p:spPr>
          <a:xfrm>
            <a:off x="429015" y="1419960"/>
            <a:ext cx="80466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TSN ensures data arrives at the exact required time — critical for real-time control.</a:t>
            </a:r>
            <a:endParaRPr sz="1300">
              <a:solidFill>
                <a:srgbClr val="444444"/>
              </a:solidFill>
            </a:endParaRPr>
          </a:p>
        </p:txBody>
      </p:sp>
      <p:sp>
        <p:nvSpPr>
          <p:cNvPr id="177" name="Google Shape;177;p21"/>
          <p:cNvSpPr txBox="1"/>
          <p:nvPr/>
        </p:nvSpPr>
        <p:spPr>
          <a:xfrm>
            <a:off x="429015" y="2175590"/>
            <a:ext cx="80466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Closes the "last mile" gap: wireless now matches wired PROFINET and EtherCAT guarantees.</a:t>
            </a:r>
            <a:endParaRPr sz="1300">
              <a:solidFill>
                <a:srgbClr val="444444"/>
              </a:solidFill>
            </a:endParaRPr>
          </a:p>
        </p:txBody>
      </p:sp>
      <p:sp>
        <p:nvSpPr>
          <p:cNvPr id="178" name="Google Shape;178;p21"/>
          <p:cNvSpPr txBox="1"/>
          <p:nvPr/>
        </p:nvSpPr>
        <p:spPr>
          <a:xfrm>
            <a:off x="472515" y="2895958"/>
            <a:ext cx="80466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444444"/>
                </a:solidFill>
              </a:rPr>
              <a:t>•  A single TSN scheduler can drive both wired and wireless robot axes at the same time.</a:t>
            </a:r>
            <a:endParaRPr sz="1300">
              <a:solidFill>
                <a:srgbClr val="444444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807</Words>
  <Application>Microsoft Office PowerPoint</Application>
  <PresentationFormat>On-screen Show (16:9)</PresentationFormat>
  <Paragraphs>125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victor odaudu</dc:creator>
  <cp:lastModifiedBy>victor odaudu</cp:lastModifiedBy>
  <cp:revision>1</cp:revision>
  <dcterms:modified xsi:type="dcterms:W3CDTF">2026-06-10T10:36:30Z</dcterms:modified>
</cp:coreProperties>
</file>