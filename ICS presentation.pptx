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26355457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26355457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26355457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263554574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S_API1263554574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S_API1263554574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SLIDES_API1263554574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SLIDES_API1263554574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IDES_API1263554574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IDES_API1263554574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1263554574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1263554574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SLIDES_API1263554574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SLIDES_API1263554574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SLIDES_API1263554574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SLIDES_API1263554574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SLIDES_API1263554574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SLIDES_API1263554574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954530"/>
            <a:ext cx="9144000" cy="12345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57200" y="2005965"/>
            <a:ext cx="8229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rgbClr val="FFFFFF"/>
                </a:solidFill>
              </a:rPr>
              <a:t>Literature Review &amp; Emerging Trends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57200" y="267462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Industrial Wireless Communication for Industry 4.0</a:t>
            </a:r>
            <a:endParaRPr sz="15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2.1  Early Wireless Sensor Networks (WSN)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65760" y="1080135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365760" y="1080135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</a:rPr>
              <a:t>Foundation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468880" y="1080135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2651760" y="1080135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WSN established the foundation of industrial wireless communication, based on IEEE 802.15.4 standards.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65760" y="1980248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65760" y="1980248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</a:rPr>
              <a:t>Main Goal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2468880" y="1980248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2651760" y="1980248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Collect and transmit data wirelessly with low power consumption, allowing devices to run on batteries for years.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365760" y="2880360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365760" y="2880360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</a:rPr>
              <a:t>Key Challenges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68880" y="2880360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2651760" y="2880360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Unstable delays, electromagnetic interference from machines, and signal loss in metallic factory environments.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65760" y="3780473"/>
            <a:ext cx="2011800" cy="7200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4"/>
          <p:cNvSpPr txBox="1"/>
          <p:nvPr/>
        </p:nvSpPr>
        <p:spPr>
          <a:xfrm>
            <a:off x="365760" y="3780473"/>
            <a:ext cx="201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</a:rPr>
              <a:t>Significance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2468880" y="3780473"/>
            <a:ext cx="6217800" cy="72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651760" y="3780473"/>
            <a:ext cx="58521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Despite the challenges, WSN shaped the design principles still used in modern industrial wireless systems today.</a:t>
            </a:r>
            <a:endParaRPr sz="12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2.2  Industrial Wi-Fi Evolution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365760" y="1080135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365760" y="1080135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FFFF"/>
                </a:solidFill>
              </a:rPr>
              <a:t>802.11b/g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2194560" y="1080135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2377440" y="1080135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High variable latency — not suitable for closed-loop industrial control.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65760" y="1954530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365760" y="1954530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FFFF"/>
                </a:solidFill>
              </a:rPr>
              <a:t>802.11e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2194560" y="1954530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2377440" y="1954530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QoS (EDCA) introduced traffic prioritisation, improving reliability.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365760" y="2828925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365760" y="2828925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FFFF"/>
                </a:solidFill>
              </a:rPr>
              <a:t>802.11n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2194560" y="2828925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 txBox="1"/>
          <p:nvPr/>
        </p:nvSpPr>
        <p:spPr>
          <a:xfrm>
            <a:off x="2377440" y="2828925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MIMO antennas enabled spatial multiplexing and increased data rates.</a:t>
            </a:r>
            <a:endParaRPr sz="1200">
              <a:solidFill>
                <a:srgbClr val="444444"/>
              </a:solidFill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365760" y="3703320"/>
            <a:ext cx="1645800" cy="668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365760" y="3703320"/>
            <a:ext cx="16458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FFFFFF"/>
                </a:solidFill>
              </a:rPr>
              <a:t>Wi-Fi 6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194560" y="3703320"/>
            <a:ext cx="6492300" cy="668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2377440" y="3703320"/>
            <a:ext cx="6126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44444"/>
                </a:solidFill>
              </a:rPr>
              <a:t>OFDMA and TWT reduced latency to ~5 ms — suitable for high-bandwidth industrial applications.</a:t>
            </a:r>
            <a:endParaRPr sz="12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2.3  5G and the URLLC Paradigm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36576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 txBox="1"/>
          <p:nvPr/>
        </p:nvSpPr>
        <p:spPr>
          <a:xfrm>
            <a:off x="36576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&lt; 1 ms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36576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Latency for motion control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29184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329184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99.9999%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29184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Reliability (URLLC)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6217920" y="1080135"/>
            <a:ext cx="2560200" cy="11316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6217920" y="1080135"/>
            <a:ext cx="2560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FFFFFF"/>
                </a:solidFill>
              </a:rPr>
              <a:t>70%+</a:t>
            </a:r>
            <a:endParaRPr sz="2400" b="1">
              <a:solidFill>
                <a:srgbClr val="FFFFFF"/>
              </a:solidFill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6217920" y="1594485"/>
            <a:ext cx="25602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New private wireless spend on standalone 5G (2025)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548640" y="25717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3GPP Release 15 (2018): 5G NR air interface standardised.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48640" y="324040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Release 16 (2020): mini-slot scheduling and enhanced HARQ added for URLLC.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48640" y="39090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Release 16 also defines 5G as a TSN bridge for end-to-end deterministic delivery.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548640" y="457771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Many industries are now adopting private 5G networks for real-time control tasks.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2.4  TSN Integration — Towards Wireless Determinism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365760" y="1080135"/>
            <a:ext cx="40233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A56A0"/>
                </a:solidFill>
              </a:rPr>
              <a:t>What TSN Provides</a:t>
            </a:r>
            <a:endParaRPr b="1">
              <a:solidFill>
                <a:srgbClr val="1A56A0"/>
              </a:solidFill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548640" y="159448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Credit-Based Shaping (802.1Qav)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548640" y="226314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Time-Aware Shaping (802.1Qbv)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8640" y="293179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Cyclic Queuing and Forwarding (802.1Qch)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48640" y="36004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Sub-microsecond time synchronisation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4754880" y="1080135"/>
            <a:ext cx="40233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1A56A0"/>
                </a:solidFill>
              </a:rPr>
              <a:t>Key Impact</a:t>
            </a:r>
            <a:endParaRPr b="1">
              <a:solidFill>
                <a:srgbClr val="1A56A0"/>
              </a:solidFill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4846320" y="1594485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Wireless becomes as reliable as wired PROFINET / EtherCAT.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4846320" y="2391728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Wired and wireless robot axes driven by the same scheduler.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846320" y="3188970"/>
            <a:ext cx="39318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IEEE actively extending TSN standards to Wi-Fi (802.11).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4572000" y="1080135"/>
            <a:ext cx="36600" cy="3703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A0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"/>
          <p:cNvSpPr txBox="1"/>
          <p:nvPr/>
        </p:nvSpPr>
        <p:spPr>
          <a:xfrm>
            <a:off x="731520" y="1285875"/>
            <a:ext cx="76809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FFFFF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31520" y="1800225"/>
            <a:ext cx="7680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>
                <a:solidFill>
                  <a:srgbClr val="FFFFFF"/>
                </a:solidFill>
              </a:rPr>
              <a:t>Emerging Trends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731520" y="3086100"/>
            <a:ext cx="76809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DD7EE"/>
                </a:solidFill>
              </a:rPr>
              <a:t>Wi-Fi 7  ·  Private 5G  ·  Wireless TSN  ·  6G Outlook</a:t>
            </a:r>
            <a:endParaRPr>
              <a:solidFill>
                <a:srgbClr val="BDD7E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5.1  Wi-Fi 7 — Multi-Link Operation (MLO)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36576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36576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</a:rPr>
              <a:t>2.4 GHz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329184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329184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</a:rPr>
              <a:t>5 GHz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6217920" y="1131570"/>
            <a:ext cx="2469000" cy="8229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9"/>
          <p:cNvSpPr txBox="1"/>
          <p:nvPr/>
        </p:nvSpPr>
        <p:spPr>
          <a:xfrm>
            <a:off x="6217920" y="1131570"/>
            <a:ext cx="24690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</a:rPr>
              <a:t>6 GHz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65760" y="2005965"/>
            <a:ext cx="8412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666666"/>
                </a:solidFill>
              </a:rPr>
              <a:t>All three frequency bands used simultaneously</a:t>
            </a:r>
            <a:endParaRPr sz="1200" i="1">
              <a:solidFill>
                <a:srgbClr val="666666"/>
              </a:solidFill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48640" y="257175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MLO provides packet-level diversity — a dropped packet on one band is recovered on another without retransmission delay.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548640" y="324040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IEEE 802.11be (Wi-Fi 7) is finalised. Draft 1.0 of Wi-Fi 8 (802.11bn) completed August 2025.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548640" y="39090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Wi-Fi 8 targets deterministic performance and reliability rather than just higher throughput.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5.2  Private 5G Campus Networks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365760" y="1543050"/>
            <a:ext cx="2377500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of new private wireless</a:t>
            </a:r>
            <a:endParaRPr sz="1100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spend in 2025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48640" y="174879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Companies build and manage their own 5G network instead of using public infrastructure.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548640" y="241744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Full control over security, service levels, and spectrum allocation.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48640" y="308610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Optimised for deterministic, high-density industrial environments such as factories.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548640" y="3754755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Complements industrial Ethernet and Wi-Fi in new (greenfield) factory deployments.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/>
        </p:nvSpPr>
        <p:spPr>
          <a:xfrm>
            <a:off x="365760" y="205740"/>
            <a:ext cx="8412600" cy="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1A56A0"/>
                </a:solidFill>
              </a:rPr>
              <a:t>5.3  Wireless Time-Sensitive Networking</a:t>
            </a:r>
            <a:endParaRPr sz="2200" b="1">
              <a:solidFill>
                <a:srgbClr val="1A56A0"/>
              </a:solidFill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365760" y="900113"/>
            <a:ext cx="8412600" cy="20700"/>
          </a:xfrm>
          <a:prstGeom prst="rect">
            <a:avLst/>
          </a:prstGeom>
          <a:solidFill>
            <a:srgbClr val="1A56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429015" y="141996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TSN ensures data arrives at the exact required time — critical for real-time control.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77" name="Google Shape;177;p21"/>
          <p:cNvSpPr txBox="1"/>
          <p:nvPr/>
        </p:nvSpPr>
        <p:spPr>
          <a:xfrm>
            <a:off x="429015" y="2175590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Closes the "last mile" gap: wireless now matches wired PROFINET and EtherCAT guarantees.</a:t>
            </a:r>
            <a:endParaRPr sz="1300">
              <a:solidFill>
                <a:srgbClr val="444444"/>
              </a:solidFill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472515" y="2895958"/>
            <a:ext cx="80466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44444"/>
                </a:solidFill>
              </a:rPr>
              <a:t>•  A single TSN scheduler can drive both wired and wireless robot axes at the same time.</a:t>
            </a:r>
            <a:endParaRPr sz="1300">
              <a:solidFill>
                <a:srgbClr val="444444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7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05940"/>
            <a:ext cx="9144000" cy="1783080"/>
          </a:xfrm>
          <a:prstGeom prst="rect">
            <a:avLst/>
          </a:prstGeom>
          <a:solidFill>
            <a:srgbClr val="0F6E78"/>
          </a:solidFill>
          <a:ln w="12700">
            <a:solidFill>
              <a:srgbClr val="0F6E7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Wireless Standards: Architecture and Protocol Stack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653307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F6E78"/>
                </a:solidFill>
              </a:rPr>
              <a:t>Wi-Fi (802.11)   ·   Zigbee (802.15.4)   ·   5G New Radio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</a:t>
            </a:r>
            <a:r>
              <a:rPr lang="en-US" sz="23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 (Wi-Fi)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w="12700">
            <a:solidFill>
              <a:srgbClr val="0F6E7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on 2.4, 5 and 6 GHz bands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CSMA/CA for channel access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6 adds OFDMA and TWT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802.11r enables fast roaming for AGVs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up to 9.6 Gbps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 w="12700">
            <a:solidFill>
              <a:srgbClr val="1C8C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37033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E"/>
                </a:solidFill>
              </a:rPr>
              <a:t>High speed, huge ecosystem, native TCP/IP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E"/>
                </a:solidFill>
              </a:rPr>
              <a:t>Unreliable under load, shared spectrum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8C99"/>
                </a:solidFill>
              </a:rPr>
              <a:t>[ IMAGE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6E"/>
                </a:solidFill>
              </a:rPr>
              <a:t>Wi-Fi factory deployment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4A44A6-D7A0-E025-4000-E126C070A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897" y="1142420"/>
            <a:ext cx="4497303" cy="3251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</a:t>
            </a:r>
            <a:r>
              <a:rPr lang="en-US" sz="23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802.15.4 / Zigbee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w="12700">
            <a:solidFill>
              <a:srgbClr val="0F6E7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wireless WPAN standard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2.4 GHz, up to 250 kbps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roles: Coordinator, Router, End Device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star, tree and mesh topologies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of 2 to 5 years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 w="12700">
            <a:solidFill>
              <a:srgbClr val="1C8C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370332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E"/>
                </a:solidFill>
              </a:rPr>
              <a:t>Long battery life, low cost, self-healing mesh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41148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E"/>
                </a:solidFill>
              </a:rPr>
              <a:t>Low data rate, short range of 10 to 100 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8C99"/>
                </a:solidFill>
              </a:rPr>
              <a:t>[ IMAGE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6E"/>
                </a:solidFill>
              </a:rPr>
              <a:t>Zigbee mesh topology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3CC9E1-DB5B-4B4A-1204-28AC4B242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809481"/>
            <a:ext cx="4222892" cy="26866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2CB063-A753-5430-E1EC-B30CDA965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15" r="6176" b="6204"/>
          <a:stretch>
            <a:fillRect/>
          </a:stretch>
        </p:blipFill>
        <p:spPr>
          <a:xfrm>
            <a:off x="5014173" y="3496161"/>
            <a:ext cx="2142187" cy="15996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</a:t>
            </a:r>
            <a:r>
              <a:rPr lang="en-US" sz="23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New Radio (NR)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w="12700">
            <a:solidFill>
              <a:srgbClr val="0F6E7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by 3GPP, uses licensed bands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classes: eMBB, mMTC, URLLC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reaches under 1 ms at 99.999%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campus networks kept on site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TSN bridge from Release 16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02032" y="417737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C8C99"/>
          </a:solidFill>
          <a:ln w="12700">
            <a:solidFill>
              <a:srgbClr val="1C8C99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102032" y="417737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35321" y="4232953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E"/>
                </a:solidFill>
              </a:rPr>
              <a:t>Licensed spectrum, deterministic, private networks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02032" y="458885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4102032" y="4588850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16432" y="459943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E"/>
                </a:solidFill>
              </a:rPr>
              <a:t>Costly, complex, power-hungry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8C99"/>
                </a:solidFill>
              </a:rPr>
              <a:t>[ IMAGE 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B6E"/>
                </a:solidFill>
              </a:rPr>
              <a:t>Private 5G campus network</a:t>
            </a:r>
            <a:endParaRPr lang="en-US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2D6B4C-C39B-0CAB-876F-808414333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376" y="1382332"/>
            <a:ext cx="4271344" cy="2553935"/>
          </a:xfrm>
          <a:prstGeom prst="rect">
            <a:avLst/>
          </a:prstGeom>
        </p:spPr>
      </p:pic>
      <p:pic>
        <p:nvPicPr>
          <p:cNvPr id="16" name="Picture 15" descr="5G new radio fixed wireless access portfolio introduced | Electronics360">
            <a:extLst>
              <a:ext uri="{FF2B5EF4-FFF2-40B4-BE49-F238E27FC236}">
                <a16:creationId xmlns:a16="http://schemas.microsoft.com/office/drawing/2014/main" id="{63608C8A-354F-ABB3-3CE2-F97A1CFD8C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411" t="7198" r="19975" b="4925"/>
          <a:stretch>
            <a:fillRect/>
          </a:stretch>
        </p:blipFill>
        <p:spPr>
          <a:xfrm rot="21441899">
            <a:off x="976344" y="3087595"/>
            <a:ext cx="2201523" cy="18900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</a:t>
            </a:r>
            <a:r>
              <a:rPr lang="en-US" sz="23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at a Glance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22860"/>
          </a:xfrm>
          <a:prstGeom prst="rect">
            <a:avLst/>
          </a:prstGeom>
          <a:solidFill>
            <a:srgbClr val="0F6E78"/>
          </a:solidFill>
          <a:ln w="12700">
            <a:solidFill>
              <a:srgbClr val="0F6E7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Wi-Fi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Zigbee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5G NR</a:t>
                      </a:r>
                      <a:endParaRPr lang="en-US" sz="13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Data rate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9.6 Gbps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250 kbps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Multi-Gbps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Latency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~5 ms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15 to 30 ms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&lt; 1 ms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Range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~100 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10 to 100 m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Wide / campus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Power use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Very low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High bandwidth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Sensors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43B40"/>
                          </a:solidFill>
                        </a:rPr>
                        <a:t>Real-time control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3F2F3"/>
          </a:solidFill>
          <a:ln w="12700">
            <a:solidFill>
              <a:srgbClr val="1C8C99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" name="Text 3"/>
          <p:cNvSpPr/>
          <p:nvPr/>
        </p:nvSpPr>
        <p:spPr>
          <a:xfrm>
            <a:off x="731520" y="37947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400" dirty="0">
                <a:solidFill>
                  <a:srgbClr val="24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standard fits every need, so factories mix all three by use case.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807</Words>
  <Application>Microsoft Macintosh PowerPoint</Application>
  <PresentationFormat>On-screen Show (16:9)</PresentationFormat>
  <Paragraphs>125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victor odaudu</dc:creator>
  <cp:lastModifiedBy>victor odaudu</cp:lastModifiedBy>
  <cp:revision>2</cp:revision>
  <dcterms:modified xsi:type="dcterms:W3CDTF">2026-06-10T13:59:50Z</dcterms:modified>
</cp:coreProperties>
</file>