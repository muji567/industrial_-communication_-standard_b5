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gDiUJK6lFSTyqXN7WvJP1fX0R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45528C-6AE6-4B6A-8F69-70238320FEF2}">
  <a:tblStyle styleId="{8345528C-6AE6-4B6A-8F69-70238320FE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1954530"/>
            <a:ext cx="9144000" cy="12345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57200" y="2005965"/>
            <a:ext cx="8229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Literature Review </a:t>
            </a: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57200" y="26746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Industrial Wireless Communication for Industry 4.0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2.1  Early Wireless Sensor Networks (WSN)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468880" y="1080135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2651760" y="1080135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WSN established the foundation of industrial wireless communication, based on IEEE 802.15.4 standards.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Goal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468880" y="1980248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2651760" y="1980248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Collect and transmit data wirelessly with low power consumption, allowing devices to run on batteries for years.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Challenges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468880" y="2880360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2651760" y="2880360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Unstable delays, electromagnetic interference from machines, and signal loss in metallic factory environments.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Significance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468880" y="3780473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2651760" y="3780473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Despite the challenges, WSN shaped the design principles still used in modern industrial wireless systems today.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2.1  WSN Architecture Overview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500" y="1135006"/>
            <a:ext cx="6821000" cy="3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365760" y="4750000"/>
            <a:ext cx="8412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Typical WSN architecture: sensor nodes relay data through the network to a base station and the internet.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2.2  Industrial Wi-Fi Evolution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802.11b/g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194560" y="108013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2377440" y="108013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High variable latency </a:t>
            </a:r>
            <a:r>
              <a:rPr lang="en" sz="1200">
                <a:solidFill>
                  <a:srgbClr val="444444"/>
                </a:solidFill>
              </a:rPr>
              <a:t>- </a:t>
            </a: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not suitable for closed-loop industrial control.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802.11e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194560" y="195453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2377440" y="195453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QoS (EDCA) introduced traffic prioritisation, improving reliability.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802.11n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194560" y="282892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2377440" y="282892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MIMO antennas enabled spatial multiplexing and increased data rates.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Wi-Fi 6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194560" y="370332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2377440" y="370332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OFDMA and TWT reduced latency to ~5 ms </a:t>
            </a:r>
            <a:r>
              <a:rPr lang="en" sz="1200">
                <a:solidFill>
                  <a:srgbClr val="444444"/>
                </a:solidFill>
              </a:rPr>
              <a:t>- </a:t>
            </a:r>
            <a:r>
              <a:rPr b="0" i="0" lang="en" sz="12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suitable for high-bandwidth industrial applications.</a:t>
            </a:r>
            <a:endParaRPr b="0" i="0" sz="12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2.2  Industrial Wireless Connectivity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00" y="1275506"/>
            <a:ext cx="7800000" cy="3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65760" y="4750000"/>
            <a:ext cx="8412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Wireless connectivity links across an industrial network  routers, sensors, and IoT-enabled devices.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2.3  5G and the URLLC Paradigm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76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36576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 1 ms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6576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Latency for motion control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29184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329184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99.9999%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329184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Reliability (URLLC)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1792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21792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70%+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21792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private wireless spend on standalone 5G (2025)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3GPP Release 15 (2018): 5G NR air interface standardised.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Release 16 (2020): mini-slot scheduling and enhanced HARQ added for URLLC.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Release 16 also defines 5G as a TSN bridge for end-to-end deterministic delivery.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548640" y="457771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Many industries are now adopting private 5G networks for real-time control tasks.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2.4  TSN Integration </a:t>
            </a:r>
            <a:r>
              <a:rPr b="1" lang="en" sz="2200">
                <a:solidFill>
                  <a:srgbClr val="1A56A0"/>
                </a:solidFill>
              </a:rPr>
              <a:t>-</a:t>
            </a: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 Towards Wireless Determinism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6576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What TSN Provides</a:t>
            </a:r>
            <a:endParaRPr b="1" i="0" sz="14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48640" y="159448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Credit-Based Shaping (802.1Qav)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548640" y="226314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Time-Aware Shaping (802.1Qbv)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48640" y="293179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Cyclic Queuing and Forwarding (802.1Qch)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48640" y="36004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Sub-microsecond time synchronisation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75488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Key Impact</a:t>
            </a:r>
            <a:endParaRPr b="1" i="0" sz="14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4846320" y="1594485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Wireless becomes as reliable as wired PROFINET / EtherCAT.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4846320" y="2391728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Wired and wireless robot axes driven by the same scheduler.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4846320" y="3188970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IEEE actively extending TSN standards to Wi-Fi (802.11).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0" y="1080135"/>
            <a:ext cx="36600" cy="370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56A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/>
        </p:nvSpPr>
        <p:spPr>
          <a:xfrm>
            <a:off x="731520" y="1285875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31520" y="1800225"/>
            <a:ext cx="7680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Emerging Trends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31520" y="3086100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Wi-Fi 7  ·  Private 5G  ·  Wireless TSN  ·  6G Outlook</a:t>
            </a:r>
            <a:endParaRPr b="0" i="0" sz="1400" u="none" cap="none" strike="noStrike">
              <a:solidFill>
                <a:srgbClr val="BDD7E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5.1  Wi-Fi 7 — Multi-Link Operation (MLO)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 GHz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GHz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GHz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365760" y="2005965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 three frequency bands used simultaneously</a:t>
            </a:r>
            <a:endParaRPr b="0" i="1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MLO provides packet-level diversity — a dropped packet on one band is recovered on another without retransmission delay.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IEEE 802.11be (Wi-Fi 7) is finalised. Draft 1.0 of Wi-Fi 8 (802.11bn) completed August 2025.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Wi-Fi 8 targets deterministic performance and reliability rather than just higher throughput.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5.1  Wi-Fi 6 vs Wi-Fi 7 – Frequency Bands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000" y="1713006"/>
            <a:ext cx="8200000" cy="26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365760" y="4750000"/>
            <a:ext cx="8412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Wi-Fi 6 uses 2.4/5 GHz bands, while Wi-Fi 7 adds the 6 GHz band for simultaneous multi-link operation.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5.2  Private 5G Campus Networks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365760" y="1543050"/>
            <a:ext cx="2377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new private wireless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spend in 2025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548640" y="17487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Companies build and manage their own 5G network instead of using public infrastructure.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548640" y="241744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Full control over security, service levels, and spectrum allocation.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548640" y="308610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Optimised for deterministic, high-density industrial environments such as factories.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48640" y="375475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Complements industrial Ethernet and Wi-Fi in new (greenfield) factory deployments.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A56A0"/>
                </a:solidFill>
                <a:latin typeface="Arial"/>
                <a:ea typeface="Arial"/>
                <a:cs typeface="Arial"/>
                <a:sym typeface="Arial"/>
              </a:rPr>
              <a:t>5.3  Wireless Time-Sensitive Networking</a:t>
            </a:r>
            <a:endParaRPr b="1" i="0" sz="2200" u="none" cap="none" strike="noStrike">
              <a:solidFill>
                <a:srgbClr val="1A5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429015" y="14199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TSN ensures data arrives at the exact required time </a:t>
            </a:r>
            <a:r>
              <a:rPr lang="en" sz="1300">
                <a:solidFill>
                  <a:srgbClr val="444444"/>
                </a:solidFill>
              </a:rPr>
              <a:t>- </a:t>
            </a: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critical for real-time control.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429015" y="21755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Closes the "last mile" gap: wireless now matches wired PROFINET and EtherCAT guarantees.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472515" y="2895958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 A single TSN scheduler can drive both wired and wireless robot axes at the same time.</a:t>
            </a:r>
            <a:endParaRPr b="0" i="0" sz="13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717D"/>
            </a:gs>
            <a:gs pos="83000">
              <a:srgbClr val="A8C7FA"/>
            </a:gs>
            <a:gs pos="100000">
              <a:srgbClr val="C5D9FB"/>
            </a:gs>
          </a:gsLst>
          <a:lin ang="5400000" scaled="0"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0" y="1805940"/>
            <a:ext cx="9144000" cy="1783080"/>
          </a:xfrm>
          <a:prstGeom prst="rect">
            <a:avLst/>
          </a:prstGeom>
          <a:solidFill>
            <a:srgbClr val="0F6E78"/>
          </a:solidFill>
          <a:ln cap="flat" cmpd="sng" w="12700">
            <a:solidFill>
              <a:srgbClr val="0F6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731520" y="22402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Wireless Standards: Architecture and Protocol Stack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731520" y="3653307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F6E78"/>
                </a:solidFill>
                <a:latin typeface="Arial"/>
                <a:ea typeface="Arial"/>
                <a:cs typeface="Arial"/>
                <a:sym typeface="Arial"/>
              </a:rPr>
              <a:t>Wi-Fi (802.11)   ·   Zigbee (802.15.4)   ·   5G New Radio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3.1  </a:t>
            </a:r>
            <a:r>
              <a:rPr b="1" i="0" lang="en" sz="2300" u="none" cap="none" strike="noStrike">
                <a:solidFill>
                  <a:srgbClr val="0F6E78"/>
                </a:solidFill>
                <a:latin typeface="Calibri"/>
                <a:ea typeface="Calibri"/>
                <a:cs typeface="Calibri"/>
                <a:sym typeface="Calibri"/>
              </a:rPr>
              <a:t>IEEE 802.11 (Wi-Fi)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cap="flat" cmpd="sng" w="12700">
            <a:solidFill>
              <a:srgbClr val="0F6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Operates on 2.4, 5 and 6 GHz bands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CSMA/CA for channel access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Wi-Fi 6 adds OFDMA and TWT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802.11r enables fast roaming for AGVs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Throughput up to 9.6 Gbps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457200" y="370332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1C8C99"/>
          </a:solidFill>
          <a:ln cap="flat" cmpd="sng" w="12700">
            <a:solidFill>
              <a:srgbClr val="1C8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57200" y="370332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1463040" y="370332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High speed, huge ecosystem, native TCP/IP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457200" y="411480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A900"/>
          </a:solidFill>
          <a:ln cap="flat" cmpd="sng" w="127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457200" y="411480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463040" y="411480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Unreliable under load, shared spectrum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C8C99"/>
                </a:solidFill>
                <a:latin typeface="Arial"/>
                <a:ea typeface="Arial"/>
                <a:cs typeface="Arial"/>
                <a:sym typeface="Arial"/>
              </a:rPr>
              <a:t>[ IMAGE 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Wi-Fi factory deployment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897" y="1142420"/>
            <a:ext cx="4497303" cy="325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3.2  </a:t>
            </a:r>
            <a:r>
              <a:rPr b="1" i="0" lang="en" sz="2300" u="none" cap="none" strike="noStrike">
                <a:solidFill>
                  <a:srgbClr val="0F6E78"/>
                </a:solidFill>
                <a:latin typeface="Calibri"/>
                <a:ea typeface="Calibri"/>
                <a:cs typeface="Calibri"/>
                <a:sym typeface="Calibri"/>
              </a:rPr>
              <a:t>IEEE 802.15.4 / Zigbee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cap="flat" cmpd="sng" w="12700">
            <a:solidFill>
              <a:srgbClr val="0F6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Low-power wireless WPAN standard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Runs at 2.4 GHz, up to 250 kbps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Three roles: Coordinator, Router, End Device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Supports star, tree and mesh topologies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Battery life of 2 to 5 years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57200" y="370332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1C8C99"/>
          </a:solidFill>
          <a:ln cap="flat" cmpd="sng" w="12700">
            <a:solidFill>
              <a:srgbClr val="1C8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457200" y="370332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1463040" y="370332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Long battery life, low cost, self-healing mesh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457200" y="411480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A900"/>
          </a:solidFill>
          <a:ln cap="flat" cmpd="sng" w="127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57200" y="411480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1463040" y="411480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Low data rate, short range of 10 to 100 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C8C99"/>
                </a:solidFill>
                <a:latin typeface="Arial"/>
                <a:ea typeface="Arial"/>
                <a:cs typeface="Arial"/>
                <a:sym typeface="Arial"/>
              </a:rPr>
              <a:t>[ IMAGE 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Zigbee mesh topology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0" y="809481"/>
            <a:ext cx="4222892" cy="268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/>
          <p:cNvPicPr preferRelativeResize="0"/>
          <p:nvPr/>
        </p:nvPicPr>
        <p:blipFill rotWithShape="1">
          <a:blip r:embed="rId4">
            <a:alphaModFix/>
          </a:blip>
          <a:srcRect b="6204" l="9315" r="6176" t="0"/>
          <a:stretch/>
        </p:blipFill>
        <p:spPr>
          <a:xfrm>
            <a:off x="5014173" y="3496161"/>
            <a:ext cx="2142187" cy="1599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3.3  </a:t>
            </a:r>
            <a:r>
              <a:rPr b="1" i="0" lang="en" sz="2300" u="none" cap="none" strike="noStrike">
                <a:solidFill>
                  <a:srgbClr val="0F6E78"/>
                </a:solidFill>
                <a:latin typeface="Calibri"/>
                <a:ea typeface="Calibri"/>
                <a:cs typeface="Calibri"/>
                <a:sym typeface="Calibri"/>
              </a:rPr>
              <a:t>5G New Radio (NR)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cap="flat" cmpd="sng" w="12700">
            <a:solidFill>
              <a:srgbClr val="0F6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Standardised by 3GPP, uses licensed bands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Three classes: eMBB, mMTC, URLLC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URLLC reaches under 1 ms at 99.999%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Private campus networks kept on site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Acts as a TSN bridge from Release 16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4102032" y="417737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1C8C99"/>
          </a:solidFill>
          <a:ln cap="flat" cmpd="sng" w="12700">
            <a:solidFill>
              <a:srgbClr val="1C8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4102032" y="417737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035321" y="4232953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Licensed spectrum, deterministic, private networks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102032" y="458885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A900"/>
          </a:solidFill>
          <a:ln cap="flat" cmpd="sng" w="127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4102032" y="458885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5016432" y="459943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Costly, complex, power-hungry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C8C99"/>
                </a:solidFill>
                <a:latin typeface="Arial"/>
                <a:ea typeface="Arial"/>
                <a:cs typeface="Arial"/>
                <a:sym typeface="Arial"/>
              </a:rPr>
              <a:t>[ IMAGE 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5A6B6E"/>
                </a:solidFill>
                <a:latin typeface="Arial"/>
                <a:ea typeface="Arial"/>
                <a:cs typeface="Arial"/>
                <a:sym typeface="Arial"/>
              </a:rPr>
              <a:t>Private 5G campus network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376" y="1382332"/>
            <a:ext cx="4271344" cy="2553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G new radio fixed wireless access portfolio introduced | Electronics360" id="260" name="Google Shape;260;p17"/>
          <p:cNvPicPr preferRelativeResize="0"/>
          <p:nvPr/>
        </p:nvPicPr>
        <p:blipFill rotWithShape="1">
          <a:blip r:embed="rId4">
            <a:alphaModFix/>
          </a:blip>
          <a:srcRect b="4925" l="27411" r="19975" t="7198"/>
          <a:stretch/>
        </p:blipFill>
        <p:spPr>
          <a:xfrm rot="-158101">
            <a:off x="976344" y="3087595"/>
            <a:ext cx="2201523" cy="189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3.4  </a:t>
            </a:r>
            <a:r>
              <a:rPr b="1" i="0" lang="en" sz="2300" u="none" cap="none" strike="noStrike">
                <a:solidFill>
                  <a:srgbClr val="0F6E78"/>
                </a:solidFill>
                <a:latin typeface="Calibri"/>
                <a:ea typeface="Calibri"/>
                <a:cs typeface="Calibri"/>
                <a:sym typeface="Calibri"/>
              </a:rPr>
              <a:t>Standards at a Glance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cap="flat" cmpd="sng" w="12700">
            <a:solidFill>
              <a:srgbClr val="0F6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7" name="Google Shape;267;p18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{8345528C-6AE6-4B6A-8F69-70238320FEF2}</a:tableStyleId>
              </a:tblPr>
              <a:tblGrid>
                <a:gridCol w="1645925"/>
                <a:gridCol w="2194550"/>
                <a:gridCol w="2194550"/>
                <a:gridCol w="2194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Wi-Fi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Zigbee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5G NR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6E7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Data rate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9.6 Gbps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250 kbps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Multi-Gbps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Latency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~5 ms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15 to 30 ms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&lt; 1 ms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Range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~100 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10 to 100 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Wide / campus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Power use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High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Very low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High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Best for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High bandwidth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Sensors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43B40"/>
                          </a:solidFill>
                        </a:rPr>
                        <a:t>Real-time control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6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1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E3F2F3"/>
          </a:solidFill>
          <a:ln cap="flat" cmpd="sng" w="12700">
            <a:solidFill>
              <a:srgbClr val="1C8C9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731520" y="379476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6E78"/>
                </a:solidFill>
                <a:latin typeface="Calibri"/>
                <a:ea typeface="Calibri"/>
                <a:cs typeface="Calibri"/>
                <a:sym typeface="Calibri"/>
              </a:rPr>
              <a:t>Takeaway:  </a:t>
            </a:r>
            <a:r>
              <a:rPr b="0" i="0" lang="en" sz="1400" u="none" cap="none" strike="noStrike">
                <a:solidFill>
                  <a:srgbClr val="243B40"/>
                </a:solidFill>
                <a:latin typeface="Calibri"/>
                <a:ea typeface="Calibri"/>
                <a:cs typeface="Calibri"/>
                <a:sym typeface="Calibri"/>
              </a:rPr>
              <a:t>no single standard fits every need, so factories mix all three by use case.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odaudu</dc:creator>
</cp:coreProperties>
</file>