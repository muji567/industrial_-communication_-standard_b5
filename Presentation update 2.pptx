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1" r:id="rId1"/>
    <p:sldMasterId id="2147483663" r:id="rId2"/>
  </p:sldMasterIdLst>
  <p:notesMasterIdLst>
    <p:notesMasterId r:id="rId28"/>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 id="276" r:id="rId23"/>
    <p:sldId id="277" r:id="rId24"/>
    <p:sldId id="278" r:id="rId25"/>
    <p:sldId id="279" r:id="rId26"/>
    <p:sldId id="280" r:id="rId27"/>
  </p:sldIdLst>
  <p:sldSz cx="9144000" cy="5143500" type="screen16x9"/>
  <p:notesSz cx="6858000" cy="9144000"/>
  <p:embeddedFontLst>
    <p:embeddedFont>
      <p:font typeface="Calibri" panose="020F0502020204030204" pitchFamily="34" charset="0"/>
      <p:regular r:id="rId29"/>
      <p:bold r:id="rId30"/>
      <p:italic r:id="rId31"/>
      <p:boldItalic r:id="rId32"/>
    </p:embeddedFont>
    <p:embeddedFont>
      <p:font typeface="Raleway Medium" panose="020B0604020202020204" charset="0"/>
      <p:regular r:id="rId33"/>
      <p:bold r:id="rId34"/>
      <p:italic r:id="rId35"/>
      <p:boldItalic r:id="rId36"/>
    </p:embeddedFont>
    <p:embeddedFont>
      <p:font typeface="Comfortaa" panose="020B0604020202020204" charset="0"/>
      <p:regular r:id="rId37"/>
      <p:bold r:id="rId3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39" roundtripDataSignature="AMtx7mgUYRikwWsktPdGp7Z3Dux1yzHaEw=="/>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DA5B0BEF-E4A5-420E-9A7C-63D024ACD285}">
  <a:tblStyle styleId="{DA5B0BEF-E4A5-420E-9A7C-63D024ACD285}"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1" d="100"/>
          <a:sy n="101" d="100"/>
        </p:scale>
        <p:origin x="922" y="7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customschemas.google.com/relationships/presentationmetadata" Target="metadata"/><Relationship Id="rId21" Type="http://schemas.openxmlformats.org/officeDocument/2006/relationships/slide" Target="slides/slide19.xml"/><Relationship Id="rId34" Type="http://schemas.openxmlformats.org/officeDocument/2006/relationships/font" Target="fonts/font6.fntdata"/><Relationship Id="rId42" Type="http://schemas.openxmlformats.org/officeDocument/2006/relationships/theme" Target="theme/theme1.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font" Target="fonts/font1.fntdata"/><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font" Target="fonts/font4.fntdata"/><Relationship Id="rId37" Type="http://schemas.openxmlformats.org/officeDocument/2006/relationships/font" Target="fonts/font9.fntdata"/><Relationship Id="rId40"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notesMaster" Target="notesMasters/notesMaster1.xml"/><Relationship Id="rId36" Type="http://schemas.openxmlformats.org/officeDocument/2006/relationships/font" Target="fonts/font8.fntdata"/><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font" Target="fonts/font3.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font" Target="fonts/font2.fntdata"/><Relationship Id="rId35" Type="http://schemas.openxmlformats.org/officeDocument/2006/relationships/font" Target="fonts/font7.fntdata"/><Relationship Id="rId43" Type="http://schemas.openxmlformats.org/officeDocument/2006/relationships/tableStyles" Target="tableStyles.xml"/><Relationship Id="rId8" Type="http://schemas.openxmlformats.org/officeDocument/2006/relationships/slide" Target="slides/slide6.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font" Target="fonts/font5.fntdata"/><Relationship Id="rId38" Type="http://schemas.openxmlformats.org/officeDocument/2006/relationships/font" Target="fonts/font10.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p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3" name="Google Shape;103;p1: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04" name="Google Shape;104;p1: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2: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2: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115" name="Google Shape;115;p2: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35" name="Google Shape;135;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0"/>
        <p:cNvGrpSpPr/>
        <p:nvPr/>
      </p:nvGrpSpPr>
      <p:grpSpPr>
        <a:xfrm>
          <a:off x="0" y="0"/>
          <a:ext cx="0" cy="0"/>
          <a:chOff x="0" y="0"/>
          <a:chExt cx="0" cy="0"/>
        </a:xfrm>
      </p:grpSpPr>
      <p:sp>
        <p:nvSpPr>
          <p:cNvPr id="141" name="Google Shape;141;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42" name="Google Shape;14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64" name="Google Shape;164;p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0"/>
        <p:cNvGrpSpPr/>
        <p:nvPr/>
      </p:nvGrpSpPr>
      <p:grpSpPr>
        <a:xfrm>
          <a:off x="0" y="0"/>
          <a:ext cx="0" cy="0"/>
          <a:chOff x="0" y="0"/>
          <a:chExt cx="0" cy="0"/>
        </a:xfrm>
      </p:grpSpPr>
      <p:sp>
        <p:nvSpPr>
          <p:cNvPr id="171" name="Google Shape;171;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72" name="Google Shape;172;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2"/>
        <p:cNvGrpSpPr/>
        <p:nvPr/>
      </p:nvGrpSpPr>
      <p:grpSpPr>
        <a:xfrm>
          <a:off x="0" y="0"/>
          <a:ext cx="0" cy="0"/>
          <a:chOff x="0" y="0"/>
          <a:chExt cx="0" cy="0"/>
        </a:xfrm>
      </p:grpSpPr>
      <p:sp>
        <p:nvSpPr>
          <p:cNvPr id="193" name="Google Shape;19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94" name="Google Shape;194;p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0"/>
        <p:cNvGrpSpPr/>
        <p:nvPr/>
      </p:nvGrpSpPr>
      <p:grpSpPr>
        <a:xfrm>
          <a:off x="0" y="0"/>
          <a:ext cx="0" cy="0"/>
          <a:chOff x="0" y="0"/>
          <a:chExt cx="0" cy="0"/>
        </a:xfrm>
      </p:grpSpPr>
      <p:sp>
        <p:nvSpPr>
          <p:cNvPr id="201" name="Google Shape;201;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2" name="Google Shape;202;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21" name="Google Shape;221;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7" name="Google Shape;237;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2"/>
        <p:cNvGrpSpPr/>
        <p:nvPr/>
      </p:nvGrpSpPr>
      <p:grpSpPr>
        <a:xfrm>
          <a:off x="0" y="0"/>
          <a:ext cx="0" cy="0"/>
          <a:chOff x="0" y="0"/>
          <a:chExt cx="0" cy="0"/>
        </a:xfrm>
      </p:grpSpPr>
      <p:sp>
        <p:nvSpPr>
          <p:cNvPr id="243" name="Google Shape;243;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4" name="Google Shape;244;p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p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59" name="Google Shape;259;p12: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67" name="Google Shape;267;p1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8" name="Google Shape;278;p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p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87" name="Google Shape;287;p15: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295" name="Google Shape;295;p16: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9"/>
        <p:cNvGrpSpPr/>
        <p:nvPr/>
      </p:nvGrpSpPr>
      <p:grpSpPr>
        <a:xfrm>
          <a:off x="0" y="0"/>
          <a:ext cx="0" cy="0"/>
          <a:chOff x="0" y="0"/>
          <a:chExt cx="0" cy="0"/>
        </a:xfrm>
      </p:grpSpPr>
      <p:sp>
        <p:nvSpPr>
          <p:cNvPr id="310" name="Google Shape;310;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11" name="Google Shape;311;p17: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6"/>
        <p:cNvGrpSpPr/>
        <p:nvPr/>
      </p:nvGrpSpPr>
      <p:grpSpPr>
        <a:xfrm>
          <a:off x="0" y="0"/>
          <a:ext cx="0" cy="0"/>
          <a:chOff x="0" y="0"/>
          <a:chExt cx="0" cy="0"/>
        </a:xfrm>
      </p:grpSpPr>
      <p:sp>
        <p:nvSpPr>
          <p:cNvPr id="327" name="Google Shape;327;p1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28" name="Google Shape;328;p18: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p1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45" name="Google Shape;345;p1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2"/>
        <p:cNvGrpSpPr/>
        <p:nvPr/>
      </p:nvGrpSpPr>
      <p:grpSpPr>
        <a:xfrm>
          <a:off x="0" y="0"/>
          <a:ext cx="0" cy="0"/>
          <a:chOff x="0" y="0"/>
          <a:chExt cx="0" cy="0"/>
        </a:xfrm>
      </p:grpSpPr>
      <p:sp>
        <p:nvSpPr>
          <p:cNvPr id="353" name="Google Shape;353;p20: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54" name="Google Shape;354;p20: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55" name="Google Shape;355;p20: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20</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6"/>
        <p:cNvGrpSpPr/>
        <p:nvPr/>
      </p:nvGrpSpPr>
      <p:grpSpPr>
        <a:xfrm>
          <a:off x="0" y="0"/>
          <a:ext cx="0" cy="0"/>
          <a:chOff x="0" y="0"/>
          <a:chExt cx="0" cy="0"/>
        </a:xfrm>
      </p:grpSpPr>
      <p:sp>
        <p:nvSpPr>
          <p:cNvPr id="377" name="Google Shape;377;p21:notes"/>
          <p:cNvSpPr>
            <a:spLocks noGrp="1" noRot="1" noChangeAspect="1"/>
          </p:cNvSpPr>
          <p:nvPr>
            <p:ph type="sldImg" idx="2"/>
          </p:nvPr>
        </p:nvSpPr>
        <p:spPr>
          <a:xfrm>
            <a:off x="1828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8" name="Google Shape;378;p21:notes"/>
          <p:cNvSpPr txBox="1">
            <a:spLocks noGrp="1"/>
          </p:cNvSpPr>
          <p:nvPr>
            <p:ph type="body" idx="1"/>
          </p:nvPr>
        </p:nvSpPr>
        <p:spPr>
          <a:xfrm>
            <a:off x="914400" y="4400550"/>
            <a:ext cx="73152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379" name="Google Shape;379;p21:notes"/>
          <p:cNvSpPr txBox="1">
            <a:spLocks noGrp="1"/>
          </p:cNvSpPr>
          <p:nvPr>
            <p:ph type="sldNum" idx="12"/>
          </p:nvPr>
        </p:nvSpPr>
        <p:spPr>
          <a:xfrm>
            <a:off x="5179484" y="8685213"/>
            <a:ext cx="39624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21</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36615247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2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26"/>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9" name="Google Shape;19;p26"/>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20" name="Google Shape;20;p2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1"/>
        <p:cNvGrpSpPr/>
        <p:nvPr/>
      </p:nvGrpSpPr>
      <p:grpSpPr>
        <a:xfrm>
          <a:off x="0" y="0"/>
          <a:ext cx="0" cy="0"/>
          <a:chOff x="0" y="0"/>
          <a:chExt cx="0" cy="0"/>
        </a:xfrm>
      </p:grpSpPr>
      <p:sp>
        <p:nvSpPr>
          <p:cNvPr id="22" name="Google Shape;22;p27"/>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23" name="Google Shape;23;p2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4"/>
        <p:cNvGrpSpPr/>
        <p:nvPr/>
      </p:nvGrpSpPr>
      <p:grpSpPr>
        <a:xfrm>
          <a:off x="0" y="0"/>
          <a:ext cx="0" cy="0"/>
          <a:chOff x="0" y="0"/>
          <a:chExt cx="0" cy="0"/>
        </a:xfrm>
      </p:grpSpPr>
      <p:sp>
        <p:nvSpPr>
          <p:cNvPr id="25" name="Google Shape;25;p2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6" name="Google Shape;26;p2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27" name="Google Shape;27;p2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8"/>
        <p:cNvGrpSpPr/>
        <p:nvPr/>
      </p:nvGrpSpPr>
      <p:grpSpPr>
        <a:xfrm>
          <a:off x="0" y="0"/>
          <a:ext cx="0" cy="0"/>
          <a:chOff x="0" y="0"/>
          <a:chExt cx="0" cy="0"/>
        </a:xfrm>
      </p:grpSpPr>
      <p:sp>
        <p:nvSpPr>
          <p:cNvPr id="29" name="Google Shape;29;p29"/>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0" name="Google Shape;30;p29"/>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29"/>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2" name="Google Shape;32;p2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33"/>
        <p:cNvGrpSpPr/>
        <p:nvPr/>
      </p:nvGrpSpPr>
      <p:grpSpPr>
        <a:xfrm>
          <a:off x="0" y="0"/>
          <a:ext cx="0" cy="0"/>
          <a:chOff x="0" y="0"/>
          <a:chExt cx="0" cy="0"/>
        </a:xfrm>
      </p:grpSpPr>
      <p:sp>
        <p:nvSpPr>
          <p:cNvPr id="34" name="Google Shape;34;p3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5" name="Google Shape;35;p3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36"/>
        <p:cNvGrpSpPr/>
        <p:nvPr/>
      </p:nvGrpSpPr>
      <p:grpSpPr>
        <a:xfrm>
          <a:off x="0" y="0"/>
          <a:ext cx="0" cy="0"/>
          <a:chOff x="0" y="0"/>
          <a:chExt cx="0" cy="0"/>
        </a:xfrm>
      </p:grpSpPr>
      <p:sp>
        <p:nvSpPr>
          <p:cNvPr id="37" name="Google Shape;37;p31"/>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8" name="Google Shape;38;p31"/>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9" name="Google Shape;39;p3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40"/>
        <p:cNvGrpSpPr/>
        <p:nvPr/>
      </p:nvGrpSpPr>
      <p:grpSpPr>
        <a:xfrm>
          <a:off x="0" y="0"/>
          <a:ext cx="0" cy="0"/>
          <a:chOff x="0" y="0"/>
          <a:chExt cx="0" cy="0"/>
        </a:xfrm>
      </p:grpSpPr>
      <p:sp>
        <p:nvSpPr>
          <p:cNvPr id="41" name="Google Shape;41;p32"/>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42" name="Google Shape;42;p3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43"/>
        <p:cNvGrpSpPr/>
        <p:nvPr/>
      </p:nvGrpSpPr>
      <p:grpSpPr>
        <a:xfrm>
          <a:off x="0" y="0"/>
          <a:ext cx="0" cy="0"/>
          <a:chOff x="0" y="0"/>
          <a:chExt cx="0" cy="0"/>
        </a:xfrm>
      </p:grpSpPr>
      <p:sp>
        <p:nvSpPr>
          <p:cNvPr id="44" name="Google Shape;44;p33"/>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5" name="Google Shape;45;p33"/>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46" name="Google Shape;46;p33"/>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47" name="Google Shape;47;p33"/>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8" name="Google Shape;48;p3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9"/>
        <p:cNvGrpSpPr/>
        <p:nvPr/>
      </p:nvGrpSpPr>
      <p:grpSpPr>
        <a:xfrm>
          <a:off x="0" y="0"/>
          <a:ext cx="0" cy="0"/>
          <a:chOff x="0" y="0"/>
          <a:chExt cx="0" cy="0"/>
        </a:xfrm>
      </p:grpSpPr>
      <p:sp>
        <p:nvSpPr>
          <p:cNvPr id="50" name="Google Shape;50;p34"/>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51" name="Google Shape;51;p3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52"/>
        <p:cNvGrpSpPr/>
        <p:nvPr/>
      </p:nvGrpSpPr>
      <p:grpSpPr>
        <a:xfrm>
          <a:off x="0" y="0"/>
          <a:ext cx="0" cy="0"/>
          <a:chOff x="0" y="0"/>
          <a:chExt cx="0" cy="0"/>
        </a:xfrm>
      </p:grpSpPr>
      <p:sp>
        <p:nvSpPr>
          <p:cNvPr id="53" name="Google Shape;53;p35"/>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54" name="Google Shape;54;p35"/>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55" name="Google Shape;55;p3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Slide master 1">
  <p:cSld name="Slide master 1">
    <p:spTree>
      <p:nvGrpSpPr>
        <p:cNvPr id="1" name="Shape 6"/>
        <p:cNvGrpSpPr/>
        <p:nvPr/>
      </p:nvGrpSpPr>
      <p:grpSpPr>
        <a:xfrm>
          <a:off x="0" y="0"/>
          <a:ext cx="0" cy="0"/>
          <a:chOff x="0" y="0"/>
          <a:chExt cx="0" cy="0"/>
        </a:xfrm>
      </p:grpSpPr>
    </p:spTree>
    <p:extLst>
      <p:ext uri="{BB962C8B-B14F-4D97-AF65-F5344CB8AC3E}">
        <p14:creationId xmlns:p14="http://schemas.microsoft.com/office/powerpoint/2010/main" val="265386456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10"/>
        <p:cNvGrpSpPr/>
        <p:nvPr/>
      </p:nvGrpSpPr>
      <p:grpSpPr>
        <a:xfrm>
          <a:off x="0" y="0"/>
          <a:ext cx="0" cy="0"/>
          <a:chOff x="0" y="0"/>
          <a:chExt cx="0" cy="0"/>
        </a:xfrm>
      </p:grpSpPr>
    </p:spTree>
    <p:extLst>
      <p:ext uri="{BB962C8B-B14F-4D97-AF65-F5344CB8AC3E}">
        <p14:creationId xmlns:p14="http://schemas.microsoft.com/office/powerpoint/2010/main" val="3566692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0"/>
        <p:cNvGrpSpPr/>
        <p:nvPr/>
      </p:nvGrpSpPr>
      <p:grpSpPr>
        <a:xfrm>
          <a:off x="0" y="0"/>
          <a:ext cx="0" cy="0"/>
          <a:chOff x="0" y="0"/>
          <a:chExt cx="0" cy="0"/>
        </a:xfrm>
      </p:grpSpPr>
      <p:sp>
        <p:nvSpPr>
          <p:cNvPr id="61" name="Google Shape;61;p38"/>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62" name="Google Shape;62;p38"/>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3" name="Google Shape;63;p3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4"/>
        <p:cNvGrpSpPr/>
        <p:nvPr/>
      </p:nvGrpSpPr>
      <p:grpSpPr>
        <a:xfrm>
          <a:off x="0" y="0"/>
          <a:ext cx="0" cy="0"/>
          <a:chOff x="0" y="0"/>
          <a:chExt cx="0" cy="0"/>
        </a:xfrm>
      </p:grpSpPr>
      <p:sp>
        <p:nvSpPr>
          <p:cNvPr id="65" name="Google Shape;65;p39"/>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66" name="Google Shape;66;p3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67"/>
        <p:cNvGrpSpPr/>
        <p:nvPr/>
      </p:nvGrpSpPr>
      <p:grpSpPr>
        <a:xfrm>
          <a:off x="0" y="0"/>
          <a:ext cx="0" cy="0"/>
          <a:chOff x="0" y="0"/>
          <a:chExt cx="0" cy="0"/>
        </a:xfrm>
      </p:grpSpPr>
      <p:sp>
        <p:nvSpPr>
          <p:cNvPr id="68" name="Google Shape;68;p4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69" name="Google Shape;69;p4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70" name="Google Shape;70;p4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1"/>
        <p:cNvGrpSpPr/>
        <p:nvPr/>
      </p:nvGrpSpPr>
      <p:grpSpPr>
        <a:xfrm>
          <a:off x="0" y="0"/>
          <a:ext cx="0" cy="0"/>
          <a:chOff x="0" y="0"/>
          <a:chExt cx="0" cy="0"/>
        </a:xfrm>
      </p:grpSpPr>
      <p:sp>
        <p:nvSpPr>
          <p:cNvPr id="72" name="Google Shape;72;p4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3" name="Google Shape;73;p4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4" name="Google Shape;74;p4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75" name="Google Shape;75;p4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6"/>
        <p:cNvGrpSpPr/>
        <p:nvPr/>
      </p:nvGrpSpPr>
      <p:grpSpPr>
        <a:xfrm>
          <a:off x="0" y="0"/>
          <a:ext cx="0" cy="0"/>
          <a:chOff x="0" y="0"/>
          <a:chExt cx="0" cy="0"/>
        </a:xfrm>
      </p:grpSpPr>
      <p:sp>
        <p:nvSpPr>
          <p:cNvPr id="77" name="Google Shape;77;p4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78" name="Google Shape;78;p4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79"/>
        <p:cNvGrpSpPr/>
        <p:nvPr/>
      </p:nvGrpSpPr>
      <p:grpSpPr>
        <a:xfrm>
          <a:off x="0" y="0"/>
          <a:ext cx="0" cy="0"/>
          <a:chOff x="0" y="0"/>
          <a:chExt cx="0" cy="0"/>
        </a:xfrm>
      </p:grpSpPr>
      <p:sp>
        <p:nvSpPr>
          <p:cNvPr id="80" name="Google Shape;80;p4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81" name="Google Shape;81;p4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82" name="Google Shape;82;p4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3"/>
        <p:cNvGrpSpPr/>
        <p:nvPr/>
      </p:nvGrpSpPr>
      <p:grpSpPr>
        <a:xfrm>
          <a:off x="0" y="0"/>
          <a:ext cx="0" cy="0"/>
          <a:chOff x="0" y="0"/>
          <a:chExt cx="0" cy="0"/>
        </a:xfrm>
      </p:grpSpPr>
      <p:sp>
        <p:nvSpPr>
          <p:cNvPr id="84" name="Google Shape;84;p4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5" name="Google Shape;85;p4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6"/>
        <p:cNvGrpSpPr/>
        <p:nvPr/>
      </p:nvGrpSpPr>
      <p:grpSpPr>
        <a:xfrm>
          <a:off x="0" y="0"/>
          <a:ext cx="0" cy="0"/>
          <a:chOff x="0" y="0"/>
          <a:chExt cx="0" cy="0"/>
        </a:xfrm>
      </p:grpSpPr>
      <p:sp>
        <p:nvSpPr>
          <p:cNvPr id="87" name="Google Shape;87;p4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8" name="Google Shape;88;p4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9" name="Google Shape;89;p4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90" name="Google Shape;90;p4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91" name="Google Shape;91;p4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92"/>
        <p:cNvGrpSpPr/>
        <p:nvPr/>
      </p:nvGrpSpPr>
      <p:grpSpPr>
        <a:xfrm>
          <a:off x="0" y="0"/>
          <a:ext cx="0" cy="0"/>
          <a:chOff x="0" y="0"/>
          <a:chExt cx="0" cy="0"/>
        </a:xfrm>
      </p:grpSpPr>
      <p:sp>
        <p:nvSpPr>
          <p:cNvPr id="93" name="Google Shape;93;p4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94" name="Google Shape;94;p4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95"/>
        <p:cNvGrpSpPr/>
        <p:nvPr/>
      </p:nvGrpSpPr>
      <p:grpSpPr>
        <a:xfrm>
          <a:off x="0" y="0"/>
          <a:ext cx="0" cy="0"/>
          <a:chOff x="0" y="0"/>
          <a:chExt cx="0" cy="0"/>
        </a:xfrm>
      </p:grpSpPr>
      <p:sp>
        <p:nvSpPr>
          <p:cNvPr id="96" name="Google Shape;96;p4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7" name="Google Shape;97;p4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98" name="Google Shape;98;p4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9"/>
        <p:cNvGrpSpPr/>
        <p:nvPr/>
      </p:nvGrpSpPr>
      <p:grpSpPr>
        <a:xfrm>
          <a:off x="0" y="0"/>
          <a:ext cx="0" cy="0"/>
          <a:chOff x="0" y="0"/>
          <a:chExt cx="0" cy="0"/>
        </a:xfrm>
      </p:grpSpPr>
      <p:sp>
        <p:nvSpPr>
          <p:cNvPr id="100" name="Google Shape;100;p4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theme" Target="../theme/theme2.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1"/>
        <p:cNvGrpSpPr/>
        <p:nvPr/>
      </p:nvGrpSpPr>
      <p:grpSpPr>
        <a:xfrm>
          <a:off x="0" y="0"/>
          <a:ext cx="0" cy="0"/>
          <a:chOff x="0" y="0"/>
          <a:chExt cx="0" cy="0"/>
        </a:xfrm>
      </p:grpSpPr>
      <p:sp>
        <p:nvSpPr>
          <p:cNvPr id="12" name="Google Shape;12;p2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13" name="Google Shape;13;p2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14" name="Google Shape;14;p2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52" r:id="rId1"/>
    <p:sldLayoutId id="2147483653"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75" r:id="rId12"/>
    <p:sldLayoutId id="2147483676" r:id="rId1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6"/>
        <p:cNvGrpSpPr/>
        <p:nvPr/>
      </p:nvGrpSpPr>
      <p:grpSpPr>
        <a:xfrm>
          <a:off x="0" y="0"/>
          <a:ext cx="0" cy="0"/>
          <a:chOff x="0" y="0"/>
          <a:chExt cx="0" cy="0"/>
        </a:xfrm>
      </p:grpSpPr>
      <p:sp>
        <p:nvSpPr>
          <p:cNvPr id="57" name="Google Shape;57;p37"/>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58" name="Google Shape;58;p37"/>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59" name="Google Shape;59;p3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64" r:id="rId1"/>
    <p:sldLayoutId id="2147483665" r:id="rId2"/>
    <p:sldLayoutId id="2147483666" r:id="rId3"/>
    <p:sldLayoutId id="2147483667" r:id="rId4"/>
    <p:sldLayoutId id="2147483668" r:id="rId5"/>
    <p:sldLayoutId id="2147483669" r:id="rId6"/>
    <p:sldLayoutId id="2147483670" r:id="rId7"/>
    <p:sldLayoutId id="2147483671" r:id="rId8"/>
    <p:sldLayoutId id="2147483672" r:id="rId9"/>
    <p:sldLayoutId id="2147483673" r:id="rId10"/>
    <p:sldLayoutId id="2147483674"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2.xml"/><Relationship Id="rId5" Type="http://schemas.openxmlformats.org/officeDocument/2006/relationships/image" Target="../media/image2.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21.xml"/><Relationship Id="rId1" Type="http://schemas.openxmlformats.org/officeDocument/2006/relationships/slideLayout" Target="../slideLayouts/slideLayout12.xml"/><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22.xml"/><Relationship Id="rId1" Type="http://schemas.openxmlformats.org/officeDocument/2006/relationships/slideLayout" Target="../slideLayouts/slideLayout13.xml"/><Relationship Id="rId5" Type="http://schemas.openxmlformats.org/officeDocument/2006/relationships/image" Target="../media/image17.png"/><Relationship Id="rId4" Type="http://schemas.openxmlformats.org/officeDocument/2006/relationships/image" Target="../media/image16.jpg"/></Relationships>
</file>

<file path=ppt/slides/_rels/slide23.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5"/>
        <p:cNvGrpSpPr/>
        <p:nvPr/>
      </p:nvGrpSpPr>
      <p:grpSpPr>
        <a:xfrm>
          <a:off x="0" y="0"/>
          <a:ext cx="0" cy="0"/>
          <a:chOff x="0" y="0"/>
          <a:chExt cx="0" cy="0"/>
        </a:xfrm>
      </p:grpSpPr>
      <p:pic>
        <p:nvPicPr>
          <p:cNvPr id="106" name="Google Shape;106;p1" descr="preencoded.png"/>
          <p:cNvPicPr preferRelativeResize="0"/>
          <p:nvPr/>
        </p:nvPicPr>
        <p:blipFill rotWithShape="1">
          <a:blip r:embed="rId3">
            <a:alphaModFix/>
          </a:blip>
          <a:srcRect/>
          <a:stretch/>
        </p:blipFill>
        <p:spPr>
          <a:xfrm>
            <a:off x="0" y="0"/>
            <a:ext cx="3429000" cy="5143500"/>
          </a:xfrm>
          <a:prstGeom prst="rect">
            <a:avLst/>
          </a:prstGeom>
          <a:noFill/>
          <a:ln>
            <a:noFill/>
          </a:ln>
        </p:spPr>
      </p:pic>
      <p:sp>
        <p:nvSpPr>
          <p:cNvPr id="107" name="Google Shape;107;p1"/>
          <p:cNvSpPr/>
          <p:nvPr/>
        </p:nvSpPr>
        <p:spPr>
          <a:xfrm>
            <a:off x="3969023" y="1110779"/>
            <a:ext cx="998860" cy="290066"/>
          </a:xfrm>
          <a:prstGeom prst="roundRect">
            <a:avLst>
              <a:gd name="adj" fmla="val 63836"/>
            </a:avLst>
          </a:prstGeom>
          <a:solidFill>
            <a:srgbClr val="E6E6E6"/>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08" name="Google Shape;108;p1"/>
          <p:cNvSpPr/>
          <p:nvPr/>
        </p:nvSpPr>
        <p:spPr>
          <a:xfrm>
            <a:off x="4061594" y="1157064"/>
            <a:ext cx="1270918" cy="197495"/>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00000"/>
              </a:buClr>
              <a:buSzPts val="950"/>
              <a:buFont typeface="Raleway Medium"/>
              <a:buNone/>
            </a:pPr>
            <a:r>
              <a:rPr lang="en" sz="950" b="0" i="0" u="none" strike="noStrike" cap="none">
                <a:solidFill>
                  <a:srgbClr val="000000"/>
                </a:solidFill>
                <a:latin typeface="Raleway Medium"/>
                <a:ea typeface="Raleway Medium"/>
                <a:cs typeface="Raleway Medium"/>
                <a:sym typeface="Raleway Medium"/>
              </a:rPr>
              <a:t>INDUSTRY 4.0</a:t>
            </a:r>
            <a:endParaRPr sz="950" b="0" i="0" u="none" strike="noStrike" cap="none">
              <a:solidFill>
                <a:schemeClr val="dk1"/>
              </a:solidFill>
              <a:latin typeface="Calibri"/>
              <a:ea typeface="Calibri"/>
              <a:cs typeface="Calibri"/>
              <a:sym typeface="Calibri"/>
            </a:endParaRPr>
          </a:p>
        </p:txBody>
      </p:sp>
      <p:sp>
        <p:nvSpPr>
          <p:cNvPr id="109" name="Google Shape;109;p1"/>
          <p:cNvSpPr/>
          <p:nvPr/>
        </p:nvSpPr>
        <p:spPr>
          <a:xfrm>
            <a:off x="3969023" y="1462534"/>
            <a:ext cx="4634954" cy="85725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2700"/>
              <a:buFont typeface="Comfortaa"/>
              <a:buNone/>
            </a:pPr>
            <a:r>
              <a:rPr lang="en" sz="2700" b="1" i="0" u="none" strike="noStrike" cap="none">
                <a:solidFill>
                  <a:srgbClr val="1B2DBA"/>
                </a:solidFill>
                <a:latin typeface="Comfortaa"/>
                <a:ea typeface="Comfortaa"/>
                <a:cs typeface="Comfortaa"/>
                <a:sym typeface="Comfortaa"/>
              </a:rPr>
              <a:t>Why Wireless Matters in Industry 4.0</a:t>
            </a:r>
            <a:endParaRPr sz="2700" b="0" i="0" u="none" strike="noStrike" cap="none">
              <a:solidFill>
                <a:schemeClr val="dk1"/>
              </a:solidFill>
              <a:latin typeface="Calibri"/>
              <a:ea typeface="Calibri"/>
              <a:cs typeface="Calibri"/>
              <a:sym typeface="Calibri"/>
            </a:endParaRPr>
          </a:p>
        </p:txBody>
      </p:sp>
      <p:sp>
        <p:nvSpPr>
          <p:cNvPr id="110" name="Google Shape;110;p1"/>
          <p:cNvSpPr/>
          <p:nvPr/>
        </p:nvSpPr>
        <p:spPr>
          <a:xfrm>
            <a:off x="3969023" y="2551212"/>
            <a:ext cx="4634954" cy="1481435"/>
          </a:xfrm>
          <a:prstGeom prst="rect">
            <a:avLst/>
          </a:prstGeom>
          <a:noFill/>
          <a:ln>
            <a:noFill/>
          </a:ln>
        </p:spPr>
        <p:txBody>
          <a:bodyPr spcFirstLastPara="1" wrap="square" lIns="0" tIns="0" rIns="0" bIns="0" anchor="t" anchorCtr="0">
            <a:noAutofit/>
          </a:bodyPr>
          <a:lstStyle/>
          <a:p>
            <a:pPr marL="0" marR="0" lvl="0" indent="0" algn="l" rtl="0">
              <a:lnSpc>
                <a:spcPct val="133000"/>
              </a:lnSpc>
              <a:spcBef>
                <a:spcPts val="0"/>
              </a:spcBef>
              <a:spcAft>
                <a:spcPts val="0"/>
              </a:spcAft>
              <a:buClr>
                <a:srgbClr val="000000"/>
              </a:buClr>
              <a:buSzPts val="1200"/>
              <a:buFont typeface="Raleway Medium"/>
              <a:buNone/>
            </a:pPr>
            <a:r>
              <a:rPr lang="en" sz="1200" b="0" i="0" u="none" strike="noStrike" cap="none">
                <a:solidFill>
                  <a:srgbClr val="000000"/>
                </a:solidFill>
                <a:latin typeface="Raleway Medium"/>
                <a:ea typeface="Raleway Medium"/>
                <a:cs typeface="Raleway Medium"/>
                <a:sym typeface="Raleway Medium"/>
              </a:rPr>
              <a:t>Industry 4.0 demands flexible, mobile, and scalable communication. Wired systems like PROFINET offer stable timing but are expensive to install and hard to reconfigure. Wireless enables AGVs, mobile sensors, and remote monitoring — but the real question is: </a:t>
            </a:r>
            <a:r>
              <a:rPr lang="en" sz="1200" b="1" i="0" u="none" strike="noStrike" cap="none">
                <a:solidFill>
                  <a:srgbClr val="000000"/>
                </a:solidFill>
                <a:latin typeface="Raleway Medium"/>
                <a:ea typeface="Raleway Medium"/>
                <a:cs typeface="Raleway Medium"/>
                <a:sym typeface="Raleway Medium"/>
              </a:rPr>
              <a:t>which wireless standard fits which industrial task?</a:t>
            </a:r>
            <a:endParaRPr sz="1200" b="0" i="0" u="none" strike="noStrike" cap="none">
              <a:solidFill>
                <a:schemeClr val="dk1"/>
              </a:solidFill>
              <a:latin typeface="Calibri"/>
              <a:ea typeface="Calibri"/>
              <a:cs typeface="Calibri"/>
              <a:sym typeface="Calibri"/>
            </a:endParaRPr>
          </a:p>
        </p:txBody>
      </p:sp>
      <p:pic>
        <p:nvPicPr>
          <p:cNvPr id="111" name="Google Shape;111;p1"/>
          <p:cNvPicPr preferRelativeResize="0"/>
          <p:nvPr/>
        </p:nvPicPr>
        <p:blipFill rotWithShape="1">
          <a:blip r:embed="rId4">
            <a:alphaModFix/>
          </a:blip>
          <a:srcRect/>
          <a:stretch/>
        </p:blipFill>
        <p:spPr>
          <a:xfrm>
            <a:off x="6966825" y="4337447"/>
            <a:ext cx="2177174" cy="806053"/>
          </a:xfrm>
          <a:prstGeom prst="rect">
            <a:avLst/>
          </a:prstGeom>
          <a:noFill/>
          <a:ln>
            <a:noFill/>
          </a:ln>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2"/>
          <p:cNvSpPr/>
          <p:nvPr/>
        </p:nvSpPr>
        <p:spPr>
          <a:xfrm>
            <a:off x="1318766" y="460325"/>
            <a:ext cx="4901729" cy="2946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1850"/>
              <a:buFont typeface="Comfortaa"/>
              <a:buNone/>
            </a:pPr>
            <a:r>
              <a:rPr lang="en" sz="1850" b="1" i="0" u="none" strike="noStrike" cap="none">
                <a:solidFill>
                  <a:srgbClr val="1B2DBA"/>
                </a:solidFill>
                <a:latin typeface="Comfortaa"/>
                <a:ea typeface="Comfortaa"/>
                <a:cs typeface="Comfortaa"/>
                <a:sym typeface="Comfortaa"/>
              </a:rPr>
              <a:t>The Industrial Wireless Environment</a:t>
            </a:r>
            <a:endParaRPr sz="1850" b="0" i="0" u="none" strike="noStrike" cap="none">
              <a:solidFill>
                <a:schemeClr val="dk1"/>
              </a:solidFill>
              <a:latin typeface="Calibri"/>
              <a:ea typeface="Calibri"/>
              <a:cs typeface="Calibri"/>
              <a:sym typeface="Calibri"/>
            </a:endParaRPr>
          </a:p>
        </p:txBody>
      </p:sp>
      <p:pic>
        <p:nvPicPr>
          <p:cNvPr id="118" name="Google Shape;118;p2" descr="preencoded.png"/>
          <p:cNvPicPr preferRelativeResize="0"/>
          <p:nvPr/>
        </p:nvPicPr>
        <p:blipFill rotWithShape="1">
          <a:blip r:embed="rId3">
            <a:alphaModFix/>
          </a:blip>
          <a:srcRect/>
          <a:stretch/>
        </p:blipFill>
        <p:spPr>
          <a:xfrm>
            <a:off x="1318766" y="946398"/>
            <a:ext cx="4138612" cy="2345159"/>
          </a:xfrm>
          <a:prstGeom prst="rect">
            <a:avLst/>
          </a:prstGeom>
          <a:noFill/>
          <a:ln>
            <a:noFill/>
          </a:ln>
        </p:spPr>
      </p:pic>
      <p:sp>
        <p:nvSpPr>
          <p:cNvPr id="119" name="Google Shape;119;p2"/>
          <p:cNvSpPr/>
          <p:nvPr/>
        </p:nvSpPr>
        <p:spPr>
          <a:xfrm>
            <a:off x="5720953" y="1580704"/>
            <a:ext cx="2108969" cy="29468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900"/>
              <a:buFont typeface="Comfortaa"/>
              <a:buNone/>
            </a:pPr>
            <a:r>
              <a:rPr lang="en" sz="900" b="1" i="0" u="none" strike="noStrike" cap="none">
                <a:solidFill>
                  <a:srgbClr val="1B2DBA"/>
                </a:solidFill>
                <a:latin typeface="Comfortaa"/>
                <a:ea typeface="Comfortaa"/>
                <a:cs typeface="Comfortaa"/>
                <a:sym typeface="Comfortaa"/>
              </a:rPr>
              <a:t>Why Factories Are Hard on Wireless</a:t>
            </a:r>
            <a:endParaRPr sz="900" b="0" i="0" u="none" strike="noStrike" cap="none">
              <a:solidFill>
                <a:schemeClr val="dk1"/>
              </a:solidFill>
              <a:latin typeface="Calibri"/>
              <a:ea typeface="Calibri"/>
              <a:cs typeface="Calibri"/>
              <a:sym typeface="Calibri"/>
            </a:endParaRPr>
          </a:p>
        </p:txBody>
      </p:sp>
      <p:sp>
        <p:nvSpPr>
          <p:cNvPr id="120" name="Google Shape;120;p2"/>
          <p:cNvSpPr/>
          <p:nvPr/>
        </p:nvSpPr>
        <p:spPr>
          <a:xfrm>
            <a:off x="5720953" y="1948309"/>
            <a:ext cx="2108969" cy="716235"/>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Metal structures, motors, and moving machines create EMI, multipath fading, and unstable signal quality. Shared 2.4 GHz spectrum adds congestion; cybersecurity is critical.</a:t>
            </a:r>
            <a:endParaRPr sz="800" b="0" i="0" u="none" strike="noStrike" cap="none">
              <a:solidFill>
                <a:schemeClr val="dk1"/>
              </a:solidFill>
              <a:latin typeface="Calibri"/>
              <a:ea typeface="Calibri"/>
              <a:cs typeface="Calibri"/>
              <a:sym typeface="Calibri"/>
            </a:endParaRPr>
          </a:p>
        </p:txBody>
      </p:sp>
      <p:sp>
        <p:nvSpPr>
          <p:cNvPr id="121" name="Google Shape;121;p2"/>
          <p:cNvSpPr/>
          <p:nvPr/>
        </p:nvSpPr>
        <p:spPr>
          <a:xfrm>
            <a:off x="1318766" y="3482950"/>
            <a:ext cx="2621831" cy="14734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900"/>
              <a:buFont typeface="Comfortaa"/>
              <a:buNone/>
            </a:pPr>
            <a:r>
              <a:rPr lang="en" sz="900" b="1" i="0" u="none" strike="noStrike" cap="none">
                <a:solidFill>
                  <a:srgbClr val="1B2DBA"/>
                </a:solidFill>
                <a:latin typeface="Comfortaa"/>
                <a:ea typeface="Comfortaa"/>
                <a:cs typeface="Comfortaa"/>
                <a:sym typeface="Comfortaa"/>
              </a:rPr>
              <a:t>Three Standards Under Evaluation</a:t>
            </a:r>
            <a:endParaRPr sz="900" b="0" i="0" u="none" strike="noStrike" cap="none">
              <a:solidFill>
                <a:schemeClr val="dk1"/>
              </a:solidFill>
              <a:latin typeface="Calibri"/>
              <a:ea typeface="Calibri"/>
              <a:cs typeface="Calibri"/>
              <a:sym typeface="Calibri"/>
            </a:endParaRPr>
          </a:p>
        </p:txBody>
      </p:sp>
      <p:pic>
        <p:nvPicPr>
          <p:cNvPr id="122" name="Google Shape;122;p2" descr="preencoded.png"/>
          <p:cNvPicPr preferRelativeResize="0"/>
          <p:nvPr/>
        </p:nvPicPr>
        <p:blipFill rotWithShape="1">
          <a:blip r:embed="rId4">
            <a:alphaModFix/>
          </a:blip>
          <a:srcRect/>
          <a:stretch/>
        </p:blipFill>
        <p:spPr>
          <a:xfrm>
            <a:off x="1304479" y="3739679"/>
            <a:ext cx="2134493" cy="718245"/>
          </a:xfrm>
          <a:prstGeom prst="rect">
            <a:avLst/>
          </a:prstGeom>
          <a:noFill/>
          <a:ln>
            <a:noFill/>
          </a:ln>
        </p:spPr>
      </p:pic>
      <p:sp>
        <p:nvSpPr>
          <p:cNvPr id="123" name="Google Shape;123;p2"/>
          <p:cNvSpPr/>
          <p:nvPr/>
        </p:nvSpPr>
        <p:spPr>
          <a:xfrm>
            <a:off x="1481956" y="3860006"/>
            <a:ext cx="1178719" cy="14734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00"/>
              <a:buFont typeface="Comfortaa"/>
              <a:buNone/>
            </a:pPr>
            <a:r>
              <a:rPr lang="en" sz="900" b="1" i="0" u="none" strike="noStrike" cap="none">
                <a:solidFill>
                  <a:srgbClr val="000000"/>
                </a:solidFill>
                <a:latin typeface="Comfortaa"/>
                <a:ea typeface="Comfortaa"/>
                <a:cs typeface="Comfortaa"/>
                <a:sym typeface="Comfortaa"/>
              </a:rPr>
              <a:t>Wi-Fi / IEEE 802.11</a:t>
            </a:r>
            <a:endParaRPr sz="900" b="0" i="0" u="none" strike="noStrike" cap="none">
              <a:solidFill>
                <a:schemeClr val="dk1"/>
              </a:solidFill>
              <a:latin typeface="Calibri"/>
              <a:ea typeface="Calibri"/>
              <a:cs typeface="Calibri"/>
              <a:sym typeface="Calibri"/>
            </a:endParaRPr>
          </a:p>
        </p:txBody>
      </p:sp>
      <p:sp>
        <p:nvSpPr>
          <p:cNvPr id="124" name="Google Shape;124;p2"/>
          <p:cNvSpPr/>
          <p:nvPr/>
        </p:nvSpPr>
        <p:spPr>
          <a:xfrm>
            <a:off x="1481956" y="4051102"/>
            <a:ext cx="1836688" cy="286494"/>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High-bandwidth mobile communication</a:t>
            </a:r>
            <a:endParaRPr sz="800" b="0" i="0" u="none" strike="noStrike" cap="none">
              <a:solidFill>
                <a:schemeClr val="dk1"/>
              </a:solidFill>
              <a:latin typeface="Calibri"/>
              <a:ea typeface="Calibri"/>
              <a:cs typeface="Calibri"/>
              <a:sym typeface="Calibri"/>
            </a:endParaRPr>
          </a:p>
        </p:txBody>
      </p:sp>
      <p:pic>
        <p:nvPicPr>
          <p:cNvPr id="125" name="Google Shape;125;p2" descr="preencoded.png"/>
          <p:cNvPicPr preferRelativeResize="0"/>
          <p:nvPr/>
        </p:nvPicPr>
        <p:blipFill rotWithShape="1">
          <a:blip r:embed="rId4">
            <a:alphaModFix/>
          </a:blip>
          <a:srcRect/>
          <a:stretch/>
        </p:blipFill>
        <p:spPr>
          <a:xfrm>
            <a:off x="3497610" y="3739679"/>
            <a:ext cx="2134493" cy="718245"/>
          </a:xfrm>
          <a:prstGeom prst="rect">
            <a:avLst/>
          </a:prstGeom>
          <a:noFill/>
          <a:ln>
            <a:noFill/>
          </a:ln>
        </p:spPr>
      </p:pic>
      <p:sp>
        <p:nvSpPr>
          <p:cNvPr id="126" name="Google Shape;126;p2"/>
          <p:cNvSpPr/>
          <p:nvPr/>
        </p:nvSpPr>
        <p:spPr>
          <a:xfrm>
            <a:off x="3675087" y="3860006"/>
            <a:ext cx="1331268" cy="14734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00"/>
              <a:buFont typeface="Comfortaa"/>
              <a:buNone/>
            </a:pPr>
            <a:r>
              <a:rPr lang="en" sz="900" b="1" i="0" u="none" strike="noStrike" cap="none">
                <a:solidFill>
                  <a:srgbClr val="000000"/>
                </a:solidFill>
                <a:latin typeface="Comfortaa"/>
                <a:ea typeface="Comfortaa"/>
                <a:cs typeface="Comfortaa"/>
                <a:sym typeface="Comfortaa"/>
              </a:rPr>
              <a:t>Zigbee / IEEE 802.15.4</a:t>
            </a:r>
            <a:endParaRPr sz="900" b="0" i="0" u="none" strike="noStrike" cap="none">
              <a:solidFill>
                <a:schemeClr val="dk1"/>
              </a:solidFill>
              <a:latin typeface="Calibri"/>
              <a:ea typeface="Calibri"/>
              <a:cs typeface="Calibri"/>
              <a:sym typeface="Calibri"/>
            </a:endParaRPr>
          </a:p>
        </p:txBody>
      </p:sp>
      <p:sp>
        <p:nvSpPr>
          <p:cNvPr id="127" name="Google Shape;127;p2"/>
          <p:cNvSpPr/>
          <p:nvPr/>
        </p:nvSpPr>
        <p:spPr>
          <a:xfrm>
            <a:off x="3675087" y="4051102"/>
            <a:ext cx="1836688" cy="143247"/>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Low-power sensor networks</a:t>
            </a:r>
            <a:endParaRPr sz="800" b="0" i="0" u="none" strike="noStrike" cap="none">
              <a:solidFill>
                <a:schemeClr val="dk1"/>
              </a:solidFill>
              <a:latin typeface="Calibri"/>
              <a:ea typeface="Calibri"/>
              <a:cs typeface="Calibri"/>
              <a:sym typeface="Calibri"/>
            </a:endParaRPr>
          </a:p>
        </p:txBody>
      </p:sp>
      <p:pic>
        <p:nvPicPr>
          <p:cNvPr id="128" name="Google Shape;128;p2" descr="preencoded.png"/>
          <p:cNvPicPr preferRelativeResize="0"/>
          <p:nvPr/>
        </p:nvPicPr>
        <p:blipFill rotWithShape="1">
          <a:blip r:embed="rId4">
            <a:alphaModFix/>
          </a:blip>
          <a:srcRect/>
          <a:stretch/>
        </p:blipFill>
        <p:spPr>
          <a:xfrm>
            <a:off x="5690741" y="3739679"/>
            <a:ext cx="2134493" cy="718245"/>
          </a:xfrm>
          <a:prstGeom prst="rect">
            <a:avLst/>
          </a:prstGeom>
          <a:noFill/>
          <a:ln>
            <a:noFill/>
          </a:ln>
        </p:spPr>
      </p:pic>
      <p:sp>
        <p:nvSpPr>
          <p:cNvPr id="129" name="Google Shape;129;p2"/>
          <p:cNvSpPr/>
          <p:nvPr/>
        </p:nvSpPr>
        <p:spPr>
          <a:xfrm>
            <a:off x="5868219" y="3860006"/>
            <a:ext cx="1178719" cy="147340"/>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000000"/>
              </a:buClr>
              <a:buSzPts val="900"/>
              <a:buFont typeface="Comfortaa"/>
              <a:buNone/>
            </a:pPr>
            <a:r>
              <a:rPr lang="en" sz="900" b="1" i="0" u="none" strike="noStrike" cap="none">
                <a:solidFill>
                  <a:srgbClr val="000000"/>
                </a:solidFill>
                <a:latin typeface="Comfortaa"/>
                <a:ea typeface="Comfortaa"/>
                <a:cs typeface="Comfortaa"/>
                <a:sym typeface="Comfortaa"/>
              </a:rPr>
              <a:t>5G New Radio</a:t>
            </a:r>
            <a:endParaRPr sz="900" b="0" i="0" u="none" strike="noStrike" cap="none">
              <a:solidFill>
                <a:schemeClr val="dk1"/>
              </a:solidFill>
              <a:latin typeface="Calibri"/>
              <a:ea typeface="Calibri"/>
              <a:cs typeface="Calibri"/>
              <a:sym typeface="Calibri"/>
            </a:endParaRPr>
          </a:p>
        </p:txBody>
      </p:sp>
      <p:sp>
        <p:nvSpPr>
          <p:cNvPr id="130" name="Google Shape;130;p2"/>
          <p:cNvSpPr/>
          <p:nvPr/>
        </p:nvSpPr>
        <p:spPr>
          <a:xfrm>
            <a:off x="5868219" y="4051102"/>
            <a:ext cx="1836688" cy="143247"/>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Real-time control &amp; private networks</a:t>
            </a:r>
            <a:endParaRPr sz="800" b="0" i="0" u="none" strike="noStrike" cap="none">
              <a:solidFill>
                <a:schemeClr val="dk1"/>
              </a:solidFill>
              <a:latin typeface="Calibri"/>
              <a:ea typeface="Calibri"/>
              <a:cs typeface="Calibri"/>
              <a:sym typeface="Calibri"/>
            </a:endParaRPr>
          </a:p>
        </p:txBody>
      </p:sp>
      <p:sp>
        <p:nvSpPr>
          <p:cNvPr id="131" name="Google Shape;131;p2"/>
          <p:cNvSpPr/>
          <p:nvPr/>
        </p:nvSpPr>
        <p:spPr>
          <a:xfrm>
            <a:off x="1318766" y="4539928"/>
            <a:ext cx="6963668" cy="143247"/>
          </a:xfrm>
          <a:prstGeom prst="rect">
            <a:avLst/>
          </a:prstGeom>
          <a:noFill/>
          <a:ln>
            <a:noFill/>
          </a:ln>
        </p:spPr>
        <p:txBody>
          <a:bodyPr spcFirstLastPara="1" wrap="square" lIns="0" tIns="0" rIns="0" bIns="0" anchor="t" anchorCtr="0">
            <a:noAutofit/>
          </a:bodyPr>
          <a:lstStyle/>
          <a:p>
            <a:pPr marL="0" marR="0" lvl="0" indent="0" algn="l" rtl="0">
              <a:lnSpc>
                <a:spcPct val="113000"/>
              </a:lnSpc>
              <a:spcBef>
                <a:spcPts val="0"/>
              </a:spcBef>
              <a:spcAft>
                <a:spcPts val="0"/>
              </a:spcAft>
              <a:buClr>
                <a:srgbClr val="000000"/>
              </a:buClr>
              <a:buSzPts val="800"/>
              <a:buFont typeface="Raleway Medium"/>
              <a:buNone/>
            </a:pPr>
            <a:r>
              <a:rPr lang="en" sz="800" b="0" i="0" u="none" strike="noStrike" cap="none">
                <a:solidFill>
                  <a:srgbClr val="000000"/>
                </a:solidFill>
                <a:latin typeface="Raleway Medium"/>
                <a:ea typeface="Raleway Medium"/>
                <a:cs typeface="Raleway Medium"/>
                <a:sym typeface="Raleway Medium"/>
              </a:rPr>
              <a:t>Evaluated on latency, throughput, reliability, energy use, and deployment complexity.</a:t>
            </a:r>
            <a:endParaRPr sz="800" b="0" i="0" u="none" strike="noStrike" cap="none">
              <a:solidFill>
                <a:schemeClr val="dk1"/>
              </a:solidFill>
              <a:latin typeface="Calibri"/>
              <a:ea typeface="Calibri"/>
              <a:cs typeface="Calibri"/>
              <a:sym typeface="Calibri"/>
            </a:endParaRPr>
          </a:p>
        </p:txBody>
      </p:sp>
      <p:pic>
        <p:nvPicPr>
          <p:cNvPr id="132" name="Google Shape;132;p2"/>
          <p:cNvPicPr preferRelativeResize="0"/>
          <p:nvPr/>
        </p:nvPicPr>
        <p:blipFill rotWithShape="1">
          <a:blip r:embed="rId5">
            <a:alphaModFix/>
          </a:blip>
          <a:srcRect/>
          <a:stretch/>
        </p:blipFill>
        <p:spPr>
          <a:xfrm>
            <a:off x="6966825" y="4857000"/>
            <a:ext cx="2177175" cy="286500"/>
          </a:xfrm>
          <a:prstGeom prst="rect">
            <a:avLst/>
          </a:prstGeom>
          <a:noFill/>
          <a:ln>
            <a:noFill/>
          </a:ln>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36"/>
        <p:cNvGrpSpPr/>
        <p:nvPr/>
      </p:nvGrpSpPr>
      <p:grpSpPr>
        <a:xfrm>
          <a:off x="0" y="0"/>
          <a:ext cx="0" cy="0"/>
          <a:chOff x="0" y="0"/>
          <a:chExt cx="0" cy="0"/>
        </a:xfrm>
      </p:grpSpPr>
      <p:sp>
        <p:nvSpPr>
          <p:cNvPr id="137" name="Google Shape;137;p3"/>
          <p:cNvSpPr/>
          <p:nvPr/>
        </p:nvSpPr>
        <p:spPr>
          <a:xfrm>
            <a:off x="0" y="1954530"/>
            <a:ext cx="9144000" cy="12345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38" name="Google Shape;138;p3"/>
          <p:cNvSpPr txBox="1"/>
          <p:nvPr/>
        </p:nvSpPr>
        <p:spPr>
          <a:xfrm>
            <a:off x="457200" y="2005965"/>
            <a:ext cx="82296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800"/>
              <a:buFont typeface="Arial"/>
              <a:buNone/>
            </a:pPr>
            <a:r>
              <a:rPr lang="en" sz="2800" b="1" i="0" u="none" strike="noStrike" cap="none">
                <a:solidFill>
                  <a:srgbClr val="FFFFFF"/>
                </a:solidFill>
                <a:latin typeface="Arial"/>
                <a:ea typeface="Arial"/>
                <a:cs typeface="Arial"/>
                <a:sym typeface="Arial"/>
              </a:rPr>
              <a:t>Literature Review </a:t>
            </a:r>
            <a:endParaRPr sz="2800" b="1" i="0" u="none" strike="noStrike" cap="none">
              <a:solidFill>
                <a:srgbClr val="FFFFFF"/>
              </a:solidFill>
              <a:latin typeface="Arial"/>
              <a:ea typeface="Arial"/>
              <a:cs typeface="Arial"/>
              <a:sym typeface="Arial"/>
            </a:endParaRPr>
          </a:p>
        </p:txBody>
      </p:sp>
      <p:sp>
        <p:nvSpPr>
          <p:cNvPr id="139" name="Google Shape;139;p3"/>
          <p:cNvSpPr txBox="1"/>
          <p:nvPr/>
        </p:nvSpPr>
        <p:spPr>
          <a:xfrm>
            <a:off x="457200" y="2674620"/>
            <a:ext cx="8229600" cy="411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FFFFFF"/>
                </a:solidFill>
                <a:latin typeface="Arial"/>
                <a:ea typeface="Arial"/>
                <a:cs typeface="Arial"/>
                <a:sym typeface="Arial"/>
              </a:rPr>
              <a:t>Industrial Wireless Communication for Industry 4.0</a:t>
            </a:r>
            <a:endParaRPr sz="1500" b="0" i="0" u="none" strike="noStrike" cap="none">
              <a:solidFill>
                <a:srgbClr val="FFFFFF"/>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43"/>
        <p:cNvGrpSpPr/>
        <p:nvPr/>
      </p:nvGrpSpPr>
      <p:grpSpPr>
        <a:xfrm>
          <a:off x="0" y="0"/>
          <a:ext cx="0" cy="0"/>
          <a:chOff x="0" y="0"/>
          <a:chExt cx="0" cy="0"/>
        </a:xfrm>
      </p:grpSpPr>
      <p:sp>
        <p:nvSpPr>
          <p:cNvPr id="144" name="Google Shape;144;p4"/>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1A56A0"/>
                </a:solidFill>
                <a:latin typeface="Arial"/>
                <a:ea typeface="Arial"/>
                <a:cs typeface="Arial"/>
                <a:sym typeface="Arial"/>
              </a:rPr>
              <a:t>2.1  Early Wireless Sensor Networks (WSN)</a:t>
            </a:r>
            <a:endParaRPr sz="2200" b="1" i="0" u="none" strike="noStrike" cap="none">
              <a:solidFill>
                <a:srgbClr val="1A56A0"/>
              </a:solidFill>
              <a:latin typeface="Arial"/>
              <a:ea typeface="Arial"/>
              <a:cs typeface="Arial"/>
              <a:sym typeface="Arial"/>
            </a:endParaRPr>
          </a:p>
        </p:txBody>
      </p:sp>
      <p:sp>
        <p:nvSpPr>
          <p:cNvPr id="145" name="Google Shape;145;p4"/>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6" name="Google Shape;146;p4"/>
          <p:cNvSpPr/>
          <p:nvPr/>
        </p:nvSpPr>
        <p:spPr>
          <a:xfrm>
            <a:off x="365760" y="1080135"/>
            <a:ext cx="2011800" cy="72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7" name="Google Shape;147;p4"/>
          <p:cNvSpPr txBox="1"/>
          <p:nvPr/>
        </p:nvSpPr>
        <p:spPr>
          <a:xfrm>
            <a:off x="365760" y="1080135"/>
            <a:ext cx="2011800" cy="72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FFFFFF"/>
                </a:solidFill>
                <a:latin typeface="Arial"/>
                <a:ea typeface="Arial"/>
                <a:cs typeface="Arial"/>
                <a:sym typeface="Arial"/>
              </a:rPr>
              <a:t>Foundation</a:t>
            </a:r>
            <a:endParaRPr sz="1200" b="1" i="0" u="none" strike="noStrike" cap="none">
              <a:solidFill>
                <a:srgbClr val="FFFFFF"/>
              </a:solidFill>
              <a:latin typeface="Arial"/>
              <a:ea typeface="Arial"/>
              <a:cs typeface="Arial"/>
              <a:sym typeface="Arial"/>
            </a:endParaRPr>
          </a:p>
        </p:txBody>
      </p:sp>
      <p:sp>
        <p:nvSpPr>
          <p:cNvPr id="148" name="Google Shape;148;p4"/>
          <p:cNvSpPr/>
          <p:nvPr/>
        </p:nvSpPr>
        <p:spPr>
          <a:xfrm>
            <a:off x="2468880" y="1080135"/>
            <a:ext cx="6217800" cy="7200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49" name="Google Shape;149;p4"/>
          <p:cNvSpPr txBox="1"/>
          <p:nvPr/>
        </p:nvSpPr>
        <p:spPr>
          <a:xfrm>
            <a:off x="2651760" y="1080135"/>
            <a:ext cx="58521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444444"/>
                </a:solidFill>
                <a:latin typeface="Arial"/>
                <a:ea typeface="Arial"/>
                <a:cs typeface="Arial"/>
                <a:sym typeface="Arial"/>
              </a:rPr>
              <a:t>WSN established the foundation of industrial wireless communication, based on IEEE 802.15.4 standards.</a:t>
            </a:r>
            <a:endParaRPr sz="1200" b="0" i="0" u="none" strike="noStrike" cap="none">
              <a:solidFill>
                <a:srgbClr val="444444"/>
              </a:solidFill>
              <a:latin typeface="Arial"/>
              <a:ea typeface="Arial"/>
              <a:cs typeface="Arial"/>
              <a:sym typeface="Arial"/>
            </a:endParaRPr>
          </a:p>
        </p:txBody>
      </p:sp>
      <p:sp>
        <p:nvSpPr>
          <p:cNvPr id="150" name="Google Shape;150;p4"/>
          <p:cNvSpPr/>
          <p:nvPr/>
        </p:nvSpPr>
        <p:spPr>
          <a:xfrm>
            <a:off x="365760" y="1980248"/>
            <a:ext cx="2011800" cy="72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1" name="Google Shape;151;p4"/>
          <p:cNvSpPr txBox="1"/>
          <p:nvPr/>
        </p:nvSpPr>
        <p:spPr>
          <a:xfrm>
            <a:off x="365760" y="1980248"/>
            <a:ext cx="2011800" cy="72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FFFFFF"/>
                </a:solidFill>
                <a:latin typeface="Arial"/>
                <a:ea typeface="Arial"/>
                <a:cs typeface="Arial"/>
                <a:sym typeface="Arial"/>
              </a:rPr>
              <a:t>Main Goal</a:t>
            </a:r>
            <a:endParaRPr sz="1200" b="1" i="0" u="none" strike="noStrike" cap="none">
              <a:solidFill>
                <a:srgbClr val="FFFFFF"/>
              </a:solidFill>
              <a:latin typeface="Arial"/>
              <a:ea typeface="Arial"/>
              <a:cs typeface="Arial"/>
              <a:sym typeface="Arial"/>
            </a:endParaRPr>
          </a:p>
        </p:txBody>
      </p:sp>
      <p:sp>
        <p:nvSpPr>
          <p:cNvPr id="152" name="Google Shape;152;p4"/>
          <p:cNvSpPr/>
          <p:nvPr/>
        </p:nvSpPr>
        <p:spPr>
          <a:xfrm>
            <a:off x="2468880" y="1980248"/>
            <a:ext cx="6217800" cy="7200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3" name="Google Shape;153;p4"/>
          <p:cNvSpPr txBox="1"/>
          <p:nvPr/>
        </p:nvSpPr>
        <p:spPr>
          <a:xfrm>
            <a:off x="2651760" y="1980248"/>
            <a:ext cx="58521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444444"/>
                </a:solidFill>
                <a:latin typeface="Arial"/>
                <a:ea typeface="Arial"/>
                <a:cs typeface="Arial"/>
                <a:sym typeface="Arial"/>
              </a:rPr>
              <a:t>Collect and transmit data wirelessly with low power consumption, allowing devices to run on batteries for years.</a:t>
            </a:r>
            <a:endParaRPr sz="1200" b="0" i="0" u="none" strike="noStrike" cap="none">
              <a:solidFill>
                <a:srgbClr val="444444"/>
              </a:solidFill>
              <a:latin typeface="Arial"/>
              <a:ea typeface="Arial"/>
              <a:cs typeface="Arial"/>
              <a:sym typeface="Arial"/>
            </a:endParaRPr>
          </a:p>
        </p:txBody>
      </p:sp>
      <p:sp>
        <p:nvSpPr>
          <p:cNvPr id="154" name="Google Shape;154;p4"/>
          <p:cNvSpPr/>
          <p:nvPr/>
        </p:nvSpPr>
        <p:spPr>
          <a:xfrm>
            <a:off x="365760" y="2880360"/>
            <a:ext cx="2011800" cy="72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5" name="Google Shape;155;p4"/>
          <p:cNvSpPr txBox="1"/>
          <p:nvPr/>
        </p:nvSpPr>
        <p:spPr>
          <a:xfrm>
            <a:off x="365760" y="2880360"/>
            <a:ext cx="2011800" cy="72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FFFFFF"/>
                </a:solidFill>
                <a:latin typeface="Arial"/>
                <a:ea typeface="Arial"/>
                <a:cs typeface="Arial"/>
                <a:sym typeface="Arial"/>
              </a:rPr>
              <a:t>Key Challenges</a:t>
            </a:r>
            <a:endParaRPr sz="1200" b="1" i="0" u="none" strike="noStrike" cap="none">
              <a:solidFill>
                <a:srgbClr val="FFFFFF"/>
              </a:solidFill>
              <a:latin typeface="Arial"/>
              <a:ea typeface="Arial"/>
              <a:cs typeface="Arial"/>
              <a:sym typeface="Arial"/>
            </a:endParaRPr>
          </a:p>
        </p:txBody>
      </p:sp>
      <p:sp>
        <p:nvSpPr>
          <p:cNvPr id="156" name="Google Shape;156;p4"/>
          <p:cNvSpPr/>
          <p:nvPr/>
        </p:nvSpPr>
        <p:spPr>
          <a:xfrm>
            <a:off x="2468880" y="2880360"/>
            <a:ext cx="6217800" cy="7200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7" name="Google Shape;157;p4"/>
          <p:cNvSpPr txBox="1"/>
          <p:nvPr/>
        </p:nvSpPr>
        <p:spPr>
          <a:xfrm>
            <a:off x="2651760" y="2880360"/>
            <a:ext cx="58521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444444"/>
                </a:solidFill>
                <a:latin typeface="Arial"/>
                <a:ea typeface="Arial"/>
                <a:cs typeface="Arial"/>
                <a:sym typeface="Arial"/>
              </a:rPr>
              <a:t>Unstable delays, electromagnetic interference from machines, and signal loss in metallic factory environments.</a:t>
            </a:r>
            <a:endParaRPr sz="1200" b="0" i="0" u="none" strike="noStrike" cap="none">
              <a:solidFill>
                <a:srgbClr val="444444"/>
              </a:solidFill>
              <a:latin typeface="Arial"/>
              <a:ea typeface="Arial"/>
              <a:cs typeface="Arial"/>
              <a:sym typeface="Arial"/>
            </a:endParaRPr>
          </a:p>
        </p:txBody>
      </p:sp>
      <p:sp>
        <p:nvSpPr>
          <p:cNvPr id="158" name="Google Shape;158;p4"/>
          <p:cNvSpPr/>
          <p:nvPr/>
        </p:nvSpPr>
        <p:spPr>
          <a:xfrm>
            <a:off x="365760" y="3780473"/>
            <a:ext cx="2011800" cy="7200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59" name="Google Shape;159;p4"/>
          <p:cNvSpPr txBox="1"/>
          <p:nvPr/>
        </p:nvSpPr>
        <p:spPr>
          <a:xfrm>
            <a:off x="365760" y="3780473"/>
            <a:ext cx="2011800" cy="7200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1" i="0" u="none" strike="noStrike" cap="none">
                <a:solidFill>
                  <a:srgbClr val="FFFFFF"/>
                </a:solidFill>
                <a:latin typeface="Arial"/>
                <a:ea typeface="Arial"/>
                <a:cs typeface="Arial"/>
                <a:sym typeface="Arial"/>
              </a:rPr>
              <a:t>Significance</a:t>
            </a:r>
            <a:endParaRPr sz="1200" b="1" i="0" u="none" strike="noStrike" cap="none">
              <a:solidFill>
                <a:srgbClr val="FFFFFF"/>
              </a:solidFill>
              <a:latin typeface="Arial"/>
              <a:ea typeface="Arial"/>
              <a:cs typeface="Arial"/>
              <a:sym typeface="Arial"/>
            </a:endParaRPr>
          </a:p>
        </p:txBody>
      </p:sp>
      <p:sp>
        <p:nvSpPr>
          <p:cNvPr id="160" name="Google Shape;160;p4"/>
          <p:cNvSpPr/>
          <p:nvPr/>
        </p:nvSpPr>
        <p:spPr>
          <a:xfrm>
            <a:off x="2468880" y="3780473"/>
            <a:ext cx="6217800" cy="7200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1" name="Google Shape;161;p4"/>
          <p:cNvSpPr txBox="1"/>
          <p:nvPr/>
        </p:nvSpPr>
        <p:spPr>
          <a:xfrm>
            <a:off x="2651760" y="3780473"/>
            <a:ext cx="58521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444444"/>
                </a:solidFill>
                <a:latin typeface="Arial"/>
                <a:ea typeface="Arial"/>
                <a:cs typeface="Arial"/>
                <a:sym typeface="Arial"/>
              </a:rPr>
              <a:t>Despite the challenges, WSN shaped the design principles still used in modern industrial wireless systems today.</a:t>
            </a:r>
            <a:endParaRPr sz="1200" b="0" i="0" u="none" strike="noStrike" cap="none">
              <a:solidFill>
                <a:srgbClr val="444444"/>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65"/>
        <p:cNvGrpSpPr/>
        <p:nvPr/>
      </p:nvGrpSpPr>
      <p:grpSpPr>
        <a:xfrm>
          <a:off x="0" y="0"/>
          <a:ext cx="0" cy="0"/>
          <a:chOff x="0" y="0"/>
          <a:chExt cx="0" cy="0"/>
        </a:xfrm>
      </p:grpSpPr>
      <p:sp>
        <p:nvSpPr>
          <p:cNvPr id="166" name="Google Shape;166;p5"/>
          <p:cNvSpPr txBox="1"/>
          <p:nvPr/>
        </p:nvSpPr>
        <p:spPr>
          <a:xfrm>
            <a:off x="365760" y="205740"/>
            <a:ext cx="8412600" cy="668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1A56A0"/>
                </a:solidFill>
                <a:latin typeface="Arial"/>
                <a:ea typeface="Arial"/>
                <a:cs typeface="Arial"/>
                <a:sym typeface="Arial"/>
              </a:rPr>
              <a:t>2.1  WSN Architecture Overview</a:t>
            </a:r>
            <a:endParaRPr sz="1400" b="0" i="0" u="none" strike="noStrike" cap="none">
              <a:solidFill>
                <a:srgbClr val="000000"/>
              </a:solidFill>
              <a:latin typeface="Arial"/>
              <a:ea typeface="Arial"/>
              <a:cs typeface="Arial"/>
              <a:sym typeface="Arial"/>
            </a:endParaRPr>
          </a:p>
        </p:txBody>
      </p:sp>
      <p:sp>
        <p:nvSpPr>
          <p:cNvPr id="167" name="Google Shape;167;p5"/>
          <p:cNvSpPr/>
          <p:nvPr/>
        </p:nvSpPr>
        <p:spPr>
          <a:xfrm>
            <a:off x="365760" y="900113"/>
            <a:ext cx="8412600" cy="20700"/>
          </a:xfrm>
          <a:prstGeom prst="rect">
            <a:avLst/>
          </a:prstGeom>
          <a:solidFill>
            <a:srgbClr val="1A56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68" name="Google Shape;168;p5"/>
          <p:cNvPicPr preferRelativeResize="0"/>
          <p:nvPr/>
        </p:nvPicPr>
        <p:blipFill rotWithShape="1">
          <a:blip r:embed="rId3">
            <a:alphaModFix/>
          </a:blip>
          <a:srcRect/>
          <a:stretch/>
        </p:blipFill>
        <p:spPr>
          <a:xfrm>
            <a:off x="1161500" y="1135006"/>
            <a:ext cx="6821000" cy="3800000"/>
          </a:xfrm>
          <a:prstGeom prst="rect">
            <a:avLst/>
          </a:prstGeom>
          <a:noFill/>
          <a:ln>
            <a:noFill/>
          </a:ln>
        </p:spPr>
      </p:pic>
      <p:sp>
        <p:nvSpPr>
          <p:cNvPr id="169" name="Google Shape;169;p5"/>
          <p:cNvSpPr txBox="1"/>
          <p:nvPr/>
        </p:nvSpPr>
        <p:spPr>
          <a:xfrm>
            <a:off x="365760" y="4750000"/>
            <a:ext cx="8412600" cy="35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666666"/>
                </a:solidFill>
                <a:latin typeface="Arial"/>
                <a:ea typeface="Arial"/>
                <a:cs typeface="Arial"/>
                <a:sym typeface="Arial"/>
              </a:rPr>
              <a:t>Typical WSN architecture: sensor nodes relay data through the network to a base station and the internet.</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73"/>
        <p:cNvGrpSpPr/>
        <p:nvPr/>
      </p:nvGrpSpPr>
      <p:grpSpPr>
        <a:xfrm>
          <a:off x="0" y="0"/>
          <a:ext cx="0" cy="0"/>
          <a:chOff x="0" y="0"/>
          <a:chExt cx="0" cy="0"/>
        </a:xfrm>
      </p:grpSpPr>
      <p:sp>
        <p:nvSpPr>
          <p:cNvPr id="174" name="Google Shape;174;p6"/>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1A56A0"/>
                </a:solidFill>
                <a:latin typeface="Arial"/>
                <a:ea typeface="Arial"/>
                <a:cs typeface="Arial"/>
                <a:sym typeface="Arial"/>
              </a:rPr>
              <a:t>2.2  Industrial Wi-Fi Evolution</a:t>
            </a:r>
            <a:endParaRPr sz="2200" b="1" i="0" u="none" strike="noStrike" cap="none">
              <a:solidFill>
                <a:srgbClr val="1A56A0"/>
              </a:solidFill>
              <a:latin typeface="Arial"/>
              <a:ea typeface="Arial"/>
              <a:cs typeface="Arial"/>
              <a:sym typeface="Arial"/>
            </a:endParaRPr>
          </a:p>
        </p:txBody>
      </p:sp>
      <p:sp>
        <p:nvSpPr>
          <p:cNvPr id="175" name="Google Shape;175;p6"/>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6" name="Google Shape;176;p6"/>
          <p:cNvSpPr/>
          <p:nvPr/>
        </p:nvSpPr>
        <p:spPr>
          <a:xfrm>
            <a:off x="365760" y="1080135"/>
            <a:ext cx="1645800" cy="668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7" name="Google Shape;177;p6"/>
          <p:cNvSpPr txBox="1"/>
          <p:nvPr/>
        </p:nvSpPr>
        <p:spPr>
          <a:xfrm>
            <a:off x="365760" y="1080135"/>
            <a:ext cx="16458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FFFFFF"/>
                </a:solidFill>
                <a:latin typeface="Arial"/>
                <a:ea typeface="Arial"/>
                <a:cs typeface="Arial"/>
                <a:sym typeface="Arial"/>
              </a:rPr>
              <a:t>802.11b/g</a:t>
            </a:r>
            <a:endParaRPr sz="1300" b="1" i="0" u="none" strike="noStrike" cap="none">
              <a:solidFill>
                <a:srgbClr val="FFFFFF"/>
              </a:solidFill>
              <a:latin typeface="Arial"/>
              <a:ea typeface="Arial"/>
              <a:cs typeface="Arial"/>
              <a:sym typeface="Arial"/>
            </a:endParaRPr>
          </a:p>
        </p:txBody>
      </p:sp>
      <p:sp>
        <p:nvSpPr>
          <p:cNvPr id="178" name="Google Shape;178;p6"/>
          <p:cNvSpPr/>
          <p:nvPr/>
        </p:nvSpPr>
        <p:spPr>
          <a:xfrm>
            <a:off x="2194560" y="1080135"/>
            <a:ext cx="6492300" cy="6687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9" name="Google Shape;179;p6"/>
          <p:cNvSpPr txBox="1"/>
          <p:nvPr/>
        </p:nvSpPr>
        <p:spPr>
          <a:xfrm>
            <a:off x="2377440" y="1080135"/>
            <a:ext cx="6126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444444"/>
                </a:solidFill>
                <a:latin typeface="Arial"/>
                <a:ea typeface="Arial"/>
                <a:cs typeface="Arial"/>
                <a:sym typeface="Arial"/>
              </a:rPr>
              <a:t>High variable latency - not suitable for closed-loop industrial control.</a:t>
            </a:r>
            <a:endParaRPr sz="1200" b="0" i="0" u="none" strike="noStrike" cap="none">
              <a:solidFill>
                <a:srgbClr val="444444"/>
              </a:solidFill>
              <a:latin typeface="Arial"/>
              <a:ea typeface="Arial"/>
              <a:cs typeface="Arial"/>
              <a:sym typeface="Arial"/>
            </a:endParaRPr>
          </a:p>
        </p:txBody>
      </p:sp>
      <p:sp>
        <p:nvSpPr>
          <p:cNvPr id="180" name="Google Shape;180;p6"/>
          <p:cNvSpPr/>
          <p:nvPr/>
        </p:nvSpPr>
        <p:spPr>
          <a:xfrm>
            <a:off x="365760" y="1954530"/>
            <a:ext cx="1645800" cy="668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1" name="Google Shape;181;p6"/>
          <p:cNvSpPr txBox="1"/>
          <p:nvPr/>
        </p:nvSpPr>
        <p:spPr>
          <a:xfrm>
            <a:off x="365760" y="1954530"/>
            <a:ext cx="16458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FFFFFF"/>
                </a:solidFill>
                <a:latin typeface="Arial"/>
                <a:ea typeface="Arial"/>
                <a:cs typeface="Arial"/>
                <a:sym typeface="Arial"/>
              </a:rPr>
              <a:t>802.11e</a:t>
            </a:r>
            <a:endParaRPr sz="1300" b="1" i="0" u="none" strike="noStrike" cap="none">
              <a:solidFill>
                <a:srgbClr val="FFFFFF"/>
              </a:solidFill>
              <a:latin typeface="Arial"/>
              <a:ea typeface="Arial"/>
              <a:cs typeface="Arial"/>
              <a:sym typeface="Arial"/>
            </a:endParaRPr>
          </a:p>
        </p:txBody>
      </p:sp>
      <p:sp>
        <p:nvSpPr>
          <p:cNvPr id="182" name="Google Shape;182;p6"/>
          <p:cNvSpPr/>
          <p:nvPr/>
        </p:nvSpPr>
        <p:spPr>
          <a:xfrm>
            <a:off x="2194560" y="1954530"/>
            <a:ext cx="6492300" cy="6687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3" name="Google Shape;183;p6"/>
          <p:cNvSpPr txBox="1"/>
          <p:nvPr/>
        </p:nvSpPr>
        <p:spPr>
          <a:xfrm>
            <a:off x="2377440" y="1954530"/>
            <a:ext cx="6126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444444"/>
                </a:solidFill>
                <a:latin typeface="Arial"/>
                <a:ea typeface="Arial"/>
                <a:cs typeface="Arial"/>
                <a:sym typeface="Arial"/>
              </a:rPr>
              <a:t>QoS  introduced traffic prioritisation, improving reliability.</a:t>
            </a:r>
            <a:endParaRPr sz="1200" b="0" i="0" u="none" strike="noStrike" cap="none">
              <a:solidFill>
                <a:srgbClr val="444444"/>
              </a:solidFill>
              <a:latin typeface="Arial"/>
              <a:ea typeface="Arial"/>
              <a:cs typeface="Arial"/>
              <a:sym typeface="Arial"/>
            </a:endParaRPr>
          </a:p>
        </p:txBody>
      </p:sp>
      <p:sp>
        <p:nvSpPr>
          <p:cNvPr id="184" name="Google Shape;184;p6"/>
          <p:cNvSpPr/>
          <p:nvPr/>
        </p:nvSpPr>
        <p:spPr>
          <a:xfrm>
            <a:off x="365760" y="2828925"/>
            <a:ext cx="1645800" cy="668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5" name="Google Shape;185;p6"/>
          <p:cNvSpPr txBox="1"/>
          <p:nvPr/>
        </p:nvSpPr>
        <p:spPr>
          <a:xfrm>
            <a:off x="365760" y="2828925"/>
            <a:ext cx="16458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FFFFFF"/>
                </a:solidFill>
                <a:latin typeface="Arial"/>
                <a:ea typeface="Arial"/>
                <a:cs typeface="Arial"/>
                <a:sym typeface="Arial"/>
              </a:rPr>
              <a:t>802.11n</a:t>
            </a:r>
            <a:endParaRPr sz="1300" b="1" i="0" u="none" strike="noStrike" cap="none">
              <a:solidFill>
                <a:srgbClr val="FFFFFF"/>
              </a:solidFill>
              <a:latin typeface="Arial"/>
              <a:ea typeface="Arial"/>
              <a:cs typeface="Arial"/>
              <a:sym typeface="Arial"/>
            </a:endParaRPr>
          </a:p>
        </p:txBody>
      </p:sp>
      <p:sp>
        <p:nvSpPr>
          <p:cNvPr id="186" name="Google Shape;186;p6"/>
          <p:cNvSpPr/>
          <p:nvPr/>
        </p:nvSpPr>
        <p:spPr>
          <a:xfrm>
            <a:off x="2194560" y="2828925"/>
            <a:ext cx="6492300" cy="6687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7" name="Google Shape;187;p6"/>
          <p:cNvSpPr txBox="1"/>
          <p:nvPr/>
        </p:nvSpPr>
        <p:spPr>
          <a:xfrm>
            <a:off x="2377440" y="2828925"/>
            <a:ext cx="6126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444444"/>
                </a:solidFill>
                <a:latin typeface="Arial"/>
                <a:ea typeface="Arial"/>
                <a:cs typeface="Arial"/>
                <a:sym typeface="Arial"/>
              </a:rPr>
              <a:t>MIMO antennas enabled spatial multiplexing and increased data rates.</a:t>
            </a:r>
            <a:endParaRPr sz="1200" b="0" i="0" u="none" strike="noStrike" cap="none">
              <a:solidFill>
                <a:srgbClr val="444444"/>
              </a:solidFill>
              <a:latin typeface="Arial"/>
              <a:ea typeface="Arial"/>
              <a:cs typeface="Arial"/>
              <a:sym typeface="Arial"/>
            </a:endParaRPr>
          </a:p>
        </p:txBody>
      </p:sp>
      <p:sp>
        <p:nvSpPr>
          <p:cNvPr id="188" name="Google Shape;188;p6"/>
          <p:cNvSpPr/>
          <p:nvPr/>
        </p:nvSpPr>
        <p:spPr>
          <a:xfrm>
            <a:off x="365760" y="3703320"/>
            <a:ext cx="1645800" cy="668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89" name="Google Shape;189;p6"/>
          <p:cNvSpPr txBox="1"/>
          <p:nvPr/>
        </p:nvSpPr>
        <p:spPr>
          <a:xfrm>
            <a:off x="365760" y="3703320"/>
            <a:ext cx="1645800" cy="6687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300"/>
              <a:buFont typeface="Arial"/>
              <a:buNone/>
            </a:pPr>
            <a:r>
              <a:rPr lang="en" sz="1300" b="1" i="0" u="none" strike="noStrike" cap="none">
                <a:solidFill>
                  <a:srgbClr val="FFFFFF"/>
                </a:solidFill>
                <a:latin typeface="Arial"/>
                <a:ea typeface="Arial"/>
                <a:cs typeface="Arial"/>
                <a:sym typeface="Arial"/>
              </a:rPr>
              <a:t>Wi-Fi 6</a:t>
            </a:r>
            <a:endParaRPr sz="1300" b="1" i="0" u="none" strike="noStrike" cap="none">
              <a:solidFill>
                <a:srgbClr val="FFFFFF"/>
              </a:solidFill>
              <a:latin typeface="Arial"/>
              <a:ea typeface="Arial"/>
              <a:cs typeface="Arial"/>
              <a:sym typeface="Arial"/>
            </a:endParaRPr>
          </a:p>
        </p:txBody>
      </p:sp>
      <p:sp>
        <p:nvSpPr>
          <p:cNvPr id="190" name="Google Shape;190;p6"/>
          <p:cNvSpPr/>
          <p:nvPr/>
        </p:nvSpPr>
        <p:spPr>
          <a:xfrm>
            <a:off x="2194560" y="3703320"/>
            <a:ext cx="6492300" cy="6687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91" name="Google Shape;191;p6"/>
          <p:cNvSpPr txBox="1"/>
          <p:nvPr/>
        </p:nvSpPr>
        <p:spPr>
          <a:xfrm>
            <a:off x="2377440" y="3703320"/>
            <a:ext cx="6126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200"/>
              <a:buFont typeface="Arial"/>
              <a:buNone/>
            </a:pPr>
            <a:r>
              <a:rPr lang="en" sz="1200" b="0" i="0" u="none" strike="noStrike" cap="none">
                <a:solidFill>
                  <a:srgbClr val="444444"/>
                </a:solidFill>
                <a:latin typeface="Arial"/>
                <a:ea typeface="Arial"/>
                <a:cs typeface="Arial"/>
                <a:sym typeface="Arial"/>
              </a:rPr>
              <a:t>OFDMA and TWT reduced latency to ~5 ms - suitable for high-bandwidth industrial applications.</a:t>
            </a:r>
            <a:endParaRPr sz="1200" b="0" i="0" u="none" strike="noStrike" cap="none">
              <a:solidFill>
                <a:srgbClr val="444444"/>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195"/>
        <p:cNvGrpSpPr/>
        <p:nvPr/>
      </p:nvGrpSpPr>
      <p:grpSpPr>
        <a:xfrm>
          <a:off x="0" y="0"/>
          <a:ext cx="0" cy="0"/>
          <a:chOff x="0" y="0"/>
          <a:chExt cx="0" cy="0"/>
        </a:xfrm>
      </p:grpSpPr>
      <p:sp>
        <p:nvSpPr>
          <p:cNvPr id="196" name="Google Shape;196;p7"/>
          <p:cNvSpPr txBox="1"/>
          <p:nvPr/>
        </p:nvSpPr>
        <p:spPr>
          <a:xfrm>
            <a:off x="365760" y="205740"/>
            <a:ext cx="8412600" cy="668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1A56A0"/>
                </a:solidFill>
                <a:latin typeface="Arial"/>
                <a:ea typeface="Arial"/>
                <a:cs typeface="Arial"/>
                <a:sym typeface="Arial"/>
              </a:rPr>
              <a:t>2.2  Industrial Wireless Connectivity</a:t>
            </a:r>
            <a:endParaRPr sz="1400" b="0" i="0" u="none" strike="noStrike" cap="none">
              <a:solidFill>
                <a:srgbClr val="000000"/>
              </a:solidFill>
              <a:latin typeface="Arial"/>
              <a:ea typeface="Arial"/>
              <a:cs typeface="Arial"/>
              <a:sym typeface="Arial"/>
            </a:endParaRPr>
          </a:p>
        </p:txBody>
      </p:sp>
      <p:sp>
        <p:nvSpPr>
          <p:cNvPr id="197" name="Google Shape;197;p7"/>
          <p:cNvSpPr/>
          <p:nvPr/>
        </p:nvSpPr>
        <p:spPr>
          <a:xfrm>
            <a:off x="365760" y="900113"/>
            <a:ext cx="8412600" cy="20700"/>
          </a:xfrm>
          <a:prstGeom prst="rect">
            <a:avLst/>
          </a:prstGeom>
          <a:solidFill>
            <a:srgbClr val="1A56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198" name="Google Shape;198;p7"/>
          <p:cNvPicPr preferRelativeResize="0"/>
          <p:nvPr/>
        </p:nvPicPr>
        <p:blipFill rotWithShape="1">
          <a:blip r:embed="rId3">
            <a:alphaModFix/>
          </a:blip>
          <a:srcRect/>
          <a:stretch/>
        </p:blipFill>
        <p:spPr>
          <a:xfrm>
            <a:off x="672000" y="1275506"/>
            <a:ext cx="7800000" cy="3519000"/>
          </a:xfrm>
          <a:prstGeom prst="rect">
            <a:avLst/>
          </a:prstGeom>
          <a:noFill/>
          <a:ln>
            <a:noFill/>
          </a:ln>
        </p:spPr>
      </p:pic>
      <p:sp>
        <p:nvSpPr>
          <p:cNvPr id="199" name="Google Shape;199;p7"/>
          <p:cNvSpPr txBox="1"/>
          <p:nvPr/>
        </p:nvSpPr>
        <p:spPr>
          <a:xfrm>
            <a:off x="365760" y="4750000"/>
            <a:ext cx="8412600" cy="35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666666"/>
                </a:solidFill>
                <a:latin typeface="Arial"/>
                <a:ea typeface="Arial"/>
                <a:cs typeface="Arial"/>
                <a:sym typeface="Arial"/>
              </a:rPr>
              <a:t>Wireless connectivity links across an industrial network  routers, sensors, and IoT-enabled devices.</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03"/>
        <p:cNvGrpSpPr/>
        <p:nvPr/>
      </p:nvGrpSpPr>
      <p:grpSpPr>
        <a:xfrm>
          <a:off x="0" y="0"/>
          <a:ext cx="0" cy="0"/>
          <a:chOff x="0" y="0"/>
          <a:chExt cx="0" cy="0"/>
        </a:xfrm>
      </p:grpSpPr>
      <p:sp>
        <p:nvSpPr>
          <p:cNvPr id="204" name="Google Shape;204;p8"/>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1A56A0"/>
                </a:solidFill>
                <a:latin typeface="Arial"/>
                <a:ea typeface="Arial"/>
                <a:cs typeface="Arial"/>
                <a:sym typeface="Arial"/>
              </a:rPr>
              <a:t>2.3  5G and the URLLC Paradigm</a:t>
            </a:r>
            <a:endParaRPr sz="2200" b="1" i="0" u="none" strike="noStrike" cap="none">
              <a:solidFill>
                <a:srgbClr val="1A56A0"/>
              </a:solidFill>
              <a:latin typeface="Arial"/>
              <a:ea typeface="Arial"/>
              <a:cs typeface="Arial"/>
              <a:sym typeface="Arial"/>
            </a:endParaRPr>
          </a:p>
        </p:txBody>
      </p:sp>
      <p:sp>
        <p:nvSpPr>
          <p:cNvPr id="205" name="Google Shape;205;p8"/>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6" name="Google Shape;206;p8"/>
          <p:cNvSpPr/>
          <p:nvPr/>
        </p:nvSpPr>
        <p:spPr>
          <a:xfrm>
            <a:off x="365760" y="1080135"/>
            <a:ext cx="2560200" cy="11316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7" name="Google Shape;207;p8"/>
          <p:cNvSpPr txBox="1"/>
          <p:nvPr/>
        </p:nvSpPr>
        <p:spPr>
          <a:xfrm>
            <a:off x="365760" y="1080135"/>
            <a:ext cx="2560200" cy="61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Arial"/>
                <a:ea typeface="Arial"/>
                <a:cs typeface="Arial"/>
                <a:sym typeface="Arial"/>
              </a:rPr>
              <a:t>&lt; 1 ms</a:t>
            </a:r>
            <a:endParaRPr sz="2400" b="1" i="0" u="none" strike="noStrike" cap="none">
              <a:solidFill>
                <a:srgbClr val="FFFFFF"/>
              </a:solidFill>
              <a:latin typeface="Arial"/>
              <a:ea typeface="Arial"/>
              <a:cs typeface="Arial"/>
              <a:sym typeface="Arial"/>
            </a:endParaRPr>
          </a:p>
        </p:txBody>
      </p:sp>
      <p:sp>
        <p:nvSpPr>
          <p:cNvPr id="208" name="Google Shape;208;p8"/>
          <p:cNvSpPr txBox="1"/>
          <p:nvPr/>
        </p:nvSpPr>
        <p:spPr>
          <a:xfrm>
            <a:off x="365760" y="1594485"/>
            <a:ext cx="2560200" cy="514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Arial"/>
                <a:ea typeface="Arial"/>
                <a:cs typeface="Arial"/>
                <a:sym typeface="Arial"/>
              </a:rPr>
              <a:t>Latency for motion control</a:t>
            </a:r>
            <a:endParaRPr sz="1100" b="0" i="0" u="none" strike="noStrike" cap="none">
              <a:solidFill>
                <a:srgbClr val="FFFFFF"/>
              </a:solidFill>
              <a:latin typeface="Arial"/>
              <a:ea typeface="Arial"/>
              <a:cs typeface="Arial"/>
              <a:sym typeface="Arial"/>
            </a:endParaRPr>
          </a:p>
        </p:txBody>
      </p:sp>
      <p:sp>
        <p:nvSpPr>
          <p:cNvPr id="209" name="Google Shape;209;p8"/>
          <p:cNvSpPr/>
          <p:nvPr/>
        </p:nvSpPr>
        <p:spPr>
          <a:xfrm>
            <a:off x="3291840" y="1080135"/>
            <a:ext cx="2560200" cy="11316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0" name="Google Shape;210;p8"/>
          <p:cNvSpPr txBox="1"/>
          <p:nvPr/>
        </p:nvSpPr>
        <p:spPr>
          <a:xfrm>
            <a:off x="3291840" y="1080135"/>
            <a:ext cx="2560200" cy="61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Arial"/>
                <a:ea typeface="Arial"/>
                <a:cs typeface="Arial"/>
                <a:sym typeface="Arial"/>
              </a:rPr>
              <a:t>99.9999%</a:t>
            </a:r>
            <a:endParaRPr sz="2400" b="1" i="0" u="none" strike="noStrike" cap="none">
              <a:solidFill>
                <a:srgbClr val="FFFFFF"/>
              </a:solidFill>
              <a:latin typeface="Arial"/>
              <a:ea typeface="Arial"/>
              <a:cs typeface="Arial"/>
              <a:sym typeface="Arial"/>
            </a:endParaRPr>
          </a:p>
        </p:txBody>
      </p:sp>
      <p:sp>
        <p:nvSpPr>
          <p:cNvPr id="211" name="Google Shape;211;p8"/>
          <p:cNvSpPr txBox="1"/>
          <p:nvPr/>
        </p:nvSpPr>
        <p:spPr>
          <a:xfrm>
            <a:off x="3291840" y="1594485"/>
            <a:ext cx="2560200" cy="514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Arial"/>
                <a:ea typeface="Arial"/>
                <a:cs typeface="Arial"/>
                <a:sym typeface="Arial"/>
              </a:rPr>
              <a:t>Reliability (URLLC)</a:t>
            </a:r>
            <a:endParaRPr sz="1100" b="0" i="0" u="none" strike="noStrike" cap="none">
              <a:solidFill>
                <a:srgbClr val="FFFFFF"/>
              </a:solidFill>
              <a:latin typeface="Arial"/>
              <a:ea typeface="Arial"/>
              <a:cs typeface="Arial"/>
              <a:sym typeface="Arial"/>
            </a:endParaRPr>
          </a:p>
        </p:txBody>
      </p:sp>
      <p:sp>
        <p:nvSpPr>
          <p:cNvPr id="212" name="Google Shape;212;p8"/>
          <p:cNvSpPr/>
          <p:nvPr/>
        </p:nvSpPr>
        <p:spPr>
          <a:xfrm>
            <a:off x="6217920" y="1080135"/>
            <a:ext cx="2560200" cy="11316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13" name="Google Shape;213;p8"/>
          <p:cNvSpPr txBox="1"/>
          <p:nvPr/>
        </p:nvSpPr>
        <p:spPr>
          <a:xfrm>
            <a:off x="6217920" y="1080135"/>
            <a:ext cx="2560200" cy="6171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 sz="2400" b="1" i="0" u="none" strike="noStrike" cap="none">
                <a:solidFill>
                  <a:srgbClr val="FFFFFF"/>
                </a:solidFill>
                <a:latin typeface="Arial"/>
                <a:ea typeface="Arial"/>
                <a:cs typeface="Arial"/>
                <a:sym typeface="Arial"/>
              </a:rPr>
              <a:t>70%+</a:t>
            </a:r>
            <a:endParaRPr sz="2400" b="1" i="0" u="none" strike="noStrike" cap="none">
              <a:solidFill>
                <a:srgbClr val="FFFFFF"/>
              </a:solidFill>
              <a:latin typeface="Arial"/>
              <a:ea typeface="Arial"/>
              <a:cs typeface="Arial"/>
              <a:sym typeface="Arial"/>
            </a:endParaRPr>
          </a:p>
        </p:txBody>
      </p:sp>
      <p:sp>
        <p:nvSpPr>
          <p:cNvPr id="214" name="Google Shape;214;p8"/>
          <p:cNvSpPr txBox="1"/>
          <p:nvPr/>
        </p:nvSpPr>
        <p:spPr>
          <a:xfrm>
            <a:off x="6217920" y="1594485"/>
            <a:ext cx="2560200" cy="514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Arial"/>
                <a:ea typeface="Arial"/>
                <a:cs typeface="Arial"/>
                <a:sym typeface="Arial"/>
              </a:rPr>
              <a:t>New private wireless spend on standalone 5G (2025)</a:t>
            </a:r>
            <a:endParaRPr sz="1100" b="0" i="0" u="none" strike="noStrike" cap="none">
              <a:solidFill>
                <a:srgbClr val="FFFFFF"/>
              </a:solidFill>
              <a:latin typeface="Arial"/>
              <a:ea typeface="Arial"/>
              <a:cs typeface="Arial"/>
              <a:sym typeface="Arial"/>
            </a:endParaRPr>
          </a:p>
        </p:txBody>
      </p:sp>
      <p:sp>
        <p:nvSpPr>
          <p:cNvPr id="215" name="Google Shape;215;p8"/>
          <p:cNvSpPr txBox="1"/>
          <p:nvPr/>
        </p:nvSpPr>
        <p:spPr>
          <a:xfrm>
            <a:off x="548640" y="257175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3GPP Release 15 (2018): air interface standardised.</a:t>
            </a:r>
            <a:endParaRPr sz="1300" b="0" i="0" u="none" strike="noStrike" cap="none">
              <a:solidFill>
                <a:srgbClr val="444444"/>
              </a:solidFill>
              <a:latin typeface="Arial"/>
              <a:ea typeface="Arial"/>
              <a:cs typeface="Arial"/>
              <a:sym typeface="Arial"/>
            </a:endParaRPr>
          </a:p>
        </p:txBody>
      </p:sp>
      <p:sp>
        <p:nvSpPr>
          <p:cNvPr id="216" name="Google Shape;216;p8"/>
          <p:cNvSpPr txBox="1"/>
          <p:nvPr/>
        </p:nvSpPr>
        <p:spPr>
          <a:xfrm>
            <a:off x="548640" y="3240405"/>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Release 16 (2020): mini-slot scheduling  added for URLLC.</a:t>
            </a:r>
            <a:endParaRPr sz="1300" b="0" i="0" u="none" strike="noStrike" cap="none">
              <a:solidFill>
                <a:srgbClr val="444444"/>
              </a:solidFill>
              <a:latin typeface="Arial"/>
              <a:ea typeface="Arial"/>
              <a:cs typeface="Arial"/>
              <a:sym typeface="Arial"/>
            </a:endParaRPr>
          </a:p>
        </p:txBody>
      </p:sp>
      <p:sp>
        <p:nvSpPr>
          <p:cNvPr id="217" name="Google Shape;217;p8"/>
          <p:cNvSpPr txBox="1"/>
          <p:nvPr/>
        </p:nvSpPr>
        <p:spPr>
          <a:xfrm>
            <a:off x="548640" y="390906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Release 16 also defines 5G as a TSN bridge for end-to-end deterministic delivery.</a:t>
            </a:r>
            <a:endParaRPr sz="1300" b="0" i="0" u="none" strike="noStrike" cap="none">
              <a:solidFill>
                <a:srgbClr val="444444"/>
              </a:solidFill>
              <a:latin typeface="Arial"/>
              <a:ea typeface="Arial"/>
              <a:cs typeface="Arial"/>
              <a:sym typeface="Arial"/>
            </a:endParaRPr>
          </a:p>
        </p:txBody>
      </p:sp>
      <p:sp>
        <p:nvSpPr>
          <p:cNvPr id="218" name="Google Shape;218;p8"/>
          <p:cNvSpPr txBox="1"/>
          <p:nvPr/>
        </p:nvSpPr>
        <p:spPr>
          <a:xfrm>
            <a:off x="548640" y="4577715"/>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Many industries are now adopting private 5G networks for real-time control tasks.</a:t>
            </a:r>
            <a:endParaRPr sz="1300" b="0" i="0" u="none" strike="noStrike" cap="none">
              <a:solidFill>
                <a:srgbClr val="444444"/>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22"/>
        <p:cNvGrpSpPr/>
        <p:nvPr/>
      </p:nvGrpSpPr>
      <p:grpSpPr>
        <a:xfrm>
          <a:off x="0" y="0"/>
          <a:ext cx="0" cy="0"/>
          <a:chOff x="0" y="0"/>
          <a:chExt cx="0" cy="0"/>
        </a:xfrm>
      </p:grpSpPr>
      <p:sp>
        <p:nvSpPr>
          <p:cNvPr id="223" name="Google Shape;223;p9"/>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1A56A0"/>
                </a:solidFill>
                <a:latin typeface="Arial"/>
                <a:ea typeface="Arial"/>
                <a:cs typeface="Arial"/>
                <a:sym typeface="Arial"/>
              </a:rPr>
              <a:t>2.4  TSN Integration - Towards Wireless Determinism</a:t>
            </a:r>
            <a:endParaRPr sz="2200" b="1" i="0" u="none" strike="noStrike" cap="none">
              <a:solidFill>
                <a:srgbClr val="1A56A0"/>
              </a:solidFill>
              <a:latin typeface="Arial"/>
              <a:ea typeface="Arial"/>
              <a:cs typeface="Arial"/>
              <a:sym typeface="Arial"/>
            </a:endParaRPr>
          </a:p>
        </p:txBody>
      </p:sp>
      <p:sp>
        <p:nvSpPr>
          <p:cNvPr id="224" name="Google Shape;224;p9"/>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25" name="Google Shape;225;p9"/>
          <p:cNvSpPr txBox="1"/>
          <p:nvPr/>
        </p:nvSpPr>
        <p:spPr>
          <a:xfrm>
            <a:off x="365760" y="1080135"/>
            <a:ext cx="4023300" cy="462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1A56A0"/>
                </a:solidFill>
                <a:latin typeface="Arial"/>
                <a:ea typeface="Arial"/>
                <a:cs typeface="Arial"/>
                <a:sym typeface="Arial"/>
              </a:rPr>
              <a:t>What TSN Provides</a:t>
            </a:r>
            <a:endParaRPr sz="1400" b="1" i="0" u="none" strike="noStrike" cap="none">
              <a:solidFill>
                <a:srgbClr val="1A56A0"/>
              </a:solidFill>
              <a:latin typeface="Arial"/>
              <a:ea typeface="Arial"/>
              <a:cs typeface="Arial"/>
              <a:sym typeface="Arial"/>
            </a:endParaRPr>
          </a:p>
        </p:txBody>
      </p:sp>
      <p:sp>
        <p:nvSpPr>
          <p:cNvPr id="226" name="Google Shape;226;p9"/>
          <p:cNvSpPr txBox="1"/>
          <p:nvPr/>
        </p:nvSpPr>
        <p:spPr>
          <a:xfrm>
            <a:off x="548640" y="1594485"/>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Credit-Based Shaping (</a:t>
            </a:r>
            <a:endParaRPr sz="1300" b="0" i="0" u="none" strike="noStrike" cap="none">
              <a:solidFill>
                <a:srgbClr val="444444"/>
              </a:solidFill>
              <a:latin typeface="Arial"/>
              <a:ea typeface="Arial"/>
              <a:cs typeface="Arial"/>
              <a:sym typeface="Arial"/>
            </a:endParaRPr>
          </a:p>
        </p:txBody>
      </p:sp>
      <p:sp>
        <p:nvSpPr>
          <p:cNvPr id="227" name="Google Shape;227;p9"/>
          <p:cNvSpPr txBox="1"/>
          <p:nvPr/>
        </p:nvSpPr>
        <p:spPr>
          <a:xfrm>
            <a:off x="548640" y="226314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Time-Aware Shaping </a:t>
            </a:r>
            <a:endParaRPr sz="1300" b="0" i="0" u="none" strike="noStrike" cap="none">
              <a:solidFill>
                <a:srgbClr val="444444"/>
              </a:solidFill>
              <a:latin typeface="Arial"/>
              <a:ea typeface="Arial"/>
              <a:cs typeface="Arial"/>
              <a:sym typeface="Arial"/>
            </a:endParaRPr>
          </a:p>
        </p:txBody>
      </p:sp>
      <p:sp>
        <p:nvSpPr>
          <p:cNvPr id="228" name="Google Shape;228;p9"/>
          <p:cNvSpPr txBox="1"/>
          <p:nvPr/>
        </p:nvSpPr>
        <p:spPr>
          <a:xfrm>
            <a:off x="548640" y="2931795"/>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Cyclic Queui</a:t>
            </a:r>
            <a:r>
              <a:rPr lang="en" sz="1300">
                <a:solidFill>
                  <a:srgbClr val="444444"/>
                </a:solidFill>
              </a:rPr>
              <a:t>ng</a:t>
            </a:r>
            <a:endParaRPr sz="1300" b="0" i="0" u="none" strike="noStrike" cap="none">
              <a:solidFill>
                <a:srgbClr val="444444"/>
              </a:solidFill>
              <a:latin typeface="Arial"/>
              <a:ea typeface="Arial"/>
              <a:cs typeface="Arial"/>
              <a:sym typeface="Arial"/>
            </a:endParaRPr>
          </a:p>
        </p:txBody>
      </p:sp>
      <p:sp>
        <p:nvSpPr>
          <p:cNvPr id="229" name="Google Shape;229;p9"/>
          <p:cNvSpPr txBox="1"/>
          <p:nvPr/>
        </p:nvSpPr>
        <p:spPr>
          <a:xfrm>
            <a:off x="548640" y="360045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time synchronisation</a:t>
            </a:r>
            <a:endParaRPr sz="1300" b="0" i="0" u="none" strike="noStrike" cap="none">
              <a:solidFill>
                <a:srgbClr val="444444"/>
              </a:solidFill>
              <a:latin typeface="Arial"/>
              <a:ea typeface="Arial"/>
              <a:cs typeface="Arial"/>
              <a:sym typeface="Arial"/>
            </a:endParaRPr>
          </a:p>
        </p:txBody>
      </p:sp>
      <p:sp>
        <p:nvSpPr>
          <p:cNvPr id="230" name="Google Shape;230;p9"/>
          <p:cNvSpPr txBox="1"/>
          <p:nvPr/>
        </p:nvSpPr>
        <p:spPr>
          <a:xfrm>
            <a:off x="4754880" y="1080135"/>
            <a:ext cx="4023300" cy="4629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1" i="0" u="none" strike="noStrike" cap="none">
              <a:solidFill>
                <a:srgbClr val="1A56A0"/>
              </a:solidFill>
              <a:latin typeface="Arial"/>
              <a:ea typeface="Arial"/>
              <a:cs typeface="Arial"/>
              <a:sym typeface="Arial"/>
            </a:endParaRPr>
          </a:p>
        </p:txBody>
      </p:sp>
      <p:sp>
        <p:nvSpPr>
          <p:cNvPr id="231" name="Google Shape;231;p9"/>
          <p:cNvSpPr txBox="1"/>
          <p:nvPr/>
        </p:nvSpPr>
        <p:spPr>
          <a:xfrm>
            <a:off x="4846320" y="1594485"/>
            <a:ext cx="39318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Wireless becomes as reliable as wired PROFINET / EtherCAT.</a:t>
            </a:r>
            <a:endParaRPr sz="1300" b="0" i="0" u="none" strike="noStrike" cap="none">
              <a:solidFill>
                <a:srgbClr val="444444"/>
              </a:solidFill>
              <a:latin typeface="Arial"/>
              <a:ea typeface="Arial"/>
              <a:cs typeface="Arial"/>
              <a:sym typeface="Arial"/>
            </a:endParaRPr>
          </a:p>
        </p:txBody>
      </p:sp>
      <p:sp>
        <p:nvSpPr>
          <p:cNvPr id="232" name="Google Shape;232;p9"/>
          <p:cNvSpPr txBox="1"/>
          <p:nvPr/>
        </p:nvSpPr>
        <p:spPr>
          <a:xfrm>
            <a:off x="4846320" y="2391728"/>
            <a:ext cx="39318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Wired and wireless robot axes driven by the same scheduler.</a:t>
            </a:r>
            <a:endParaRPr sz="1300" b="0" i="0" u="none" strike="noStrike" cap="none">
              <a:solidFill>
                <a:srgbClr val="444444"/>
              </a:solidFill>
              <a:latin typeface="Arial"/>
              <a:ea typeface="Arial"/>
              <a:cs typeface="Arial"/>
              <a:sym typeface="Arial"/>
            </a:endParaRPr>
          </a:p>
        </p:txBody>
      </p:sp>
      <p:sp>
        <p:nvSpPr>
          <p:cNvPr id="233" name="Google Shape;233;p9"/>
          <p:cNvSpPr txBox="1"/>
          <p:nvPr/>
        </p:nvSpPr>
        <p:spPr>
          <a:xfrm>
            <a:off x="4846320" y="3188970"/>
            <a:ext cx="3931800" cy="7200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endParaRPr sz="1300" b="0" i="0" u="none" strike="noStrike" cap="none">
              <a:solidFill>
                <a:srgbClr val="444444"/>
              </a:solidFill>
              <a:latin typeface="Arial"/>
              <a:ea typeface="Arial"/>
              <a:cs typeface="Arial"/>
              <a:sym typeface="Arial"/>
            </a:endParaRPr>
          </a:p>
        </p:txBody>
      </p:sp>
      <p:sp>
        <p:nvSpPr>
          <p:cNvPr id="234" name="Google Shape;234;p9"/>
          <p:cNvSpPr/>
          <p:nvPr/>
        </p:nvSpPr>
        <p:spPr>
          <a:xfrm>
            <a:off x="4572000" y="1080135"/>
            <a:ext cx="36600" cy="3703200"/>
          </a:xfrm>
          <a:prstGeom prst="rect">
            <a:avLst/>
          </a:prstGeom>
          <a:solidFill>
            <a:srgbClr val="F2F2F2"/>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A56A0"/>
        </a:solidFill>
        <a:effectLst/>
      </p:bgPr>
    </p:bg>
    <p:spTree>
      <p:nvGrpSpPr>
        <p:cNvPr id="1" name="Shape 238"/>
        <p:cNvGrpSpPr/>
        <p:nvPr/>
      </p:nvGrpSpPr>
      <p:grpSpPr>
        <a:xfrm>
          <a:off x="0" y="0"/>
          <a:ext cx="0" cy="0"/>
          <a:chOff x="0" y="0"/>
          <a:chExt cx="0" cy="0"/>
        </a:xfrm>
      </p:grpSpPr>
      <p:sp>
        <p:nvSpPr>
          <p:cNvPr id="239" name="Google Shape;239;p10"/>
          <p:cNvSpPr txBox="1"/>
          <p:nvPr/>
        </p:nvSpPr>
        <p:spPr>
          <a:xfrm>
            <a:off x="731520" y="1285875"/>
            <a:ext cx="7680900" cy="514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600"/>
              <a:buFont typeface="Arial"/>
              <a:buNone/>
            </a:pPr>
            <a:endParaRPr sz="1600" b="0" i="0" u="none" strike="noStrike" cap="none">
              <a:solidFill>
                <a:srgbClr val="FFFFFF"/>
              </a:solidFill>
              <a:latin typeface="Arial"/>
              <a:ea typeface="Arial"/>
              <a:cs typeface="Arial"/>
              <a:sym typeface="Arial"/>
            </a:endParaRPr>
          </a:p>
        </p:txBody>
      </p:sp>
      <p:sp>
        <p:nvSpPr>
          <p:cNvPr id="240" name="Google Shape;240;p10"/>
          <p:cNvSpPr txBox="1"/>
          <p:nvPr/>
        </p:nvSpPr>
        <p:spPr>
          <a:xfrm>
            <a:off x="731520" y="1800225"/>
            <a:ext cx="7680900" cy="102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3600"/>
              <a:buFont typeface="Arial"/>
              <a:buNone/>
            </a:pPr>
            <a:r>
              <a:rPr lang="en" sz="3600" b="1" i="0" u="none" strike="noStrike" cap="none">
                <a:solidFill>
                  <a:srgbClr val="FFFFFF"/>
                </a:solidFill>
                <a:latin typeface="Arial"/>
                <a:ea typeface="Arial"/>
                <a:cs typeface="Arial"/>
                <a:sym typeface="Arial"/>
              </a:rPr>
              <a:t>Emerging Trends</a:t>
            </a:r>
            <a:endParaRPr sz="3600" b="1" i="0" u="none" strike="noStrike" cap="none">
              <a:solidFill>
                <a:srgbClr val="FFFFFF"/>
              </a:solidFill>
              <a:latin typeface="Arial"/>
              <a:ea typeface="Arial"/>
              <a:cs typeface="Arial"/>
              <a:sym typeface="Arial"/>
            </a:endParaRPr>
          </a:p>
        </p:txBody>
      </p:sp>
      <p:sp>
        <p:nvSpPr>
          <p:cNvPr id="241" name="Google Shape;241;p10"/>
          <p:cNvSpPr txBox="1"/>
          <p:nvPr/>
        </p:nvSpPr>
        <p:spPr>
          <a:xfrm>
            <a:off x="731520" y="3086100"/>
            <a:ext cx="7680900" cy="5145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BDD7EE"/>
                </a:solidFill>
                <a:latin typeface="Arial"/>
                <a:ea typeface="Arial"/>
                <a:cs typeface="Arial"/>
                <a:sym typeface="Arial"/>
              </a:rPr>
              <a:t>Wi-Fi 7  ·  Private 5G  ·  Wireless TSN  </a:t>
            </a:r>
            <a:endParaRPr sz="1400" b="0" i="0" u="none" strike="noStrike" cap="none">
              <a:solidFill>
                <a:srgbClr val="BDD7EE"/>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45"/>
        <p:cNvGrpSpPr/>
        <p:nvPr/>
      </p:nvGrpSpPr>
      <p:grpSpPr>
        <a:xfrm>
          <a:off x="0" y="0"/>
          <a:ext cx="0" cy="0"/>
          <a:chOff x="0" y="0"/>
          <a:chExt cx="0" cy="0"/>
        </a:xfrm>
      </p:grpSpPr>
      <p:sp>
        <p:nvSpPr>
          <p:cNvPr id="246" name="Google Shape;246;p11"/>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1A56A0"/>
                </a:solidFill>
                <a:latin typeface="Arial"/>
                <a:ea typeface="Arial"/>
                <a:cs typeface="Arial"/>
                <a:sym typeface="Arial"/>
              </a:rPr>
              <a:t>5.1  Wi-Fi 7 — Multi-Link Operation (MLO)</a:t>
            </a:r>
            <a:endParaRPr sz="2200" b="1" i="0" u="none" strike="noStrike" cap="none">
              <a:solidFill>
                <a:srgbClr val="1A56A0"/>
              </a:solidFill>
              <a:latin typeface="Arial"/>
              <a:ea typeface="Arial"/>
              <a:cs typeface="Arial"/>
              <a:sym typeface="Arial"/>
            </a:endParaRPr>
          </a:p>
        </p:txBody>
      </p:sp>
      <p:sp>
        <p:nvSpPr>
          <p:cNvPr id="247" name="Google Shape;247;p11"/>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8" name="Google Shape;248;p11"/>
          <p:cNvSpPr/>
          <p:nvPr/>
        </p:nvSpPr>
        <p:spPr>
          <a:xfrm>
            <a:off x="365760" y="1131570"/>
            <a:ext cx="2469000" cy="8229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49" name="Google Shape;249;p11"/>
          <p:cNvSpPr txBox="1"/>
          <p:nvPr/>
        </p:nvSpPr>
        <p:spPr>
          <a:xfrm>
            <a:off x="365760" y="1131570"/>
            <a:ext cx="2469000" cy="822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FF"/>
                </a:solidFill>
                <a:latin typeface="Arial"/>
                <a:ea typeface="Arial"/>
                <a:cs typeface="Arial"/>
                <a:sym typeface="Arial"/>
              </a:rPr>
              <a:t>2.4 GHz</a:t>
            </a:r>
            <a:endParaRPr sz="1600" b="1" i="0" u="none" strike="noStrike" cap="none">
              <a:solidFill>
                <a:srgbClr val="FFFFFF"/>
              </a:solidFill>
              <a:latin typeface="Arial"/>
              <a:ea typeface="Arial"/>
              <a:cs typeface="Arial"/>
              <a:sym typeface="Arial"/>
            </a:endParaRPr>
          </a:p>
        </p:txBody>
      </p:sp>
      <p:sp>
        <p:nvSpPr>
          <p:cNvPr id="250" name="Google Shape;250;p11"/>
          <p:cNvSpPr/>
          <p:nvPr/>
        </p:nvSpPr>
        <p:spPr>
          <a:xfrm>
            <a:off x="3291840" y="1131570"/>
            <a:ext cx="2469000" cy="8229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1" name="Google Shape;251;p11"/>
          <p:cNvSpPr txBox="1"/>
          <p:nvPr/>
        </p:nvSpPr>
        <p:spPr>
          <a:xfrm>
            <a:off x="3291840" y="1131570"/>
            <a:ext cx="2469000" cy="822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FF"/>
                </a:solidFill>
                <a:latin typeface="Arial"/>
                <a:ea typeface="Arial"/>
                <a:cs typeface="Arial"/>
                <a:sym typeface="Arial"/>
              </a:rPr>
              <a:t>5 GHz</a:t>
            </a:r>
            <a:endParaRPr sz="1600" b="1" i="0" u="none" strike="noStrike" cap="none">
              <a:solidFill>
                <a:srgbClr val="FFFFFF"/>
              </a:solidFill>
              <a:latin typeface="Arial"/>
              <a:ea typeface="Arial"/>
              <a:cs typeface="Arial"/>
              <a:sym typeface="Arial"/>
            </a:endParaRPr>
          </a:p>
        </p:txBody>
      </p:sp>
      <p:sp>
        <p:nvSpPr>
          <p:cNvPr id="252" name="Google Shape;252;p11"/>
          <p:cNvSpPr/>
          <p:nvPr/>
        </p:nvSpPr>
        <p:spPr>
          <a:xfrm>
            <a:off x="6217920" y="1131570"/>
            <a:ext cx="2469000" cy="8229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53" name="Google Shape;253;p11"/>
          <p:cNvSpPr txBox="1"/>
          <p:nvPr/>
        </p:nvSpPr>
        <p:spPr>
          <a:xfrm>
            <a:off x="6217920" y="1131570"/>
            <a:ext cx="2469000" cy="8229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FFFFFF"/>
                </a:solidFill>
                <a:latin typeface="Arial"/>
                <a:ea typeface="Arial"/>
                <a:cs typeface="Arial"/>
                <a:sym typeface="Arial"/>
              </a:rPr>
              <a:t>6 GHz</a:t>
            </a:r>
            <a:endParaRPr sz="1600" b="1" i="0" u="none" strike="noStrike" cap="none">
              <a:solidFill>
                <a:srgbClr val="FFFFFF"/>
              </a:solidFill>
              <a:latin typeface="Arial"/>
              <a:ea typeface="Arial"/>
              <a:cs typeface="Arial"/>
              <a:sym typeface="Arial"/>
            </a:endParaRPr>
          </a:p>
        </p:txBody>
      </p:sp>
      <p:sp>
        <p:nvSpPr>
          <p:cNvPr id="254" name="Google Shape;254;p11"/>
          <p:cNvSpPr txBox="1"/>
          <p:nvPr/>
        </p:nvSpPr>
        <p:spPr>
          <a:xfrm>
            <a:off x="365760" y="2005965"/>
            <a:ext cx="8412600" cy="4116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666666"/>
                </a:solidFill>
                <a:latin typeface="Arial"/>
                <a:ea typeface="Arial"/>
                <a:cs typeface="Arial"/>
                <a:sym typeface="Arial"/>
              </a:rPr>
              <a:t>All three frequency bands used simultaneously</a:t>
            </a:r>
            <a:endParaRPr sz="1200" b="0" i="1" u="none" strike="noStrike" cap="none">
              <a:solidFill>
                <a:srgbClr val="666666"/>
              </a:solidFill>
              <a:latin typeface="Arial"/>
              <a:ea typeface="Arial"/>
              <a:cs typeface="Arial"/>
              <a:sym typeface="Arial"/>
            </a:endParaRPr>
          </a:p>
        </p:txBody>
      </p:sp>
      <p:sp>
        <p:nvSpPr>
          <p:cNvPr id="255" name="Google Shape;255;p11"/>
          <p:cNvSpPr txBox="1"/>
          <p:nvPr/>
        </p:nvSpPr>
        <p:spPr>
          <a:xfrm>
            <a:off x="548640" y="257175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MLO provides packet-level diversity — a dropped packet on one band is recovered on another without retransmission delay.</a:t>
            </a:r>
            <a:endParaRPr sz="1300" b="0" i="0" u="none" strike="noStrike" cap="none">
              <a:solidFill>
                <a:srgbClr val="444444"/>
              </a:solidFill>
              <a:latin typeface="Arial"/>
              <a:ea typeface="Arial"/>
              <a:cs typeface="Arial"/>
              <a:sym typeface="Arial"/>
            </a:endParaRPr>
          </a:p>
        </p:txBody>
      </p:sp>
      <p:sp>
        <p:nvSpPr>
          <p:cNvPr id="256" name="Google Shape;256;p11"/>
          <p:cNvSpPr txBox="1"/>
          <p:nvPr/>
        </p:nvSpPr>
        <p:spPr>
          <a:xfrm>
            <a:off x="548640" y="3240405"/>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IEEE 802.11be (Wi-Fi 7) is finalised. Draft 1.0 of Wi-Fi 8 (802.11bn) completed August 2025.</a:t>
            </a:r>
            <a:endParaRPr sz="1300" b="0" i="0" u="none" strike="noStrike" cap="none">
              <a:solidFill>
                <a:srgbClr val="444444"/>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0"/>
        <p:cNvGrpSpPr/>
        <p:nvPr/>
      </p:nvGrpSpPr>
      <p:grpSpPr>
        <a:xfrm>
          <a:off x="0" y="0"/>
          <a:ext cx="0" cy="0"/>
          <a:chOff x="0" y="0"/>
          <a:chExt cx="0" cy="0"/>
        </a:xfrm>
      </p:grpSpPr>
      <p:sp>
        <p:nvSpPr>
          <p:cNvPr id="261" name="Google Shape;261;p12"/>
          <p:cNvSpPr txBox="1"/>
          <p:nvPr/>
        </p:nvSpPr>
        <p:spPr>
          <a:xfrm>
            <a:off x="365760" y="205740"/>
            <a:ext cx="8412600" cy="668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2000" b="1" i="0" u="none" strike="noStrike" cap="none">
                <a:solidFill>
                  <a:srgbClr val="1A56A0"/>
                </a:solidFill>
                <a:latin typeface="Arial"/>
                <a:ea typeface="Arial"/>
                <a:cs typeface="Arial"/>
                <a:sym typeface="Arial"/>
              </a:rPr>
              <a:t>5.1  Wi-Fi 6 vs Wi-Fi 7 – Frequency Bands</a:t>
            </a:r>
            <a:endParaRPr sz="1400" b="0" i="0" u="none" strike="noStrike" cap="none">
              <a:solidFill>
                <a:srgbClr val="000000"/>
              </a:solidFill>
              <a:latin typeface="Arial"/>
              <a:ea typeface="Arial"/>
              <a:cs typeface="Arial"/>
              <a:sym typeface="Arial"/>
            </a:endParaRPr>
          </a:p>
        </p:txBody>
      </p:sp>
      <p:sp>
        <p:nvSpPr>
          <p:cNvPr id="262" name="Google Shape;262;p12"/>
          <p:cNvSpPr/>
          <p:nvPr/>
        </p:nvSpPr>
        <p:spPr>
          <a:xfrm>
            <a:off x="365760" y="900113"/>
            <a:ext cx="8412600" cy="20700"/>
          </a:xfrm>
          <a:prstGeom prst="rect">
            <a:avLst/>
          </a:prstGeom>
          <a:solidFill>
            <a:srgbClr val="1A56A0"/>
          </a:solid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263" name="Google Shape;263;p12"/>
          <p:cNvPicPr preferRelativeResize="0"/>
          <p:nvPr/>
        </p:nvPicPr>
        <p:blipFill rotWithShape="1">
          <a:blip r:embed="rId3">
            <a:alphaModFix/>
          </a:blip>
          <a:srcRect/>
          <a:stretch/>
        </p:blipFill>
        <p:spPr>
          <a:xfrm>
            <a:off x="472000" y="1713006"/>
            <a:ext cx="8200000" cy="2644000"/>
          </a:xfrm>
          <a:prstGeom prst="rect">
            <a:avLst/>
          </a:prstGeom>
          <a:noFill/>
          <a:ln>
            <a:noFill/>
          </a:ln>
        </p:spPr>
      </p:pic>
      <p:sp>
        <p:nvSpPr>
          <p:cNvPr id="264" name="Google Shape;264;p12"/>
          <p:cNvSpPr txBox="1"/>
          <p:nvPr/>
        </p:nvSpPr>
        <p:spPr>
          <a:xfrm>
            <a:off x="365760" y="4750000"/>
            <a:ext cx="8412600" cy="3500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666666"/>
                </a:solidFill>
                <a:latin typeface="Arial"/>
                <a:ea typeface="Arial"/>
                <a:cs typeface="Arial"/>
                <a:sym typeface="Arial"/>
              </a:rPr>
              <a:t>Wi-Fi 6 uses 2.4/5 GHz bands, while Wi-Fi 7 adds the 6 GHz band for simultaneous multi-link operation.</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68"/>
        <p:cNvGrpSpPr/>
        <p:nvPr/>
      </p:nvGrpSpPr>
      <p:grpSpPr>
        <a:xfrm>
          <a:off x="0" y="0"/>
          <a:ext cx="0" cy="0"/>
          <a:chOff x="0" y="0"/>
          <a:chExt cx="0" cy="0"/>
        </a:xfrm>
      </p:grpSpPr>
      <p:sp>
        <p:nvSpPr>
          <p:cNvPr id="269" name="Google Shape;269;p13"/>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1A56A0"/>
                </a:solidFill>
                <a:latin typeface="Arial"/>
                <a:ea typeface="Arial"/>
                <a:cs typeface="Arial"/>
                <a:sym typeface="Arial"/>
              </a:rPr>
              <a:t>5.2  Private 5G Campus Networks</a:t>
            </a:r>
            <a:endParaRPr sz="2200" b="1" i="0" u="none" strike="noStrike" cap="none">
              <a:solidFill>
                <a:srgbClr val="1A56A0"/>
              </a:solidFill>
              <a:latin typeface="Arial"/>
              <a:ea typeface="Arial"/>
              <a:cs typeface="Arial"/>
              <a:sym typeface="Arial"/>
            </a:endParaRPr>
          </a:p>
        </p:txBody>
      </p:sp>
      <p:sp>
        <p:nvSpPr>
          <p:cNvPr id="270" name="Google Shape;270;p13"/>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1" name="Google Shape;271;p13"/>
          <p:cNvSpPr txBox="1"/>
          <p:nvPr/>
        </p:nvSpPr>
        <p:spPr>
          <a:xfrm>
            <a:off x="365760" y="1543050"/>
            <a:ext cx="2377500" cy="5658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Arial"/>
                <a:ea typeface="Arial"/>
                <a:cs typeface="Arial"/>
                <a:sym typeface="Arial"/>
              </a:rPr>
              <a:t>of new private wireless</a:t>
            </a:r>
            <a:endParaRPr sz="1100" b="0" i="0" u="none" strike="noStrike" cap="none">
              <a:solidFill>
                <a:srgbClr val="FFFFFF"/>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100"/>
              <a:buFont typeface="Arial"/>
              <a:buNone/>
            </a:pPr>
            <a:r>
              <a:rPr lang="en" sz="1100" b="0" i="0" u="none" strike="noStrike" cap="none">
                <a:solidFill>
                  <a:srgbClr val="FFFFFF"/>
                </a:solidFill>
                <a:latin typeface="Arial"/>
                <a:ea typeface="Arial"/>
                <a:cs typeface="Arial"/>
                <a:sym typeface="Arial"/>
              </a:rPr>
              <a:t>spend in 2025</a:t>
            </a:r>
            <a:endParaRPr sz="1100" b="0" i="0" u="none" strike="noStrike" cap="none">
              <a:solidFill>
                <a:srgbClr val="FFFFFF"/>
              </a:solidFill>
              <a:latin typeface="Arial"/>
              <a:ea typeface="Arial"/>
              <a:cs typeface="Arial"/>
              <a:sym typeface="Arial"/>
            </a:endParaRPr>
          </a:p>
        </p:txBody>
      </p:sp>
      <p:sp>
        <p:nvSpPr>
          <p:cNvPr id="272" name="Google Shape;272;p13"/>
          <p:cNvSpPr txBox="1"/>
          <p:nvPr/>
        </p:nvSpPr>
        <p:spPr>
          <a:xfrm>
            <a:off x="548640" y="174879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Companies build and manage their own 5G network instead of using public infrastructure.</a:t>
            </a:r>
            <a:endParaRPr sz="1300" b="0" i="0" u="none" strike="noStrike" cap="none">
              <a:solidFill>
                <a:srgbClr val="444444"/>
              </a:solidFill>
              <a:latin typeface="Arial"/>
              <a:ea typeface="Arial"/>
              <a:cs typeface="Arial"/>
              <a:sym typeface="Arial"/>
            </a:endParaRPr>
          </a:p>
        </p:txBody>
      </p:sp>
      <p:sp>
        <p:nvSpPr>
          <p:cNvPr id="273" name="Google Shape;273;p13"/>
          <p:cNvSpPr txBox="1"/>
          <p:nvPr/>
        </p:nvSpPr>
        <p:spPr>
          <a:xfrm>
            <a:off x="548640" y="2417445"/>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Full control over security, service levels, and spectrum allocation.</a:t>
            </a:r>
            <a:endParaRPr sz="1300" b="0" i="0" u="none" strike="noStrike" cap="none">
              <a:solidFill>
                <a:srgbClr val="444444"/>
              </a:solidFill>
              <a:latin typeface="Arial"/>
              <a:ea typeface="Arial"/>
              <a:cs typeface="Arial"/>
              <a:sym typeface="Arial"/>
            </a:endParaRPr>
          </a:p>
        </p:txBody>
      </p:sp>
      <p:sp>
        <p:nvSpPr>
          <p:cNvPr id="274" name="Google Shape;274;p13"/>
          <p:cNvSpPr txBox="1"/>
          <p:nvPr/>
        </p:nvSpPr>
        <p:spPr>
          <a:xfrm>
            <a:off x="548640" y="308610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Optimised for deterministic, high-density industrial environments such as factories.</a:t>
            </a:r>
            <a:endParaRPr sz="1300" b="0" i="0" u="none" strike="noStrike" cap="none">
              <a:solidFill>
                <a:srgbClr val="444444"/>
              </a:solidFill>
              <a:latin typeface="Arial"/>
              <a:ea typeface="Arial"/>
              <a:cs typeface="Arial"/>
              <a:sym typeface="Arial"/>
            </a:endParaRPr>
          </a:p>
        </p:txBody>
      </p:sp>
      <p:sp>
        <p:nvSpPr>
          <p:cNvPr id="275" name="Google Shape;275;p13"/>
          <p:cNvSpPr txBox="1"/>
          <p:nvPr/>
        </p:nvSpPr>
        <p:spPr>
          <a:xfrm>
            <a:off x="548640" y="3754755"/>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Complements industrial Ethernet and Wi-Fi in new  factory deployments.</a:t>
            </a:r>
            <a:endParaRPr sz="1300" b="0" i="0" u="none" strike="noStrike" cap="none">
              <a:solidFill>
                <a:srgbClr val="444444"/>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79"/>
        <p:cNvGrpSpPr/>
        <p:nvPr/>
      </p:nvGrpSpPr>
      <p:grpSpPr>
        <a:xfrm>
          <a:off x="0" y="0"/>
          <a:ext cx="0" cy="0"/>
          <a:chOff x="0" y="0"/>
          <a:chExt cx="0" cy="0"/>
        </a:xfrm>
      </p:grpSpPr>
      <p:sp>
        <p:nvSpPr>
          <p:cNvPr id="280" name="Google Shape;280;p14"/>
          <p:cNvSpPr txBox="1"/>
          <p:nvPr/>
        </p:nvSpPr>
        <p:spPr>
          <a:xfrm>
            <a:off x="365760" y="205740"/>
            <a:ext cx="8412600" cy="6687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2200"/>
              <a:buFont typeface="Arial"/>
              <a:buNone/>
            </a:pPr>
            <a:r>
              <a:rPr lang="en" sz="2200" b="1" i="0" u="none" strike="noStrike" cap="none">
                <a:solidFill>
                  <a:srgbClr val="1A56A0"/>
                </a:solidFill>
                <a:latin typeface="Arial"/>
                <a:ea typeface="Arial"/>
                <a:cs typeface="Arial"/>
                <a:sym typeface="Arial"/>
              </a:rPr>
              <a:t>5.3  Wireless Time-Sensitive Networking</a:t>
            </a:r>
            <a:endParaRPr sz="2200" b="1" i="0" u="none" strike="noStrike" cap="none">
              <a:solidFill>
                <a:srgbClr val="1A56A0"/>
              </a:solidFill>
              <a:latin typeface="Arial"/>
              <a:ea typeface="Arial"/>
              <a:cs typeface="Arial"/>
              <a:sym typeface="Arial"/>
            </a:endParaRPr>
          </a:p>
        </p:txBody>
      </p:sp>
      <p:sp>
        <p:nvSpPr>
          <p:cNvPr id="281" name="Google Shape;281;p14"/>
          <p:cNvSpPr/>
          <p:nvPr/>
        </p:nvSpPr>
        <p:spPr>
          <a:xfrm>
            <a:off x="365760" y="900113"/>
            <a:ext cx="8412600" cy="20700"/>
          </a:xfrm>
          <a:prstGeom prst="rect">
            <a:avLst/>
          </a:prstGeom>
          <a:solidFill>
            <a:srgbClr val="1A56A0"/>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82" name="Google Shape;282;p14"/>
          <p:cNvSpPr txBox="1"/>
          <p:nvPr/>
        </p:nvSpPr>
        <p:spPr>
          <a:xfrm>
            <a:off x="429015" y="141996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TSN ensures data arrives at the exact required time - critical for real-time control.</a:t>
            </a:r>
            <a:endParaRPr sz="1300" b="0" i="0" u="none" strike="noStrike" cap="none">
              <a:solidFill>
                <a:srgbClr val="444444"/>
              </a:solidFill>
              <a:latin typeface="Arial"/>
              <a:ea typeface="Arial"/>
              <a:cs typeface="Arial"/>
              <a:sym typeface="Arial"/>
            </a:endParaRPr>
          </a:p>
        </p:txBody>
      </p:sp>
      <p:sp>
        <p:nvSpPr>
          <p:cNvPr id="283" name="Google Shape;283;p14"/>
          <p:cNvSpPr txBox="1"/>
          <p:nvPr/>
        </p:nvSpPr>
        <p:spPr>
          <a:xfrm>
            <a:off x="429015" y="2175590"/>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Closes the "last mile" gap: wireless now matches wired PROFINET and EtherCAT guarantees.</a:t>
            </a:r>
            <a:endParaRPr sz="1300" b="0" i="0" u="none" strike="noStrike" cap="none">
              <a:solidFill>
                <a:srgbClr val="444444"/>
              </a:solidFill>
              <a:latin typeface="Arial"/>
              <a:ea typeface="Arial"/>
              <a:cs typeface="Arial"/>
              <a:sym typeface="Arial"/>
            </a:endParaRPr>
          </a:p>
        </p:txBody>
      </p:sp>
      <p:sp>
        <p:nvSpPr>
          <p:cNvPr id="284" name="Google Shape;284;p14"/>
          <p:cNvSpPr txBox="1"/>
          <p:nvPr/>
        </p:nvSpPr>
        <p:spPr>
          <a:xfrm>
            <a:off x="472515" y="2895958"/>
            <a:ext cx="8046600" cy="6171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300"/>
              <a:buFont typeface="Arial"/>
              <a:buNone/>
            </a:pPr>
            <a:r>
              <a:rPr lang="en" sz="1300" b="0" i="0" u="none" strike="noStrike" cap="none">
                <a:solidFill>
                  <a:srgbClr val="444444"/>
                </a:solidFill>
                <a:latin typeface="Arial"/>
                <a:ea typeface="Arial"/>
                <a:cs typeface="Arial"/>
                <a:sym typeface="Arial"/>
              </a:rPr>
              <a:t>•  A single TSN scheduler can drive both wired and wireless robot axes at the same time.</a:t>
            </a:r>
            <a:endParaRPr sz="1300" b="0" i="0" u="none" strike="noStrike" cap="none">
              <a:solidFill>
                <a:srgbClr val="444444"/>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gradFill>
          <a:gsLst>
            <a:gs pos="0">
              <a:srgbClr val="00717D"/>
            </a:gs>
            <a:gs pos="83000">
              <a:srgbClr val="A8C7FA"/>
            </a:gs>
            <a:gs pos="100000">
              <a:srgbClr val="C5D9FB"/>
            </a:gs>
          </a:gsLst>
          <a:lin ang="5400000" scaled="0"/>
        </a:gradFill>
        <a:effectLst/>
      </p:bgPr>
    </p:bg>
    <p:spTree>
      <p:nvGrpSpPr>
        <p:cNvPr id="1" name="Shape 288"/>
        <p:cNvGrpSpPr/>
        <p:nvPr/>
      </p:nvGrpSpPr>
      <p:grpSpPr>
        <a:xfrm>
          <a:off x="0" y="0"/>
          <a:ext cx="0" cy="0"/>
          <a:chOff x="0" y="0"/>
          <a:chExt cx="0" cy="0"/>
        </a:xfrm>
      </p:grpSpPr>
      <p:sp>
        <p:nvSpPr>
          <p:cNvPr id="289" name="Google Shape;289;p15"/>
          <p:cNvSpPr/>
          <p:nvPr/>
        </p:nvSpPr>
        <p:spPr>
          <a:xfrm>
            <a:off x="0" y="1805940"/>
            <a:ext cx="9144000" cy="178308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0" name="Google Shape;290;p15"/>
          <p:cNvSpPr/>
          <p:nvPr/>
        </p:nvSpPr>
        <p:spPr>
          <a:xfrm>
            <a:off x="731520" y="1828800"/>
            <a:ext cx="7680960" cy="41148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endParaRPr sz="1600" b="0" i="0" u="none" strike="noStrike" cap="none">
              <a:solidFill>
                <a:srgbClr val="000000"/>
              </a:solidFill>
              <a:latin typeface="Arial"/>
              <a:ea typeface="Arial"/>
              <a:cs typeface="Arial"/>
              <a:sym typeface="Arial"/>
            </a:endParaRPr>
          </a:p>
        </p:txBody>
      </p:sp>
      <p:sp>
        <p:nvSpPr>
          <p:cNvPr id="291" name="Google Shape;291;p15"/>
          <p:cNvSpPr/>
          <p:nvPr/>
        </p:nvSpPr>
        <p:spPr>
          <a:xfrm>
            <a:off x="731520" y="2240280"/>
            <a:ext cx="7680960" cy="9144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3200"/>
              <a:buFont typeface="Arial"/>
              <a:buNone/>
            </a:pPr>
            <a:r>
              <a:rPr lang="en" sz="3200" b="1" i="0" u="none" strike="noStrike" cap="none">
                <a:solidFill>
                  <a:srgbClr val="FFFFFF"/>
                </a:solidFill>
                <a:latin typeface="Arial"/>
                <a:ea typeface="Arial"/>
                <a:cs typeface="Arial"/>
                <a:sym typeface="Arial"/>
              </a:rPr>
              <a:t>Wireless Standards: Architecture and Protocol Stack</a:t>
            </a:r>
            <a:endParaRPr sz="3200" b="0" i="0" u="none" strike="noStrike" cap="none">
              <a:solidFill>
                <a:srgbClr val="000000"/>
              </a:solidFill>
              <a:latin typeface="Arial"/>
              <a:ea typeface="Arial"/>
              <a:cs typeface="Arial"/>
              <a:sym typeface="Arial"/>
            </a:endParaRPr>
          </a:p>
        </p:txBody>
      </p:sp>
      <p:sp>
        <p:nvSpPr>
          <p:cNvPr id="292" name="Google Shape;292;p15"/>
          <p:cNvSpPr/>
          <p:nvPr/>
        </p:nvSpPr>
        <p:spPr>
          <a:xfrm>
            <a:off x="731520" y="3653307"/>
            <a:ext cx="768096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500"/>
              <a:buFont typeface="Arial"/>
              <a:buNone/>
            </a:pPr>
            <a:r>
              <a:rPr lang="en" sz="1500" b="0" i="0" u="none" strike="noStrike" cap="none">
                <a:solidFill>
                  <a:srgbClr val="0F6E78"/>
                </a:solidFill>
                <a:latin typeface="Arial"/>
                <a:ea typeface="Arial"/>
                <a:cs typeface="Arial"/>
                <a:sym typeface="Arial"/>
              </a:rPr>
              <a:t>Wi-Fi (802.11)   ·   Zigbee (802.15.4)   ·   5G New Radio</a:t>
            </a:r>
            <a:endParaRPr sz="15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296"/>
        <p:cNvGrpSpPr/>
        <p:nvPr/>
      </p:nvGrpSpPr>
      <p:grpSpPr>
        <a:xfrm>
          <a:off x="0" y="0"/>
          <a:ext cx="0" cy="0"/>
          <a:chOff x="0" y="0"/>
          <a:chExt cx="0" cy="0"/>
        </a:xfrm>
      </p:grpSpPr>
      <p:sp>
        <p:nvSpPr>
          <p:cNvPr id="297" name="Google Shape;297;p16"/>
          <p:cNvSpPr/>
          <p:nvPr/>
        </p:nvSpPr>
        <p:spPr>
          <a:xfrm>
            <a:off x="411480" y="256032"/>
            <a:ext cx="8321040" cy="502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1" i="0" u="none" strike="noStrike" cap="none">
                <a:solidFill>
                  <a:srgbClr val="F2A900"/>
                </a:solidFill>
                <a:latin typeface="Calibri"/>
                <a:ea typeface="Calibri"/>
                <a:cs typeface="Calibri"/>
                <a:sym typeface="Calibri"/>
              </a:rPr>
              <a:t>3.1  </a:t>
            </a:r>
            <a:r>
              <a:rPr lang="en" sz="2300" b="1" i="0" u="none" strike="noStrike" cap="none">
                <a:solidFill>
                  <a:srgbClr val="0F6E78"/>
                </a:solidFill>
                <a:latin typeface="Calibri"/>
                <a:ea typeface="Calibri"/>
                <a:cs typeface="Calibri"/>
                <a:sym typeface="Calibri"/>
              </a:rPr>
              <a:t>IEEE 802.11 (Wi-Fi)</a:t>
            </a:r>
            <a:endParaRPr sz="2300" b="0" i="0" u="none" strike="noStrike" cap="none">
              <a:solidFill>
                <a:srgbClr val="000000"/>
              </a:solidFill>
              <a:latin typeface="Arial"/>
              <a:ea typeface="Arial"/>
              <a:cs typeface="Arial"/>
              <a:sym typeface="Arial"/>
            </a:endParaRPr>
          </a:p>
        </p:txBody>
      </p:sp>
      <p:sp>
        <p:nvSpPr>
          <p:cNvPr id="298" name="Google Shape;298;p16"/>
          <p:cNvSpPr/>
          <p:nvPr/>
        </p:nvSpPr>
        <p:spPr>
          <a:xfrm>
            <a:off x="411480" y="749808"/>
            <a:ext cx="8321040" cy="2286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99" name="Google Shape;299;p16"/>
          <p:cNvSpPr/>
          <p:nvPr/>
        </p:nvSpPr>
        <p:spPr>
          <a:xfrm>
            <a:off x="457200" y="1051560"/>
            <a:ext cx="3931920" cy="237744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Operates on 2.4, 5 and 6 GHz bands</a:t>
            </a:r>
            <a:endParaRPr sz="1500" b="0" i="0" u="none" strike="noStrike" cap="none">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CSMA/CA for channel access</a:t>
            </a:r>
            <a:endParaRPr sz="1500" b="0" i="0" u="none" strike="noStrike" cap="none">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Wi-Fi 6 adds OFDMA and TWT</a:t>
            </a:r>
            <a:endParaRPr sz="1500" b="0" i="0" u="none" strike="noStrike" cap="none">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802.11r enables fast roaming for AGVs</a:t>
            </a:r>
            <a:endParaRPr sz="1500" b="0" i="0" u="none" strike="noStrike" cap="none">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Throughput up to 9.6 Gbps</a:t>
            </a:r>
            <a:endParaRPr sz="1500" b="0" i="0" u="none" strike="noStrike" cap="none">
              <a:solidFill>
                <a:srgbClr val="000000"/>
              </a:solidFill>
              <a:latin typeface="Arial"/>
              <a:ea typeface="Arial"/>
              <a:cs typeface="Arial"/>
              <a:sym typeface="Arial"/>
            </a:endParaRPr>
          </a:p>
        </p:txBody>
      </p:sp>
      <p:sp>
        <p:nvSpPr>
          <p:cNvPr id="300" name="Google Shape;300;p16"/>
          <p:cNvSpPr/>
          <p:nvPr/>
        </p:nvSpPr>
        <p:spPr>
          <a:xfrm>
            <a:off x="457200" y="3703320"/>
            <a:ext cx="914400" cy="310896"/>
          </a:xfrm>
          <a:prstGeom prst="roundRect">
            <a:avLst>
              <a:gd name="adj" fmla="val 50000"/>
            </a:avLst>
          </a:prstGeom>
          <a:solidFill>
            <a:srgbClr val="1C8C99"/>
          </a:solidFill>
          <a:ln w="12700" cap="flat" cmpd="sng">
            <a:solidFill>
              <a:srgbClr val="1C8C9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1" name="Google Shape;301;p16"/>
          <p:cNvSpPr/>
          <p:nvPr/>
        </p:nvSpPr>
        <p:spPr>
          <a:xfrm>
            <a:off x="457200" y="370332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PROS</a:t>
            </a:r>
            <a:endParaRPr sz="1100" b="0" i="0" u="none" strike="noStrike" cap="none">
              <a:solidFill>
                <a:srgbClr val="000000"/>
              </a:solidFill>
              <a:latin typeface="Arial"/>
              <a:ea typeface="Arial"/>
              <a:cs typeface="Arial"/>
              <a:sym typeface="Arial"/>
            </a:endParaRPr>
          </a:p>
        </p:txBody>
      </p:sp>
      <p:sp>
        <p:nvSpPr>
          <p:cNvPr id="302" name="Google Shape;302;p16"/>
          <p:cNvSpPr/>
          <p:nvPr/>
        </p:nvSpPr>
        <p:spPr>
          <a:xfrm>
            <a:off x="1463040" y="3703320"/>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High speed, huge ecosystem, native TCP/IP</a:t>
            </a:r>
            <a:endParaRPr sz="1100" b="0" i="0" u="none" strike="noStrike" cap="none">
              <a:solidFill>
                <a:srgbClr val="000000"/>
              </a:solidFill>
              <a:latin typeface="Arial"/>
              <a:ea typeface="Arial"/>
              <a:cs typeface="Arial"/>
              <a:sym typeface="Arial"/>
            </a:endParaRPr>
          </a:p>
        </p:txBody>
      </p:sp>
      <p:sp>
        <p:nvSpPr>
          <p:cNvPr id="303" name="Google Shape;303;p16"/>
          <p:cNvSpPr/>
          <p:nvPr/>
        </p:nvSpPr>
        <p:spPr>
          <a:xfrm>
            <a:off x="457200" y="4114800"/>
            <a:ext cx="914400" cy="310896"/>
          </a:xfrm>
          <a:prstGeom prst="roundRect">
            <a:avLst>
              <a:gd name="adj" fmla="val 50000"/>
            </a:avLst>
          </a:prstGeom>
          <a:solidFill>
            <a:srgbClr val="F2A900"/>
          </a:solidFill>
          <a:ln w="12700" cap="flat" cmpd="sng">
            <a:solidFill>
              <a:srgbClr val="F2A9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04" name="Google Shape;304;p16"/>
          <p:cNvSpPr/>
          <p:nvPr/>
        </p:nvSpPr>
        <p:spPr>
          <a:xfrm>
            <a:off x="457200" y="411480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CONS</a:t>
            </a:r>
            <a:endParaRPr sz="1100" b="0" i="0" u="none" strike="noStrike" cap="none">
              <a:solidFill>
                <a:srgbClr val="000000"/>
              </a:solidFill>
              <a:latin typeface="Arial"/>
              <a:ea typeface="Arial"/>
              <a:cs typeface="Arial"/>
              <a:sym typeface="Arial"/>
            </a:endParaRPr>
          </a:p>
        </p:txBody>
      </p:sp>
      <p:sp>
        <p:nvSpPr>
          <p:cNvPr id="305" name="Google Shape;305;p16"/>
          <p:cNvSpPr/>
          <p:nvPr/>
        </p:nvSpPr>
        <p:spPr>
          <a:xfrm>
            <a:off x="1463040" y="4114800"/>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Unreliable under load, shared spectrum</a:t>
            </a:r>
            <a:endParaRPr sz="1100" b="0" i="0" u="none" strike="noStrike" cap="none">
              <a:solidFill>
                <a:srgbClr val="000000"/>
              </a:solidFill>
              <a:latin typeface="Arial"/>
              <a:ea typeface="Arial"/>
              <a:cs typeface="Arial"/>
              <a:sym typeface="Arial"/>
            </a:endParaRPr>
          </a:p>
        </p:txBody>
      </p:sp>
      <p:sp>
        <p:nvSpPr>
          <p:cNvPr id="306" name="Google Shape;306;p16"/>
          <p:cNvSpPr/>
          <p:nvPr/>
        </p:nvSpPr>
        <p:spPr>
          <a:xfrm>
            <a:off x="4754880" y="2377440"/>
            <a:ext cx="393192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1C8C99"/>
                </a:solidFill>
                <a:latin typeface="Arial"/>
                <a:ea typeface="Arial"/>
                <a:cs typeface="Arial"/>
                <a:sym typeface="Arial"/>
              </a:rPr>
              <a:t>[ IMAGE ]</a:t>
            </a:r>
            <a:endParaRPr sz="1600" b="0" i="0" u="none" strike="noStrike" cap="none">
              <a:solidFill>
                <a:srgbClr val="000000"/>
              </a:solidFill>
              <a:latin typeface="Arial"/>
              <a:ea typeface="Arial"/>
              <a:cs typeface="Arial"/>
              <a:sym typeface="Arial"/>
            </a:endParaRPr>
          </a:p>
        </p:txBody>
      </p:sp>
      <p:sp>
        <p:nvSpPr>
          <p:cNvPr id="307" name="Google Shape;307;p16"/>
          <p:cNvSpPr/>
          <p:nvPr/>
        </p:nvSpPr>
        <p:spPr>
          <a:xfrm>
            <a:off x="4754880" y="2834640"/>
            <a:ext cx="3931920" cy="3657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5A6B6E"/>
                </a:solidFill>
                <a:latin typeface="Arial"/>
                <a:ea typeface="Arial"/>
                <a:cs typeface="Arial"/>
                <a:sym typeface="Arial"/>
              </a:rPr>
              <a:t>Wi-Fi factory deployment</a:t>
            </a:r>
            <a:endParaRPr sz="1200" b="0" i="0" u="none" strike="noStrike" cap="none">
              <a:solidFill>
                <a:srgbClr val="000000"/>
              </a:solidFill>
              <a:latin typeface="Arial"/>
              <a:ea typeface="Arial"/>
              <a:cs typeface="Arial"/>
              <a:sym typeface="Arial"/>
            </a:endParaRPr>
          </a:p>
        </p:txBody>
      </p:sp>
      <p:pic>
        <p:nvPicPr>
          <p:cNvPr id="308" name="Google Shape;308;p16"/>
          <p:cNvPicPr preferRelativeResize="0"/>
          <p:nvPr/>
        </p:nvPicPr>
        <p:blipFill rotWithShape="1">
          <a:blip r:embed="rId3">
            <a:alphaModFix/>
          </a:blip>
          <a:srcRect/>
          <a:stretch/>
        </p:blipFill>
        <p:spPr>
          <a:xfrm>
            <a:off x="4341897" y="1142420"/>
            <a:ext cx="4497303" cy="3251272"/>
          </a:xfrm>
          <a:prstGeom prst="rect">
            <a:avLst/>
          </a:prstGeom>
          <a:noFill/>
          <a:ln>
            <a:noFill/>
          </a:ln>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12"/>
        <p:cNvGrpSpPr/>
        <p:nvPr/>
      </p:nvGrpSpPr>
      <p:grpSpPr>
        <a:xfrm>
          <a:off x="0" y="0"/>
          <a:ext cx="0" cy="0"/>
          <a:chOff x="0" y="0"/>
          <a:chExt cx="0" cy="0"/>
        </a:xfrm>
      </p:grpSpPr>
      <p:sp>
        <p:nvSpPr>
          <p:cNvPr id="313" name="Google Shape;313;p17"/>
          <p:cNvSpPr/>
          <p:nvPr/>
        </p:nvSpPr>
        <p:spPr>
          <a:xfrm>
            <a:off x="411480" y="256032"/>
            <a:ext cx="8321040" cy="502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1" i="0" u="none" strike="noStrike" cap="none">
                <a:solidFill>
                  <a:srgbClr val="F2A900"/>
                </a:solidFill>
                <a:latin typeface="Calibri"/>
                <a:ea typeface="Calibri"/>
                <a:cs typeface="Calibri"/>
                <a:sym typeface="Calibri"/>
              </a:rPr>
              <a:t>3.2  </a:t>
            </a:r>
            <a:r>
              <a:rPr lang="en" sz="2300" b="1" i="0" u="none" strike="noStrike" cap="none">
                <a:solidFill>
                  <a:srgbClr val="0F6E78"/>
                </a:solidFill>
                <a:latin typeface="Calibri"/>
                <a:ea typeface="Calibri"/>
                <a:cs typeface="Calibri"/>
                <a:sym typeface="Calibri"/>
              </a:rPr>
              <a:t>IEEE 802.15.4 / Zigbee</a:t>
            </a:r>
            <a:endParaRPr sz="2300" b="0" i="0" u="none" strike="noStrike" cap="none">
              <a:solidFill>
                <a:srgbClr val="000000"/>
              </a:solidFill>
              <a:latin typeface="Arial"/>
              <a:ea typeface="Arial"/>
              <a:cs typeface="Arial"/>
              <a:sym typeface="Arial"/>
            </a:endParaRPr>
          </a:p>
        </p:txBody>
      </p:sp>
      <p:sp>
        <p:nvSpPr>
          <p:cNvPr id="314" name="Google Shape;314;p17"/>
          <p:cNvSpPr/>
          <p:nvPr/>
        </p:nvSpPr>
        <p:spPr>
          <a:xfrm>
            <a:off x="411480" y="749808"/>
            <a:ext cx="8321040" cy="2286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5" name="Google Shape;315;p17"/>
          <p:cNvSpPr/>
          <p:nvPr/>
        </p:nvSpPr>
        <p:spPr>
          <a:xfrm>
            <a:off x="457200" y="1051560"/>
            <a:ext cx="3931920" cy="237744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Low-power wireless WPAN standard</a:t>
            </a:r>
            <a:endParaRPr sz="1500" b="0" i="0" u="none" strike="noStrike" cap="none">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Runs at 2.4 GHz, up to 250 kbps</a:t>
            </a:r>
            <a:endParaRPr sz="1500" b="0" i="0" u="none" strike="noStrike" cap="none">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Three roles: Coordinator, Router, End Device</a:t>
            </a:r>
            <a:endParaRPr sz="1500" b="0" i="0" u="none" strike="noStrike" cap="none">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Supports star, tree and mesh topologies</a:t>
            </a:r>
            <a:endParaRPr sz="1500" b="0" i="0" u="none" strike="noStrike" cap="none">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a:solidFill>
                  <a:srgbClr val="243B40"/>
                </a:solidFill>
                <a:latin typeface="Calibri"/>
                <a:ea typeface="Calibri"/>
                <a:cs typeface="Calibri"/>
                <a:sym typeface="Calibri"/>
              </a:rPr>
              <a:t>Battery life of 2 to 5 years</a:t>
            </a:r>
            <a:endParaRPr sz="1500" b="0" i="0" u="none" strike="noStrike" cap="none">
              <a:solidFill>
                <a:srgbClr val="000000"/>
              </a:solidFill>
              <a:latin typeface="Arial"/>
              <a:ea typeface="Arial"/>
              <a:cs typeface="Arial"/>
              <a:sym typeface="Arial"/>
            </a:endParaRPr>
          </a:p>
        </p:txBody>
      </p:sp>
      <p:sp>
        <p:nvSpPr>
          <p:cNvPr id="316" name="Google Shape;316;p17"/>
          <p:cNvSpPr/>
          <p:nvPr/>
        </p:nvSpPr>
        <p:spPr>
          <a:xfrm>
            <a:off x="457200" y="3703320"/>
            <a:ext cx="914400" cy="310896"/>
          </a:xfrm>
          <a:prstGeom prst="roundRect">
            <a:avLst>
              <a:gd name="adj" fmla="val 50000"/>
            </a:avLst>
          </a:prstGeom>
          <a:solidFill>
            <a:srgbClr val="1C8C99"/>
          </a:solidFill>
          <a:ln w="12700" cap="flat" cmpd="sng">
            <a:solidFill>
              <a:srgbClr val="1C8C9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17" name="Google Shape;317;p17"/>
          <p:cNvSpPr/>
          <p:nvPr/>
        </p:nvSpPr>
        <p:spPr>
          <a:xfrm>
            <a:off x="457200" y="370332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PROS</a:t>
            </a:r>
            <a:endParaRPr sz="1100" b="0" i="0" u="none" strike="noStrike" cap="none">
              <a:solidFill>
                <a:srgbClr val="000000"/>
              </a:solidFill>
              <a:latin typeface="Arial"/>
              <a:ea typeface="Arial"/>
              <a:cs typeface="Arial"/>
              <a:sym typeface="Arial"/>
            </a:endParaRPr>
          </a:p>
        </p:txBody>
      </p:sp>
      <p:sp>
        <p:nvSpPr>
          <p:cNvPr id="318" name="Google Shape;318;p17"/>
          <p:cNvSpPr/>
          <p:nvPr/>
        </p:nvSpPr>
        <p:spPr>
          <a:xfrm>
            <a:off x="1463040" y="3703320"/>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Long battery life, low cost, self-healing mesh</a:t>
            </a:r>
            <a:endParaRPr sz="1100" b="0" i="0" u="none" strike="noStrike" cap="none">
              <a:solidFill>
                <a:srgbClr val="000000"/>
              </a:solidFill>
              <a:latin typeface="Arial"/>
              <a:ea typeface="Arial"/>
              <a:cs typeface="Arial"/>
              <a:sym typeface="Arial"/>
            </a:endParaRPr>
          </a:p>
        </p:txBody>
      </p:sp>
      <p:sp>
        <p:nvSpPr>
          <p:cNvPr id="319" name="Google Shape;319;p17"/>
          <p:cNvSpPr/>
          <p:nvPr/>
        </p:nvSpPr>
        <p:spPr>
          <a:xfrm>
            <a:off x="457200" y="4114800"/>
            <a:ext cx="914400" cy="310896"/>
          </a:xfrm>
          <a:prstGeom prst="roundRect">
            <a:avLst>
              <a:gd name="adj" fmla="val 50000"/>
            </a:avLst>
          </a:prstGeom>
          <a:solidFill>
            <a:srgbClr val="F2A900"/>
          </a:solidFill>
          <a:ln w="12700" cap="flat" cmpd="sng">
            <a:solidFill>
              <a:srgbClr val="F2A9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0" name="Google Shape;320;p17"/>
          <p:cNvSpPr/>
          <p:nvPr/>
        </p:nvSpPr>
        <p:spPr>
          <a:xfrm>
            <a:off x="457200" y="411480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CONS</a:t>
            </a:r>
            <a:endParaRPr sz="1100" b="0" i="0" u="none" strike="noStrike" cap="none">
              <a:solidFill>
                <a:srgbClr val="000000"/>
              </a:solidFill>
              <a:latin typeface="Arial"/>
              <a:ea typeface="Arial"/>
              <a:cs typeface="Arial"/>
              <a:sym typeface="Arial"/>
            </a:endParaRPr>
          </a:p>
        </p:txBody>
      </p:sp>
      <p:sp>
        <p:nvSpPr>
          <p:cNvPr id="321" name="Google Shape;321;p17"/>
          <p:cNvSpPr/>
          <p:nvPr/>
        </p:nvSpPr>
        <p:spPr>
          <a:xfrm>
            <a:off x="1463040" y="4114800"/>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Low data rate, short range of 10 to 100 m</a:t>
            </a:r>
            <a:endParaRPr sz="1100" b="0" i="0" u="none" strike="noStrike" cap="none">
              <a:solidFill>
                <a:srgbClr val="000000"/>
              </a:solidFill>
              <a:latin typeface="Arial"/>
              <a:ea typeface="Arial"/>
              <a:cs typeface="Arial"/>
              <a:sym typeface="Arial"/>
            </a:endParaRPr>
          </a:p>
        </p:txBody>
      </p:sp>
      <p:sp>
        <p:nvSpPr>
          <p:cNvPr id="322" name="Google Shape;322;p17"/>
          <p:cNvSpPr/>
          <p:nvPr/>
        </p:nvSpPr>
        <p:spPr>
          <a:xfrm>
            <a:off x="4754880" y="2377440"/>
            <a:ext cx="393192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1C8C99"/>
                </a:solidFill>
                <a:latin typeface="Arial"/>
                <a:ea typeface="Arial"/>
                <a:cs typeface="Arial"/>
                <a:sym typeface="Arial"/>
              </a:rPr>
              <a:t>[ IMAGE ]</a:t>
            </a:r>
            <a:endParaRPr sz="1600" b="0" i="0" u="none" strike="noStrike" cap="none">
              <a:solidFill>
                <a:srgbClr val="000000"/>
              </a:solidFill>
              <a:latin typeface="Arial"/>
              <a:ea typeface="Arial"/>
              <a:cs typeface="Arial"/>
              <a:sym typeface="Arial"/>
            </a:endParaRPr>
          </a:p>
        </p:txBody>
      </p:sp>
      <p:sp>
        <p:nvSpPr>
          <p:cNvPr id="323" name="Google Shape;323;p17"/>
          <p:cNvSpPr/>
          <p:nvPr/>
        </p:nvSpPr>
        <p:spPr>
          <a:xfrm>
            <a:off x="4754880" y="2834640"/>
            <a:ext cx="3931920" cy="3657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5A6B6E"/>
                </a:solidFill>
                <a:latin typeface="Arial"/>
                <a:ea typeface="Arial"/>
                <a:cs typeface="Arial"/>
                <a:sym typeface="Arial"/>
              </a:rPr>
              <a:t>Zigbee mesh topology</a:t>
            </a:r>
            <a:endParaRPr sz="1200" b="0" i="0" u="none" strike="noStrike" cap="none">
              <a:solidFill>
                <a:srgbClr val="000000"/>
              </a:solidFill>
              <a:latin typeface="Arial"/>
              <a:ea typeface="Arial"/>
              <a:cs typeface="Arial"/>
              <a:sym typeface="Arial"/>
            </a:endParaRPr>
          </a:p>
        </p:txBody>
      </p:sp>
      <p:pic>
        <p:nvPicPr>
          <p:cNvPr id="324" name="Google Shape;324;p17"/>
          <p:cNvPicPr preferRelativeResize="0"/>
          <p:nvPr/>
        </p:nvPicPr>
        <p:blipFill rotWithShape="1">
          <a:blip r:embed="rId3">
            <a:alphaModFix/>
          </a:blip>
          <a:srcRect/>
          <a:stretch/>
        </p:blipFill>
        <p:spPr>
          <a:xfrm>
            <a:off x="4389120" y="809481"/>
            <a:ext cx="4222892" cy="2686680"/>
          </a:xfrm>
          <a:prstGeom prst="rect">
            <a:avLst/>
          </a:prstGeom>
          <a:noFill/>
          <a:ln>
            <a:noFill/>
          </a:ln>
        </p:spPr>
      </p:pic>
      <p:pic>
        <p:nvPicPr>
          <p:cNvPr id="325" name="Google Shape;325;p17"/>
          <p:cNvPicPr preferRelativeResize="0"/>
          <p:nvPr/>
        </p:nvPicPr>
        <p:blipFill rotWithShape="1">
          <a:blip r:embed="rId4">
            <a:alphaModFix/>
          </a:blip>
          <a:srcRect l="9315" r="6176" b="6204"/>
          <a:stretch/>
        </p:blipFill>
        <p:spPr>
          <a:xfrm>
            <a:off x="5014173" y="3496161"/>
            <a:ext cx="2142187" cy="1599664"/>
          </a:xfrm>
          <a:prstGeom prst="rect">
            <a:avLst/>
          </a:prstGeom>
          <a:noFill/>
          <a:ln>
            <a:noFill/>
          </a:ln>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29"/>
        <p:cNvGrpSpPr/>
        <p:nvPr/>
      </p:nvGrpSpPr>
      <p:grpSpPr>
        <a:xfrm>
          <a:off x="0" y="0"/>
          <a:ext cx="0" cy="0"/>
          <a:chOff x="0" y="0"/>
          <a:chExt cx="0" cy="0"/>
        </a:xfrm>
      </p:grpSpPr>
      <p:sp>
        <p:nvSpPr>
          <p:cNvPr id="330" name="Google Shape;330;p18"/>
          <p:cNvSpPr/>
          <p:nvPr/>
        </p:nvSpPr>
        <p:spPr>
          <a:xfrm>
            <a:off x="411480" y="256032"/>
            <a:ext cx="8321040" cy="502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1" i="0" u="none" strike="noStrike" cap="none">
                <a:solidFill>
                  <a:srgbClr val="F2A900"/>
                </a:solidFill>
                <a:latin typeface="Calibri"/>
                <a:ea typeface="Calibri"/>
                <a:cs typeface="Calibri"/>
                <a:sym typeface="Calibri"/>
              </a:rPr>
              <a:t>3.3  </a:t>
            </a:r>
            <a:r>
              <a:rPr lang="en" sz="2300" b="1" i="0" u="none" strike="noStrike" cap="none">
                <a:solidFill>
                  <a:srgbClr val="0F6E78"/>
                </a:solidFill>
                <a:latin typeface="Calibri"/>
                <a:ea typeface="Calibri"/>
                <a:cs typeface="Calibri"/>
                <a:sym typeface="Calibri"/>
              </a:rPr>
              <a:t>5G New Radio (NR)</a:t>
            </a:r>
            <a:endParaRPr sz="2300" b="0" i="0" u="none" strike="noStrike" cap="none">
              <a:solidFill>
                <a:srgbClr val="000000"/>
              </a:solidFill>
              <a:latin typeface="Arial"/>
              <a:ea typeface="Arial"/>
              <a:cs typeface="Arial"/>
              <a:sym typeface="Arial"/>
            </a:endParaRPr>
          </a:p>
        </p:txBody>
      </p:sp>
      <p:sp>
        <p:nvSpPr>
          <p:cNvPr id="331" name="Google Shape;331;p18"/>
          <p:cNvSpPr/>
          <p:nvPr/>
        </p:nvSpPr>
        <p:spPr>
          <a:xfrm>
            <a:off x="411480" y="749808"/>
            <a:ext cx="8321040" cy="2286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2" name="Google Shape;332;p18"/>
          <p:cNvSpPr/>
          <p:nvPr/>
        </p:nvSpPr>
        <p:spPr>
          <a:xfrm>
            <a:off x="457200" y="1051560"/>
            <a:ext cx="3931920" cy="2377440"/>
          </a:xfrm>
          <a:prstGeom prst="rect">
            <a:avLst/>
          </a:prstGeom>
          <a:noFill/>
          <a:ln>
            <a:noFill/>
          </a:ln>
        </p:spPr>
        <p:txBody>
          <a:bodyPr spcFirstLastPara="1" wrap="square" lIns="91425" tIns="45700" rIns="91425" bIns="45700" anchor="ctr" anchorCtr="0">
            <a:noAutofit/>
          </a:bodyPr>
          <a:lstStyle/>
          <a:p>
            <a:pPr marL="342900" marR="0" lvl="0" indent="-342900" algn="l" rtl="0">
              <a:lnSpc>
                <a:spcPct val="100000"/>
              </a:lnSpc>
              <a:spcBef>
                <a:spcPts val="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Standardised by 3GPP, uses licensed bands</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Three classes: eMBB, mMTC, URLLC</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URLLC reaches under 1 ms at 99.999%</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Private campus networks kept on site</a:t>
            </a:r>
            <a:endParaRPr sz="1500" b="0" i="0" u="none" strike="noStrike" cap="none" dirty="0">
              <a:solidFill>
                <a:srgbClr val="000000"/>
              </a:solidFill>
              <a:latin typeface="Arial"/>
              <a:ea typeface="Arial"/>
              <a:cs typeface="Arial"/>
              <a:sym typeface="Arial"/>
            </a:endParaRPr>
          </a:p>
          <a:p>
            <a:pPr marL="342900" marR="0" lvl="0" indent="-342900" algn="l" rtl="0">
              <a:lnSpc>
                <a:spcPct val="100000"/>
              </a:lnSpc>
              <a:spcBef>
                <a:spcPts val="1000"/>
              </a:spcBef>
              <a:spcAft>
                <a:spcPts val="0"/>
              </a:spcAft>
              <a:buClr>
                <a:srgbClr val="000000"/>
              </a:buClr>
              <a:buSzPts val="1500"/>
              <a:buFont typeface="Arial"/>
              <a:buChar char="•"/>
            </a:pPr>
            <a:r>
              <a:rPr lang="en" sz="1500" b="0" i="0" u="none" strike="noStrike" cap="none" dirty="0">
                <a:solidFill>
                  <a:srgbClr val="243B40"/>
                </a:solidFill>
                <a:latin typeface="Calibri"/>
                <a:ea typeface="Calibri"/>
                <a:cs typeface="Calibri"/>
                <a:sym typeface="Calibri"/>
              </a:rPr>
              <a:t>Acts as a TSN bridge from Release 16</a:t>
            </a:r>
            <a:endParaRPr sz="1500" b="0" i="0" u="none" strike="noStrike" cap="none" dirty="0">
              <a:solidFill>
                <a:srgbClr val="000000"/>
              </a:solidFill>
              <a:latin typeface="Arial"/>
              <a:ea typeface="Arial"/>
              <a:cs typeface="Arial"/>
              <a:sym typeface="Arial"/>
            </a:endParaRPr>
          </a:p>
        </p:txBody>
      </p:sp>
      <p:sp>
        <p:nvSpPr>
          <p:cNvPr id="333" name="Google Shape;333;p18"/>
          <p:cNvSpPr/>
          <p:nvPr/>
        </p:nvSpPr>
        <p:spPr>
          <a:xfrm>
            <a:off x="4102032" y="4177370"/>
            <a:ext cx="914400" cy="310896"/>
          </a:xfrm>
          <a:prstGeom prst="roundRect">
            <a:avLst>
              <a:gd name="adj" fmla="val 50000"/>
            </a:avLst>
          </a:prstGeom>
          <a:solidFill>
            <a:srgbClr val="1C8C99"/>
          </a:solidFill>
          <a:ln w="12700" cap="flat" cmpd="sng">
            <a:solidFill>
              <a:srgbClr val="1C8C99"/>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4" name="Google Shape;334;p18"/>
          <p:cNvSpPr/>
          <p:nvPr/>
        </p:nvSpPr>
        <p:spPr>
          <a:xfrm>
            <a:off x="4102032" y="417737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PROS</a:t>
            </a:r>
            <a:endParaRPr sz="1100" b="0" i="0" u="none" strike="noStrike" cap="none">
              <a:solidFill>
                <a:srgbClr val="000000"/>
              </a:solidFill>
              <a:latin typeface="Arial"/>
              <a:ea typeface="Arial"/>
              <a:cs typeface="Arial"/>
              <a:sym typeface="Arial"/>
            </a:endParaRPr>
          </a:p>
        </p:txBody>
      </p:sp>
      <p:sp>
        <p:nvSpPr>
          <p:cNvPr id="335" name="Google Shape;335;p18"/>
          <p:cNvSpPr/>
          <p:nvPr/>
        </p:nvSpPr>
        <p:spPr>
          <a:xfrm>
            <a:off x="5035321" y="4232953"/>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Licensed spectrum, deterministic, private networks</a:t>
            </a:r>
            <a:endParaRPr sz="1100" b="0" i="0" u="none" strike="noStrike" cap="none">
              <a:solidFill>
                <a:srgbClr val="000000"/>
              </a:solidFill>
              <a:latin typeface="Arial"/>
              <a:ea typeface="Arial"/>
              <a:cs typeface="Arial"/>
              <a:sym typeface="Arial"/>
            </a:endParaRPr>
          </a:p>
        </p:txBody>
      </p:sp>
      <p:sp>
        <p:nvSpPr>
          <p:cNvPr id="336" name="Google Shape;336;p18"/>
          <p:cNvSpPr/>
          <p:nvPr/>
        </p:nvSpPr>
        <p:spPr>
          <a:xfrm>
            <a:off x="4102032" y="4588850"/>
            <a:ext cx="914400" cy="310896"/>
          </a:xfrm>
          <a:prstGeom prst="roundRect">
            <a:avLst>
              <a:gd name="adj" fmla="val 50000"/>
            </a:avLst>
          </a:prstGeom>
          <a:solidFill>
            <a:srgbClr val="F2A900"/>
          </a:solidFill>
          <a:ln w="12700" cap="flat" cmpd="sng">
            <a:solidFill>
              <a:srgbClr val="F2A900"/>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37" name="Google Shape;337;p18"/>
          <p:cNvSpPr/>
          <p:nvPr/>
        </p:nvSpPr>
        <p:spPr>
          <a:xfrm>
            <a:off x="4102032" y="4588850"/>
            <a:ext cx="914400" cy="310896"/>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en" sz="1100" b="1" i="0" u="none" strike="noStrike" cap="none">
                <a:solidFill>
                  <a:srgbClr val="FFFFFF"/>
                </a:solidFill>
                <a:latin typeface="Arial"/>
                <a:ea typeface="Arial"/>
                <a:cs typeface="Arial"/>
                <a:sym typeface="Arial"/>
              </a:rPr>
              <a:t>CONS</a:t>
            </a:r>
            <a:endParaRPr sz="1100" b="0" i="0" u="none" strike="noStrike" cap="none">
              <a:solidFill>
                <a:srgbClr val="000000"/>
              </a:solidFill>
              <a:latin typeface="Arial"/>
              <a:ea typeface="Arial"/>
              <a:cs typeface="Arial"/>
              <a:sym typeface="Arial"/>
            </a:endParaRPr>
          </a:p>
        </p:txBody>
      </p:sp>
      <p:sp>
        <p:nvSpPr>
          <p:cNvPr id="338" name="Google Shape;338;p18"/>
          <p:cNvSpPr/>
          <p:nvPr/>
        </p:nvSpPr>
        <p:spPr>
          <a:xfrm>
            <a:off x="5016432" y="4599432"/>
            <a:ext cx="3017520" cy="310896"/>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100"/>
              <a:buFont typeface="Arial"/>
              <a:buNone/>
            </a:pPr>
            <a:r>
              <a:rPr lang="en" sz="1100" b="0" i="0" u="none" strike="noStrike" cap="none">
                <a:solidFill>
                  <a:srgbClr val="5A6B6E"/>
                </a:solidFill>
                <a:latin typeface="Arial"/>
                <a:ea typeface="Arial"/>
                <a:cs typeface="Arial"/>
                <a:sym typeface="Arial"/>
              </a:rPr>
              <a:t>Costly, complex, power-hungry</a:t>
            </a:r>
            <a:endParaRPr sz="1100" b="0" i="0" u="none" strike="noStrike" cap="none">
              <a:solidFill>
                <a:srgbClr val="000000"/>
              </a:solidFill>
              <a:latin typeface="Arial"/>
              <a:ea typeface="Arial"/>
              <a:cs typeface="Arial"/>
              <a:sym typeface="Arial"/>
            </a:endParaRPr>
          </a:p>
        </p:txBody>
      </p:sp>
      <p:sp>
        <p:nvSpPr>
          <p:cNvPr id="339" name="Google Shape;339;p18"/>
          <p:cNvSpPr/>
          <p:nvPr/>
        </p:nvSpPr>
        <p:spPr>
          <a:xfrm>
            <a:off x="4754880" y="2377440"/>
            <a:ext cx="3931920" cy="45720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en" sz="1600" b="1" i="0" u="none" strike="noStrike" cap="none">
                <a:solidFill>
                  <a:srgbClr val="1C8C99"/>
                </a:solidFill>
                <a:latin typeface="Arial"/>
                <a:ea typeface="Arial"/>
                <a:cs typeface="Arial"/>
                <a:sym typeface="Arial"/>
              </a:rPr>
              <a:t>[ IMAGE ]</a:t>
            </a:r>
            <a:endParaRPr sz="1600" b="0" i="0" u="none" strike="noStrike" cap="none">
              <a:solidFill>
                <a:srgbClr val="000000"/>
              </a:solidFill>
              <a:latin typeface="Arial"/>
              <a:ea typeface="Arial"/>
              <a:cs typeface="Arial"/>
              <a:sym typeface="Arial"/>
            </a:endParaRPr>
          </a:p>
        </p:txBody>
      </p:sp>
      <p:sp>
        <p:nvSpPr>
          <p:cNvPr id="340" name="Google Shape;340;p18"/>
          <p:cNvSpPr/>
          <p:nvPr/>
        </p:nvSpPr>
        <p:spPr>
          <a:xfrm>
            <a:off x="4754880" y="2834640"/>
            <a:ext cx="3931920" cy="365760"/>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en" sz="1200" b="0" i="1" u="none" strike="noStrike" cap="none">
                <a:solidFill>
                  <a:srgbClr val="5A6B6E"/>
                </a:solidFill>
                <a:latin typeface="Arial"/>
                <a:ea typeface="Arial"/>
                <a:cs typeface="Arial"/>
                <a:sym typeface="Arial"/>
              </a:rPr>
              <a:t>Private 5G campus network</a:t>
            </a:r>
            <a:endParaRPr sz="1200" b="0" i="0" u="none" strike="noStrike" cap="none">
              <a:solidFill>
                <a:srgbClr val="000000"/>
              </a:solidFill>
              <a:latin typeface="Arial"/>
              <a:ea typeface="Arial"/>
              <a:cs typeface="Arial"/>
              <a:sym typeface="Arial"/>
            </a:endParaRPr>
          </a:p>
        </p:txBody>
      </p:sp>
      <p:pic>
        <p:nvPicPr>
          <p:cNvPr id="341" name="Google Shape;341;p18"/>
          <p:cNvPicPr preferRelativeResize="0"/>
          <p:nvPr/>
        </p:nvPicPr>
        <p:blipFill rotWithShape="1">
          <a:blip r:embed="rId3">
            <a:alphaModFix/>
          </a:blip>
          <a:srcRect/>
          <a:stretch/>
        </p:blipFill>
        <p:spPr>
          <a:xfrm>
            <a:off x="4348376" y="1382332"/>
            <a:ext cx="4271344" cy="2553935"/>
          </a:xfrm>
          <a:prstGeom prst="rect">
            <a:avLst/>
          </a:prstGeom>
          <a:noFill/>
          <a:ln>
            <a:noFill/>
          </a:ln>
        </p:spPr>
      </p:pic>
      <p:pic>
        <p:nvPicPr>
          <p:cNvPr id="342" name="Google Shape;342;p18" descr="5G new radio fixed wireless access portfolio introduced | Electronics360"/>
          <p:cNvPicPr preferRelativeResize="0"/>
          <p:nvPr/>
        </p:nvPicPr>
        <p:blipFill rotWithShape="1">
          <a:blip r:embed="rId4">
            <a:alphaModFix/>
          </a:blip>
          <a:srcRect l="27411" t="7198" r="19975" b="4925"/>
          <a:stretch/>
        </p:blipFill>
        <p:spPr>
          <a:xfrm rot="-158101">
            <a:off x="976344" y="3087595"/>
            <a:ext cx="2201523" cy="1890086"/>
          </a:xfrm>
          <a:prstGeom prst="rect">
            <a:avLst/>
          </a:prstGeom>
          <a:noFill/>
          <a:ln>
            <a:noFill/>
          </a:ln>
        </p:spPr>
      </p:pic>
    </p:spTree>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346"/>
        <p:cNvGrpSpPr/>
        <p:nvPr/>
      </p:nvGrpSpPr>
      <p:grpSpPr>
        <a:xfrm>
          <a:off x="0" y="0"/>
          <a:ext cx="0" cy="0"/>
          <a:chOff x="0" y="0"/>
          <a:chExt cx="0" cy="0"/>
        </a:xfrm>
      </p:grpSpPr>
      <p:sp>
        <p:nvSpPr>
          <p:cNvPr id="347" name="Google Shape;347;p19"/>
          <p:cNvSpPr/>
          <p:nvPr/>
        </p:nvSpPr>
        <p:spPr>
          <a:xfrm>
            <a:off x="411480" y="225804"/>
            <a:ext cx="8321040" cy="50292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1" i="0" u="none" strike="noStrike" cap="none" dirty="0">
                <a:solidFill>
                  <a:srgbClr val="F2A900"/>
                </a:solidFill>
                <a:latin typeface="Calibri"/>
                <a:ea typeface="Calibri"/>
                <a:cs typeface="Calibri"/>
                <a:sym typeface="Calibri"/>
              </a:rPr>
              <a:t>3.4  </a:t>
            </a:r>
            <a:r>
              <a:rPr lang="en" sz="2300" b="1" i="0" u="none" strike="noStrike" cap="none" dirty="0">
                <a:solidFill>
                  <a:srgbClr val="0F6E78"/>
                </a:solidFill>
                <a:latin typeface="Calibri"/>
                <a:ea typeface="Calibri"/>
                <a:cs typeface="Calibri"/>
                <a:sym typeface="Calibri"/>
              </a:rPr>
              <a:t>Standards at a Glance</a:t>
            </a:r>
            <a:endParaRPr sz="2300" b="0" i="0" u="none" strike="noStrike" cap="none" dirty="0">
              <a:solidFill>
                <a:srgbClr val="000000"/>
              </a:solidFill>
              <a:latin typeface="Arial"/>
              <a:ea typeface="Arial"/>
              <a:cs typeface="Arial"/>
              <a:sym typeface="Arial"/>
            </a:endParaRPr>
          </a:p>
        </p:txBody>
      </p:sp>
      <p:sp>
        <p:nvSpPr>
          <p:cNvPr id="348" name="Google Shape;348;p19"/>
          <p:cNvSpPr/>
          <p:nvPr/>
        </p:nvSpPr>
        <p:spPr>
          <a:xfrm>
            <a:off x="411480" y="749808"/>
            <a:ext cx="8321040" cy="22860"/>
          </a:xfrm>
          <a:prstGeom prst="rect">
            <a:avLst/>
          </a:prstGeom>
          <a:solidFill>
            <a:srgbClr val="0F6E78"/>
          </a:solidFill>
          <a:ln w="12700" cap="flat" cmpd="sng">
            <a:solidFill>
              <a:srgbClr val="0F6E78"/>
            </a:solidFill>
            <a:prstDash val="solid"/>
            <a:round/>
            <a:headEnd type="none" w="sm" len="sm"/>
            <a:tailEnd type="none" w="sm" len="sm"/>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aphicFrame>
        <p:nvGraphicFramePr>
          <p:cNvPr id="349" name="Google Shape;349;p19"/>
          <p:cNvGraphicFramePr/>
          <p:nvPr/>
        </p:nvGraphicFramePr>
        <p:xfrm>
          <a:off x="457200" y="1051560"/>
          <a:ext cx="8229575" cy="2468850"/>
        </p:xfrm>
        <a:graphic>
          <a:graphicData uri="http://schemas.openxmlformats.org/drawingml/2006/table">
            <a:tbl>
              <a:tblPr>
                <a:noFill/>
                <a:tableStyleId>{DA5B0BEF-E4A5-420E-9A7C-63D024ACD285}</a:tableStyleId>
              </a:tblPr>
              <a:tblGrid>
                <a:gridCol w="1645925">
                  <a:extLst>
                    <a:ext uri="{9D8B030D-6E8A-4147-A177-3AD203B41FA5}">
                      <a16:colId xmlns:a16="http://schemas.microsoft.com/office/drawing/2014/main" val="20000"/>
                    </a:ext>
                  </a:extLst>
                </a:gridCol>
                <a:gridCol w="2194550">
                  <a:extLst>
                    <a:ext uri="{9D8B030D-6E8A-4147-A177-3AD203B41FA5}">
                      <a16:colId xmlns:a16="http://schemas.microsoft.com/office/drawing/2014/main" val="20001"/>
                    </a:ext>
                  </a:extLst>
                </a:gridCol>
                <a:gridCol w="2194550">
                  <a:extLst>
                    <a:ext uri="{9D8B030D-6E8A-4147-A177-3AD203B41FA5}">
                      <a16:colId xmlns:a16="http://schemas.microsoft.com/office/drawing/2014/main" val="20002"/>
                    </a:ext>
                  </a:extLst>
                </a:gridCol>
                <a:gridCol w="2194550">
                  <a:extLst>
                    <a:ext uri="{9D8B030D-6E8A-4147-A177-3AD203B41FA5}">
                      <a16:colId xmlns:a16="http://schemas.microsoft.com/office/drawing/2014/main" val="20003"/>
                    </a:ext>
                  </a:extLst>
                </a:gridCol>
              </a:tblGrid>
              <a:tr h="411475">
                <a:tc>
                  <a:txBody>
                    <a:bodyPr/>
                    <a:lstStyle/>
                    <a:p>
                      <a:pPr marL="0" marR="0" lvl="0" indent="0" algn="ctr" rtl="0">
                        <a:lnSpc>
                          <a:spcPct val="100000"/>
                        </a:lnSpc>
                        <a:spcBef>
                          <a:spcPts val="0"/>
                        </a:spcBef>
                        <a:spcAft>
                          <a:spcPts val="0"/>
                        </a:spcAft>
                        <a:buClr>
                          <a:srgbClr val="000000"/>
                        </a:buClr>
                        <a:buSzPts val="1300"/>
                        <a:buFont typeface="Arial"/>
                        <a:buNone/>
                      </a:pPr>
                      <a:endParaRPr sz="13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0F6E78"/>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b="1" u="none" strike="noStrike" cap="none" dirty="0">
                          <a:solidFill>
                            <a:srgbClr val="FFFFFF"/>
                          </a:solidFill>
                        </a:rPr>
                        <a:t>Wi-Fi</a:t>
                      </a:r>
                      <a:endParaRPr sz="1300" u="none" strike="noStrike" cap="none" dirty="0"/>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0F6E78"/>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b="1" u="none" strike="noStrike" cap="none">
                          <a:solidFill>
                            <a:srgbClr val="FFFFFF"/>
                          </a:solidFill>
                        </a:rPr>
                        <a:t>Zigbee</a:t>
                      </a:r>
                      <a:endParaRPr sz="13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0F6E78"/>
                    </a:solidFill>
                  </a:tcPr>
                </a:tc>
                <a:tc>
                  <a:txBody>
                    <a:bodyPr/>
                    <a:lstStyle/>
                    <a:p>
                      <a:pPr marL="0" marR="0" lvl="0" indent="0" algn="ctr" rtl="0">
                        <a:lnSpc>
                          <a:spcPct val="100000"/>
                        </a:lnSpc>
                        <a:spcBef>
                          <a:spcPts val="0"/>
                        </a:spcBef>
                        <a:spcAft>
                          <a:spcPts val="0"/>
                        </a:spcAft>
                        <a:buClr>
                          <a:srgbClr val="000000"/>
                        </a:buClr>
                        <a:buSzPts val="1300"/>
                        <a:buFont typeface="Arial"/>
                        <a:buNone/>
                      </a:pPr>
                      <a:r>
                        <a:rPr lang="en" sz="1300" b="1" u="none" strike="noStrike" cap="none">
                          <a:solidFill>
                            <a:srgbClr val="FFFFFF"/>
                          </a:solidFill>
                        </a:rPr>
                        <a:t>5G NR</a:t>
                      </a:r>
                      <a:endParaRPr sz="13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0F6E78"/>
                    </a:solidFill>
                  </a:tcPr>
                </a:tc>
                <a:extLst>
                  <a:ext uri="{0D108BD9-81ED-4DB2-BD59-A6C34878D82A}">
                    <a16:rowId xmlns:a16="http://schemas.microsoft.com/office/drawing/2014/main" val="10000"/>
                  </a:ext>
                </a:extLst>
              </a:tr>
              <a:tr h="4114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Data rate</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9.6 Gbps</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250 kbps</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Multi-Gbps</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extLst>
                  <a:ext uri="{0D108BD9-81ED-4DB2-BD59-A6C34878D82A}">
                    <a16:rowId xmlns:a16="http://schemas.microsoft.com/office/drawing/2014/main" val="10001"/>
                  </a:ext>
                </a:extLst>
              </a:tr>
              <a:tr h="4114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Latency</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E3F2F3"/>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~5 ms</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E3F2F3"/>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15 to 30 ms</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E3F2F3"/>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&lt; 1 ms</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E3F2F3"/>
                    </a:solidFill>
                  </a:tcPr>
                </a:tc>
                <a:extLst>
                  <a:ext uri="{0D108BD9-81ED-4DB2-BD59-A6C34878D82A}">
                    <a16:rowId xmlns:a16="http://schemas.microsoft.com/office/drawing/2014/main" val="10002"/>
                  </a:ext>
                </a:extLst>
              </a:tr>
              <a:tr h="4114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solidFill>
                            <a:srgbClr val="243B40"/>
                          </a:solidFill>
                        </a:rPr>
                        <a:t>Range</a:t>
                      </a:r>
                      <a:endParaRPr sz="1200" u="none" strike="noStrike" cap="none" dirty="0"/>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solidFill>
                            <a:srgbClr val="243B40"/>
                          </a:solidFill>
                        </a:rPr>
                        <a:t>~100 m</a:t>
                      </a:r>
                      <a:endParaRPr sz="1200" u="none" strike="noStrike" cap="none" dirty="0"/>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10 to 100 m</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Wide / campus</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extLst>
                  <a:ext uri="{0D108BD9-81ED-4DB2-BD59-A6C34878D82A}">
                    <a16:rowId xmlns:a16="http://schemas.microsoft.com/office/drawing/2014/main" val="10003"/>
                  </a:ext>
                </a:extLst>
              </a:tr>
              <a:tr h="4114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Power use</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E3F2F3"/>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solidFill>
                            <a:srgbClr val="243B40"/>
                          </a:solidFill>
                        </a:rPr>
                        <a:t>High</a:t>
                      </a:r>
                      <a:endParaRPr sz="1200" u="none" strike="noStrike" cap="none" dirty="0"/>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E3F2F3"/>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Very low</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E3F2F3"/>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High</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E3F2F3"/>
                    </a:solidFill>
                  </a:tcPr>
                </a:tc>
                <a:extLst>
                  <a:ext uri="{0D108BD9-81ED-4DB2-BD59-A6C34878D82A}">
                    <a16:rowId xmlns:a16="http://schemas.microsoft.com/office/drawing/2014/main" val="10004"/>
                  </a:ext>
                </a:extLst>
              </a:tr>
              <a:tr h="411475">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Best for</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High bandwidth</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a:solidFill>
                            <a:srgbClr val="243B40"/>
                          </a:solidFill>
                        </a:rPr>
                        <a:t>Sensors</a:t>
                      </a:r>
                      <a:endParaRPr sz="1200" u="none" strike="noStrike" cap="none"/>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tc>
                  <a:txBody>
                    <a:bodyPr/>
                    <a:lstStyle/>
                    <a:p>
                      <a:pPr marL="0" marR="0" lvl="0" indent="0" algn="ctr" rtl="0">
                        <a:lnSpc>
                          <a:spcPct val="100000"/>
                        </a:lnSpc>
                        <a:spcBef>
                          <a:spcPts val="0"/>
                        </a:spcBef>
                        <a:spcAft>
                          <a:spcPts val="0"/>
                        </a:spcAft>
                        <a:buClr>
                          <a:srgbClr val="000000"/>
                        </a:buClr>
                        <a:buSzPts val="1200"/>
                        <a:buFont typeface="Arial"/>
                        <a:buNone/>
                      </a:pPr>
                      <a:r>
                        <a:rPr lang="en" sz="1200" u="none" strike="noStrike" cap="none" dirty="0">
                          <a:solidFill>
                            <a:srgbClr val="243B40"/>
                          </a:solidFill>
                        </a:rPr>
                        <a:t>Real-time control</a:t>
                      </a:r>
                      <a:endParaRPr sz="1200" u="none" strike="noStrike" cap="none" dirty="0"/>
                    </a:p>
                  </a:txBody>
                  <a:tcPr marL="91450" marR="91450" marT="45725" marB="45725" anchor="ctr">
                    <a:lnL w="9525" cap="flat" cmpd="sng">
                      <a:solidFill>
                        <a:srgbClr val="C9D6D8"/>
                      </a:solidFill>
                      <a:prstDash val="solid"/>
                      <a:round/>
                      <a:headEnd type="none" w="sm" len="sm"/>
                      <a:tailEnd type="none" w="sm" len="sm"/>
                    </a:lnL>
                    <a:lnR w="9525" cap="flat" cmpd="sng">
                      <a:solidFill>
                        <a:srgbClr val="C9D6D8"/>
                      </a:solidFill>
                      <a:prstDash val="solid"/>
                      <a:round/>
                      <a:headEnd type="none" w="sm" len="sm"/>
                      <a:tailEnd type="none" w="sm" len="sm"/>
                    </a:lnR>
                    <a:lnT w="9525" cap="flat" cmpd="sng">
                      <a:solidFill>
                        <a:srgbClr val="C9D6D8"/>
                      </a:solidFill>
                      <a:prstDash val="solid"/>
                      <a:round/>
                      <a:headEnd type="none" w="sm" len="sm"/>
                      <a:tailEnd type="none" w="sm" len="sm"/>
                    </a:lnT>
                    <a:lnB w="9525" cap="flat" cmpd="sng">
                      <a:solidFill>
                        <a:srgbClr val="C9D6D8"/>
                      </a:solidFill>
                      <a:prstDash val="solid"/>
                      <a:round/>
                      <a:headEnd type="none" w="sm" len="sm"/>
                      <a:tailEnd type="none" w="sm" len="sm"/>
                    </a:lnB>
                    <a:solidFill>
                      <a:srgbClr val="FFFFFF"/>
                    </a:solidFill>
                  </a:tcPr>
                </a:tc>
                <a:extLst>
                  <a:ext uri="{0D108BD9-81ED-4DB2-BD59-A6C34878D82A}">
                    <a16:rowId xmlns:a16="http://schemas.microsoft.com/office/drawing/2014/main" val="10005"/>
                  </a:ext>
                </a:extLst>
              </a:tr>
            </a:tbl>
          </a:graphicData>
        </a:graphic>
      </p:graphicFrame>
      <p:sp>
        <p:nvSpPr>
          <p:cNvPr id="350" name="Google Shape;350;p19"/>
          <p:cNvSpPr/>
          <p:nvPr/>
        </p:nvSpPr>
        <p:spPr>
          <a:xfrm>
            <a:off x="457200" y="3794760"/>
            <a:ext cx="8229600" cy="777240"/>
          </a:xfrm>
          <a:prstGeom prst="roundRect">
            <a:avLst>
              <a:gd name="adj" fmla="val 9412"/>
            </a:avLst>
          </a:prstGeom>
          <a:solidFill>
            <a:srgbClr val="E3F2F3"/>
          </a:solidFill>
          <a:ln w="12700" cap="flat" cmpd="sng">
            <a:solidFill>
              <a:srgbClr val="1C8C99"/>
            </a:solidFill>
            <a:prstDash val="solid"/>
            <a:round/>
            <a:headEnd type="none" w="sm" len="sm"/>
            <a:tailEnd type="none" w="sm" len="sm"/>
          </a:ln>
          <a:effectLst>
            <a:outerShdw blurRad="63500" dist="25400" dir="5400000" algn="bl" rotWithShape="0">
              <a:srgbClr val="000000">
                <a:alpha val="10196"/>
              </a:srgbClr>
            </a:outerShdw>
          </a:effectLst>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51" name="Google Shape;351;p19"/>
          <p:cNvSpPr/>
          <p:nvPr/>
        </p:nvSpPr>
        <p:spPr>
          <a:xfrm>
            <a:off x="731520" y="3794760"/>
            <a:ext cx="7680960" cy="77724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1" i="0" u="none" strike="noStrike" cap="none">
                <a:solidFill>
                  <a:srgbClr val="0F6E78"/>
                </a:solidFill>
                <a:latin typeface="Calibri"/>
                <a:ea typeface="Calibri"/>
                <a:cs typeface="Calibri"/>
                <a:sym typeface="Calibri"/>
              </a:rPr>
              <a:t>Takeaway:  </a:t>
            </a:r>
            <a:r>
              <a:rPr lang="en" sz="1400" b="0" i="0" u="none" strike="noStrike" cap="none">
                <a:solidFill>
                  <a:srgbClr val="243B40"/>
                </a:solidFill>
                <a:latin typeface="Calibri"/>
                <a:ea typeface="Calibri"/>
                <a:cs typeface="Calibri"/>
                <a:sym typeface="Calibri"/>
              </a:rPr>
              <a:t>no single standard fits every need, so factories mix all three by use case.</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56"/>
        <p:cNvGrpSpPr/>
        <p:nvPr/>
      </p:nvGrpSpPr>
      <p:grpSpPr>
        <a:xfrm>
          <a:off x="0" y="0"/>
          <a:ext cx="0" cy="0"/>
          <a:chOff x="0" y="0"/>
          <a:chExt cx="0" cy="0"/>
        </a:xfrm>
      </p:grpSpPr>
      <p:sp>
        <p:nvSpPr>
          <p:cNvPr id="357" name="Google Shape;357;p20"/>
          <p:cNvSpPr/>
          <p:nvPr/>
        </p:nvSpPr>
        <p:spPr>
          <a:xfrm>
            <a:off x="540023" y="426839"/>
            <a:ext cx="6461671" cy="40853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2550"/>
              <a:buFont typeface="Comfortaa"/>
              <a:buNone/>
            </a:pPr>
            <a:r>
              <a:rPr lang="en" sz="2550" b="1" i="0" u="none" strike="noStrike" cap="none">
                <a:solidFill>
                  <a:srgbClr val="1B2DBA"/>
                </a:solidFill>
                <a:latin typeface="Comfortaa"/>
                <a:ea typeface="Comfortaa"/>
                <a:cs typeface="Comfortaa"/>
                <a:sym typeface="Comfortaa"/>
              </a:rPr>
              <a:t>No Single Standard Fits Everything</a:t>
            </a:r>
            <a:endParaRPr sz="2550" b="0" i="0" u="none" strike="noStrike" cap="none">
              <a:solidFill>
                <a:schemeClr val="dk1"/>
              </a:solidFill>
              <a:latin typeface="Calibri"/>
              <a:ea typeface="Calibri"/>
              <a:cs typeface="Calibri"/>
              <a:sym typeface="Calibri"/>
            </a:endParaRPr>
          </a:p>
        </p:txBody>
      </p:sp>
      <p:sp>
        <p:nvSpPr>
          <p:cNvPr id="358" name="Google Shape;358;p20"/>
          <p:cNvSpPr/>
          <p:nvPr/>
        </p:nvSpPr>
        <p:spPr>
          <a:xfrm>
            <a:off x="540023" y="1115690"/>
            <a:ext cx="8521154"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The core finding: </a:t>
            </a:r>
            <a:r>
              <a:rPr lang="en" sz="1150" b="1" i="0" u="none" strike="noStrike" cap="none">
                <a:solidFill>
                  <a:srgbClr val="000000"/>
                </a:solidFill>
                <a:latin typeface="Raleway Medium"/>
                <a:ea typeface="Raleway Medium"/>
                <a:cs typeface="Raleway Medium"/>
                <a:sym typeface="Raleway Medium"/>
              </a:rPr>
              <a:t>each standard excels in a different domain.</a:t>
            </a:r>
            <a:r>
              <a:rPr lang="en" sz="1150" b="0" i="0" u="none" strike="noStrike" cap="none">
                <a:solidFill>
                  <a:srgbClr val="000000"/>
                </a:solidFill>
                <a:latin typeface="Raleway Medium"/>
                <a:ea typeface="Raleway Medium"/>
                <a:cs typeface="Raleway Medium"/>
                <a:sym typeface="Raleway Medium"/>
              </a:rPr>
              <a:t> Smart factories require a hybrid wireless architecture.</a:t>
            </a:r>
            <a:endParaRPr sz="1150" b="0" i="0" u="none" strike="noStrike" cap="none">
              <a:solidFill>
                <a:schemeClr val="dk1"/>
              </a:solidFill>
              <a:latin typeface="Calibri"/>
              <a:ea typeface="Calibri"/>
              <a:cs typeface="Calibri"/>
              <a:sym typeface="Calibri"/>
            </a:endParaRPr>
          </a:p>
        </p:txBody>
      </p:sp>
      <p:sp>
        <p:nvSpPr>
          <p:cNvPr id="359" name="Google Shape;359;p20"/>
          <p:cNvSpPr/>
          <p:nvPr/>
        </p:nvSpPr>
        <p:spPr>
          <a:xfrm>
            <a:off x="540023" y="1503090"/>
            <a:ext cx="8063954" cy="2342629"/>
          </a:xfrm>
          <a:prstGeom prst="roundRect">
            <a:avLst>
              <a:gd name="adj" fmla="val 9417"/>
            </a:avLst>
          </a:prstGeom>
          <a:noFill/>
          <a:ln w="9525" cap="flat" cmpd="sng">
            <a:solidFill>
              <a:srgbClr val="000000">
                <a:alpha val="7843"/>
              </a:srgbClr>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0" name="Google Shape;360;p20"/>
          <p:cNvSpPr/>
          <p:nvPr/>
        </p:nvSpPr>
        <p:spPr>
          <a:xfrm>
            <a:off x="691976" y="1596703"/>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Standard</a:t>
            </a:r>
            <a:endParaRPr sz="1150" b="0" i="0" u="none" strike="noStrike" cap="none">
              <a:solidFill>
                <a:schemeClr val="dk1"/>
              </a:solidFill>
              <a:latin typeface="Calibri"/>
              <a:ea typeface="Calibri"/>
              <a:cs typeface="Calibri"/>
              <a:sym typeface="Calibri"/>
            </a:endParaRPr>
          </a:p>
        </p:txBody>
      </p:sp>
      <p:sp>
        <p:nvSpPr>
          <p:cNvPr id="361" name="Google Shape;361;p20"/>
          <p:cNvSpPr/>
          <p:nvPr/>
        </p:nvSpPr>
        <p:spPr>
          <a:xfrm>
            <a:off x="2949550" y="1596703"/>
            <a:ext cx="3702248"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Best Suited For</a:t>
            </a:r>
            <a:endParaRPr sz="1150" b="0" i="0" u="none" strike="noStrike" cap="none">
              <a:solidFill>
                <a:schemeClr val="dk1"/>
              </a:solidFill>
              <a:latin typeface="Calibri"/>
              <a:ea typeface="Calibri"/>
              <a:cs typeface="Calibri"/>
              <a:sym typeface="Calibri"/>
            </a:endParaRPr>
          </a:p>
        </p:txBody>
      </p:sp>
      <p:sp>
        <p:nvSpPr>
          <p:cNvPr id="362" name="Google Shape;362;p20"/>
          <p:cNvSpPr/>
          <p:nvPr/>
        </p:nvSpPr>
        <p:spPr>
          <a:xfrm>
            <a:off x="6493446" y="1596703"/>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Main Limitation</a:t>
            </a:r>
            <a:endParaRPr sz="1150" b="0" i="0" u="none" strike="noStrike" cap="none">
              <a:solidFill>
                <a:schemeClr val="dk1"/>
              </a:solidFill>
              <a:latin typeface="Calibri"/>
              <a:ea typeface="Calibri"/>
              <a:cs typeface="Calibri"/>
              <a:sym typeface="Calibri"/>
            </a:endParaRPr>
          </a:p>
        </p:txBody>
      </p:sp>
      <p:sp>
        <p:nvSpPr>
          <p:cNvPr id="363" name="Google Shape;363;p20"/>
          <p:cNvSpPr/>
          <p:nvPr/>
        </p:nvSpPr>
        <p:spPr>
          <a:xfrm>
            <a:off x="691976" y="2008882"/>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Wi-Fi 6/7</a:t>
            </a:r>
            <a:endParaRPr sz="1150" b="0" i="0" u="none" strike="noStrike" cap="none">
              <a:solidFill>
                <a:schemeClr val="dk1"/>
              </a:solidFill>
              <a:latin typeface="Calibri"/>
              <a:ea typeface="Calibri"/>
              <a:cs typeface="Calibri"/>
              <a:sym typeface="Calibri"/>
            </a:endParaRPr>
          </a:p>
        </p:txBody>
      </p:sp>
      <p:sp>
        <p:nvSpPr>
          <p:cNvPr id="364" name="Google Shape;364;p20"/>
          <p:cNvSpPr/>
          <p:nvPr/>
        </p:nvSpPr>
        <p:spPr>
          <a:xfrm>
            <a:off x="2949550" y="2008882"/>
            <a:ext cx="3245048" cy="4594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High-bandwidth mobile tasks: AGVs, machine vision, video monitoring</a:t>
            </a:r>
            <a:endParaRPr sz="1150" b="0" i="0" u="none" strike="noStrike" cap="none">
              <a:solidFill>
                <a:schemeClr val="dk1"/>
              </a:solidFill>
              <a:latin typeface="Calibri"/>
              <a:ea typeface="Calibri"/>
              <a:cs typeface="Calibri"/>
              <a:sym typeface="Calibri"/>
            </a:endParaRPr>
          </a:p>
        </p:txBody>
      </p:sp>
      <p:sp>
        <p:nvSpPr>
          <p:cNvPr id="365" name="Google Shape;365;p20"/>
          <p:cNvSpPr/>
          <p:nvPr/>
        </p:nvSpPr>
        <p:spPr>
          <a:xfrm>
            <a:off x="6493446" y="2008882"/>
            <a:ext cx="1958727" cy="4594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Shared spectrum, variable reliability</a:t>
            </a:r>
            <a:endParaRPr sz="1150" b="0" i="0" u="none" strike="noStrike" cap="none">
              <a:solidFill>
                <a:schemeClr val="dk1"/>
              </a:solidFill>
              <a:latin typeface="Calibri"/>
              <a:ea typeface="Calibri"/>
              <a:cs typeface="Calibri"/>
              <a:sym typeface="Calibri"/>
            </a:endParaRPr>
          </a:p>
        </p:txBody>
      </p:sp>
      <p:sp>
        <p:nvSpPr>
          <p:cNvPr id="366" name="Google Shape;366;p20"/>
          <p:cNvSpPr/>
          <p:nvPr/>
        </p:nvSpPr>
        <p:spPr>
          <a:xfrm>
            <a:off x="691976" y="2650778"/>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Zigbee</a:t>
            </a:r>
            <a:endParaRPr sz="1150" b="0" i="0" u="none" strike="noStrike" cap="none">
              <a:solidFill>
                <a:schemeClr val="dk1"/>
              </a:solidFill>
              <a:latin typeface="Calibri"/>
              <a:ea typeface="Calibri"/>
              <a:cs typeface="Calibri"/>
              <a:sym typeface="Calibri"/>
            </a:endParaRPr>
          </a:p>
        </p:txBody>
      </p:sp>
      <p:sp>
        <p:nvSpPr>
          <p:cNvPr id="367" name="Google Shape;367;p20"/>
          <p:cNvSpPr/>
          <p:nvPr/>
        </p:nvSpPr>
        <p:spPr>
          <a:xfrm>
            <a:off x="2949550" y="2650778"/>
            <a:ext cx="3245048" cy="4594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Low-power sensors: environmental monitoring, asset tracking</a:t>
            </a:r>
            <a:endParaRPr sz="1150" b="0" i="0" u="none" strike="noStrike" cap="none">
              <a:solidFill>
                <a:schemeClr val="dk1"/>
              </a:solidFill>
              <a:latin typeface="Calibri"/>
              <a:ea typeface="Calibri"/>
              <a:cs typeface="Calibri"/>
              <a:sym typeface="Calibri"/>
            </a:endParaRPr>
          </a:p>
        </p:txBody>
      </p:sp>
      <p:sp>
        <p:nvSpPr>
          <p:cNvPr id="368" name="Google Shape;368;p20"/>
          <p:cNvSpPr/>
          <p:nvPr/>
        </p:nvSpPr>
        <p:spPr>
          <a:xfrm>
            <a:off x="6493446" y="2650778"/>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Low data rate</a:t>
            </a:r>
            <a:endParaRPr sz="1150" b="0" i="0" u="none" strike="noStrike" cap="none">
              <a:solidFill>
                <a:schemeClr val="dk1"/>
              </a:solidFill>
              <a:latin typeface="Calibri"/>
              <a:ea typeface="Calibri"/>
              <a:cs typeface="Calibri"/>
              <a:sym typeface="Calibri"/>
            </a:endParaRPr>
          </a:p>
        </p:txBody>
      </p:sp>
      <p:sp>
        <p:nvSpPr>
          <p:cNvPr id="369" name="Google Shape;369;p20"/>
          <p:cNvSpPr/>
          <p:nvPr/>
        </p:nvSpPr>
        <p:spPr>
          <a:xfrm>
            <a:off x="691976" y="3292673"/>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5G NR</a:t>
            </a:r>
            <a:endParaRPr sz="1150" b="0" i="0" u="none" strike="noStrike" cap="none">
              <a:solidFill>
                <a:schemeClr val="dk1"/>
              </a:solidFill>
              <a:latin typeface="Calibri"/>
              <a:ea typeface="Calibri"/>
              <a:cs typeface="Calibri"/>
              <a:sym typeface="Calibri"/>
            </a:endParaRPr>
          </a:p>
        </p:txBody>
      </p:sp>
      <p:sp>
        <p:nvSpPr>
          <p:cNvPr id="370" name="Google Shape;370;p20"/>
          <p:cNvSpPr/>
          <p:nvPr/>
        </p:nvSpPr>
        <p:spPr>
          <a:xfrm>
            <a:off x="2949550" y="3292673"/>
            <a:ext cx="3245048" cy="459432"/>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Real-time control via URLLC in private campus networks</a:t>
            </a:r>
            <a:endParaRPr sz="1150" b="0" i="0" u="none" strike="noStrike" cap="none">
              <a:solidFill>
                <a:schemeClr val="dk1"/>
              </a:solidFill>
              <a:latin typeface="Calibri"/>
              <a:ea typeface="Calibri"/>
              <a:cs typeface="Calibri"/>
              <a:sym typeface="Calibri"/>
            </a:endParaRPr>
          </a:p>
        </p:txBody>
      </p:sp>
      <p:sp>
        <p:nvSpPr>
          <p:cNvPr id="371" name="Google Shape;371;p20"/>
          <p:cNvSpPr/>
          <p:nvPr/>
        </p:nvSpPr>
        <p:spPr>
          <a:xfrm>
            <a:off x="6493446" y="3292673"/>
            <a:ext cx="2415927"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0" i="0" u="none" strike="noStrike" cap="none">
                <a:solidFill>
                  <a:srgbClr val="000000"/>
                </a:solidFill>
                <a:latin typeface="Raleway Medium"/>
                <a:ea typeface="Raleway Medium"/>
                <a:cs typeface="Raleway Medium"/>
                <a:sym typeface="Raleway Medium"/>
              </a:rPr>
              <a:t>Higher cost &amp; complexity</a:t>
            </a:r>
            <a:endParaRPr sz="1150" b="0" i="0" u="none" strike="noStrike" cap="none">
              <a:solidFill>
                <a:schemeClr val="dk1"/>
              </a:solidFill>
              <a:latin typeface="Calibri"/>
              <a:ea typeface="Calibri"/>
              <a:cs typeface="Calibri"/>
              <a:sym typeface="Calibri"/>
            </a:endParaRPr>
          </a:p>
        </p:txBody>
      </p:sp>
      <p:sp>
        <p:nvSpPr>
          <p:cNvPr id="372" name="Google Shape;372;p20"/>
          <p:cNvSpPr/>
          <p:nvPr/>
        </p:nvSpPr>
        <p:spPr>
          <a:xfrm>
            <a:off x="540023" y="4003402"/>
            <a:ext cx="8063954" cy="555501"/>
          </a:xfrm>
          <a:prstGeom prst="roundRect">
            <a:avLst>
              <a:gd name="adj" fmla="val 39713"/>
            </a:avLst>
          </a:prstGeom>
          <a:solidFill>
            <a:srgbClr val="D9D9D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pic>
        <p:nvPicPr>
          <p:cNvPr id="373" name="Google Shape;373;p20" descr="preencoded.png"/>
          <p:cNvPicPr preferRelativeResize="0"/>
          <p:nvPr/>
        </p:nvPicPr>
        <p:blipFill rotWithShape="1">
          <a:blip r:embed="rId3">
            <a:alphaModFix/>
          </a:blip>
          <a:srcRect/>
          <a:stretch/>
        </p:blipFill>
        <p:spPr>
          <a:xfrm>
            <a:off x="687065" y="4210943"/>
            <a:ext cx="183803" cy="147042"/>
          </a:xfrm>
          <a:prstGeom prst="rect">
            <a:avLst/>
          </a:prstGeom>
          <a:noFill/>
          <a:ln>
            <a:noFill/>
          </a:ln>
        </p:spPr>
      </p:pic>
      <p:sp>
        <p:nvSpPr>
          <p:cNvPr id="374" name="Google Shape;374;p20"/>
          <p:cNvSpPr/>
          <p:nvPr/>
        </p:nvSpPr>
        <p:spPr>
          <a:xfrm>
            <a:off x="1017910" y="4166295"/>
            <a:ext cx="7896225" cy="229716"/>
          </a:xfrm>
          <a:prstGeom prst="rect">
            <a:avLst/>
          </a:prstGeom>
          <a:noFill/>
          <a:ln>
            <a:noFill/>
          </a:ln>
        </p:spPr>
        <p:txBody>
          <a:bodyPr spcFirstLastPara="1" wrap="square" lIns="0" tIns="0" rIns="0" bIns="0" anchor="t" anchorCtr="0">
            <a:noAutofit/>
          </a:bodyPr>
          <a:lstStyle/>
          <a:p>
            <a:pPr marL="0" marR="0" lvl="0" indent="0" algn="l" rtl="0">
              <a:lnSpc>
                <a:spcPct val="130000"/>
              </a:lnSpc>
              <a:spcBef>
                <a:spcPts val="0"/>
              </a:spcBef>
              <a:spcAft>
                <a:spcPts val="0"/>
              </a:spcAft>
              <a:buClr>
                <a:srgbClr val="000000"/>
              </a:buClr>
              <a:buSzPts val="1150"/>
              <a:buFont typeface="Raleway Medium"/>
              <a:buNone/>
            </a:pPr>
            <a:r>
              <a:rPr lang="en" sz="1150" b="1" i="0" u="none" strike="noStrike" cap="none">
                <a:solidFill>
                  <a:srgbClr val="000000"/>
                </a:solidFill>
                <a:latin typeface="Raleway Medium"/>
                <a:ea typeface="Raleway Medium"/>
                <a:cs typeface="Raleway Medium"/>
                <a:sym typeface="Raleway Medium"/>
              </a:rPr>
              <a:t>Key Takeaway:</a:t>
            </a:r>
            <a:r>
              <a:rPr lang="en" sz="1150" b="0" i="0" u="none" strike="noStrike" cap="none">
                <a:solidFill>
                  <a:srgbClr val="000000"/>
                </a:solidFill>
                <a:latin typeface="Raleway Medium"/>
                <a:ea typeface="Raleway Medium"/>
                <a:cs typeface="Raleway Medium"/>
                <a:sym typeface="Raleway Medium"/>
              </a:rPr>
              <a:t> The optimal solution combines all three — matching each standard to its ideal use case.</a:t>
            </a:r>
            <a:endParaRPr sz="1150" b="0" i="0" u="none" strike="noStrike" cap="none">
              <a:solidFill>
                <a:schemeClr val="dk1"/>
              </a:solidFill>
              <a:latin typeface="Calibri"/>
              <a:ea typeface="Calibri"/>
              <a:cs typeface="Calibri"/>
              <a:sym typeface="Calibri"/>
            </a:endParaRPr>
          </a:p>
        </p:txBody>
      </p:sp>
      <p:pic>
        <p:nvPicPr>
          <p:cNvPr id="375" name="Google Shape;375;p20"/>
          <p:cNvPicPr preferRelativeResize="0"/>
          <p:nvPr/>
        </p:nvPicPr>
        <p:blipFill rotWithShape="1">
          <a:blip r:embed="rId4">
            <a:alphaModFix/>
          </a:blip>
          <a:srcRect/>
          <a:stretch/>
        </p:blipFill>
        <p:spPr>
          <a:xfrm>
            <a:off x="6966825" y="4734975"/>
            <a:ext cx="2177175" cy="408525"/>
          </a:xfrm>
          <a:prstGeom prst="rect">
            <a:avLst/>
          </a:prstGeom>
          <a:noFill/>
          <a:ln>
            <a:noFill/>
          </a:ln>
        </p:spPr>
      </p:pic>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80"/>
        <p:cNvGrpSpPr/>
        <p:nvPr/>
      </p:nvGrpSpPr>
      <p:grpSpPr>
        <a:xfrm>
          <a:off x="0" y="0"/>
          <a:ext cx="0" cy="0"/>
          <a:chOff x="0" y="0"/>
          <a:chExt cx="0" cy="0"/>
        </a:xfrm>
      </p:grpSpPr>
      <p:sp>
        <p:nvSpPr>
          <p:cNvPr id="381" name="Google Shape;381;p21"/>
          <p:cNvSpPr/>
          <p:nvPr/>
        </p:nvSpPr>
        <p:spPr>
          <a:xfrm>
            <a:off x="875109" y="452884"/>
            <a:ext cx="7672908" cy="334863"/>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2100"/>
              <a:buFont typeface="Comfortaa"/>
              <a:buNone/>
            </a:pPr>
            <a:r>
              <a:rPr lang="en" sz="2100" b="1" i="0" u="none" strike="noStrike" cap="none">
                <a:solidFill>
                  <a:srgbClr val="1B2DBA"/>
                </a:solidFill>
                <a:latin typeface="Comfortaa"/>
                <a:ea typeface="Comfortaa"/>
                <a:cs typeface="Comfortaa"/>
                <a:sym typeface="Comfortaa"/>
              </a:rPr>
              <a:t>Future Direction: Toward Reliable Wireless Factories</a:t>
            </a:r>
            <a:endParaRPr sz="2100" b="0" i="0" u="none" strike="noStrike" cap="none">
              <a:solidFill>
                <a:schemeClr val="dk1"/>
              </a:solidFill>
              <a:latin typeface="Calibri"/>
              <a:ea typeface="Calibri"/>
              <a:cs typeface="Calibri"/>
              <a:sym typeface="Calibri"/>
            </a:endParaRPr>
          </a:p>
        </p:txBody>
      </p:sp>
      <p:pic>
        <p:nvPicPr>
          <p:cNvPr id="382" name="Google Shape;382;p21" descr="preencoded.png"/>
          <p:cNvPicPr preferRelativeResize="0"/>
          <p:nvPr/>
        </p:nvPicPr>
        <p:blipFill rotWithShape="1">
          <a:blip r:embed="rId3">
            <a:alphaModFix/>
          </a:blip>
          <a:srcRect/>
          <a:stretch/>
        </p:blipFill>
        <p:spPr>
          <a:xfrm>
            <a:off x="875109" y="1023262"/>
            <a:ext cx="3549848" cy="3549848"/>
          </a:xfrm>
          <a:prstGeom prst="rect">
            <a:avLst/>
          </a:prstGeom>
          <a:noFill/>
          <a:ln>
            <a:noFill/>
          </a:ln>
        </p:spPr>
      </p:pic>
      <p:sp>
        <p:nvSpPr>
          <p:cNvPr id="383" name="Google Shape;383;p21"/>
          <p:cNvSpPr/>
          <p:nvPr/>
        </p:nvSpPr>
        <p:spPr>
          <a:xfrm>
            <a:off x="4723805" y="1990874"/>
            <a:ext cx="2140669" cy="167432"/>
          </a:xfrm>
          <a:prstGeom prst="rect">
            <a:avLst/>
          </a:prstGeom>
          <a:noFill/>
          <a:ln>
            <a:noFill/>
          </a:ln>
        </p:spPr>
        <p:txBody>
          <a:bodyPr spcFirstLastPara="1" wrap="square" lIns="0" tIns="0" rIns="0" bIns="0" anchor="t" anchorCtr="0">
            <a:noAutofit/>
          </a:bodyPr>
          <a:lstStyle/>
          <a:p>
            <a:pPr marL="0" marR="0" lvl="0" indent="0" algn="l" rtl="0">
              <a:lnSpc>
                <a:spcPct val="104000"/>
              </a:lnSpc>
              <a:spcBef>
                <a:spcPts val="0"/>
              </a:spcBef>
              <a:spcAft>
                <a:spcPts val="0"/>
              </a:spcAft>
              <a:buClr>
                <a:srgbClr val="1B2DBA"/>
              </a:buClr>
              <a:buSzPts val="1050"/>
              <a:buFont typeface="Comfortaa"/>
              <a:buNone/>
            </a:pPr>
            <a:r>
              <a:rPr lang="en" sz="1050" b="1" i="0" u="none" strike="noStrike" cap="none">
                <a:solidFill>
                  <a:srgbClr val="1B2DBA"/>
                </a:solidFill>
                <a:latin typeface="Comfortaa"/>
                <a:ea typeface="Comfortaa"/>
                <a:cs typeface="Comfortaa"/>
                <a:sym typeface="Comfortaa"/>
              </a:rPr>
              <a:t>Challenges Still to Solve</a:t>
            </a:r>
            <a:endParaRPr sz="1050" b="0" i="0" u="none" strike="noStrike" cap="none">
              <a:solidFill>
                <a:schemeClr val="dk1"/>
              </a:solidFill>
              <a:latin typeface="Calibri"/>
              <a:ea typeface="Calibri"/>
              <a:cs typeface="Calibri"/>
              <a:sym typeface="Calibri"/>
            </a:endParaRPr>
          </a:p>
        </p:txBody>
      </p:sp>
      <p:sp>
        <p:nvSpPr>
          <p:cNvPr id="384" name="Google Shape;384;p21"/>
          <p:cNvSpPr/>
          <p:nvPr/>
        </p:nvSpPr>
        <p:spPr>
          <a:xfrm>
            <a:off x="4723805" y="2252439"/>
            <a:ext cx="3549848" cy="785664"/>
          </a:xfrm>
          <a:prstGeom prst="rect">
            <a:avLst/>
          </a:prstGeom>
          <a:noFill/>
          <a:ln>
            <a:noFill/>
          </a:ln>
        </p:spPr>
        <p:txBody>
          <a:bodyPr spcFirstLastPara="1" wrap="square" lIns="0" tIns="0" rIns="0" bIns="0" anchor="t" anchorCtr="0">
            <a:noAutofit/>
          </a:bodyPr>
          <a:lstStyle/>
          <a:p>
            <a:pPr marL="342900" marR="0" lvl="0" indent="-342900" algn="l" rtl="0">
              <a:lnSpc>
                <a:spcPct val="119000"/>
              </a:lnSpc>
              <a:spcBef>
                <a:spcPts val="0"/>
              </a:spcBef>
              <a:spcAft>
                <a:spcPts val="0"/>
              </a:spcAft>
              <a:buClr>
                <a:srgbClr val="000000"/>
              </a:buClr>
              <a:buSzPts val="900"/>
              <a:buFont typeface="Raleway Medium"/>
              <a:buChar char="•"/>
            </a:pPr>
            <a:r>
              <a:rPr lang="en" sz="900" b="0" i="0" u="none" strike="noStrike" cap="none">
                <a:solidFill>
                  <a:srgbClr val="000000"/>
                </a:solidFill>
                <a:latin typeface="Raleway Medium"/>
                <a:ea typeface="Raleway Medium"/>
                <a:cs typeface="Raleway Medium"/>
                <a:sym typeface="Raleway Medium"/>
              </a:rPr>
              <a:t>EMI and metal reflections</a:t>
            </a:r>
            <a:endParaRPr sz="900" b="0" i="0" u="none" strike="noStrike" cap="none">
              <a:solidFill>
                <a:schemeClr val="dk1"/>
              </a:solidFill>
              <a:latin typeface="Calibri"/>
              <a:ea typeface="Calibri"/>
              <a:cs typeface="Calibri"/>
              <a:sym typeface="Calibri"/>
            </a:endParaRPr>
          </a:p>
          <a:p>
            <a:pPr marL="342900" marR="0" lvl="0" indent="-342900" algn="l" rtl="0">
              <a:lnSpc>
                <a:spcPct val="119000"/>
              </a:lnSpc>
              <a:spcBef>
                <a:spcPts val="0"/>
              </a:spcBef>
              <a:spcAft>
                <a:spcPts val="0"/>
              </a:spcAft>
              <a:buClr>
                <a:srgbClr val="000000"/>
              </a:buClr>
              <a:buSzPts val="900"/>
              <a:buFont typeface="Raleway Medium"/>
              <a:buChar char="•"/>
            </a:pPr>
            <a:r>
              <a:rPr lang="en" sz="900" b="0" i="0" u="none" strike="noStrike" cap="none">
                <a:solidFill>
                  <a:srgbClr val="000000"/>
                </a:solidFill>
                <a:latin typeface="Raleway Medium"/>
                <a:ea typeface="Raleway Medium"/>
                <a:cs typeface="Raleway Medium"/>
                <a:sym typeface="Raleway Medium"/>
              </a:rPr>
              <a:t>2.4 GHz band congestion</a:t>
            </a:r>
            <a:endParaRPr sz="900" b="0" i="0" u="none" strike="noStrike" cap="none">
              <a:solidFill>
                <a:schemeClr val="dk1"/>
              </a:solidFill>
              <a:latin typeface="Calibri"/>
              <a:ea typeface="Calibri"/>
              <a:cs typeface="Calibri"/>
              <a:sym typeface="Calibri"/>
            </a:endParaRPr>
          </a:p>
          <a:p>
            <a:pPr marL="342900" marR="0" lvl="0" indent="-342900" algn="l" rtl="0">
              <a:lnSpc>
                <a:spcPct val="119000"/>
              </a:lnSpc>
              <a:spcBef>
                <a:spcPts val="0"/>
              </a:spcBef>
              <a:spcAft>
                <a:spcPts val="0"/>
              </a:spcAft>
              <a:buClr>
                <a:srgbClr val="000000"/>
              </a:buClr>
              <a:buSzPts val="900"/>
              <a:buFont typeface="Raleway Medium"/>
              <a:buChar char="•"/>
            </a:pPr>
            <a:r>
              <a:rPr lang="en" sz="900" b="0" i="0" u="none" strike="noStrike" cap="none">
                <a:solidFill>
                  <a:srgbClr val="000000"/>
                </a:solidFill>
                <a:latin typeface="Raleway Medium"/>
                <a:ea typeface="Raleway Medium"/>
                <a:cs typeface="Raleway Medium"/>
                <a:sym typeface="Raleway Medium"/>
              </a:rPr>
              <a:t>Cybersecurity risks</a:t>
            </a:r>
            <a:endParaRPr sz="900" b="0" i="0" u="none" strike="noStrike" cap="none">
              <a:solidFill>
                <a:schemeClr val="dk1"/>
              </a:solidFill>
              <a:latin typeface="Calibri"/>
              <a:ea typeface="Calibri"/>
              <a:cs typeface="Calibri"/>
              <a:sym typeface="Calibri"/>
            </a:endParaRPr>
          </a:p>
          <a:p>
            <a:pPr marL="342900" marR="0" lvl="0" indent="-342900" algn="l" rtl="0">
              <a:lnSpc>
                <a:spcPct val="119000"/>
              </a:lnSpc>
              <a:spcBef>
                <a:spcPts val="0"/>
              </a:spcBef>
              <a:spcAft>
                <a:spcPts val="0"/>
              </a:spcAft>
              <a:buClr>
                <a:srgbClr val="000000"/>
              </a:buClr>
              <a:buSzPts val="900"/>
              <a:buFont typeface="Raleway Medium"/>
              <a:buChar char="•"/>
            </a:pPr>
            <a:r>
              <a:rPr lang="en" sz="900" b="0" i="0" u="none" strike="noStrike" cap="none">
                <a:solidFill>
                  <a:srgbClr val="000000"/>
                </a:solidFill>
                <a:latin typeface="Raleway Medium"/>
                <a:ea typeface="Raleway Medium"/>
                <a:cs typeface="Raleway Medium"/>
                <a:sym typeface="Raleway Medium"/>
              </a:rPr>
              <a:t>Deterministic timing gaps</a:t>
            </a:r>
            <a:endParaRPr sz="900" b="0" i="0" u="none" strike="noStrike" cap="none">
              <a:solidFill>
                <a:schemeClr val="dk1"/>
              </a:solidFill>
              <a:latin typeface="Calibri"/>
              <a:ea typeface="Calibri"/>
              <a:cs typeface="Calibri"/>
              <a:sym typeface="Calibri"/>
            </a:endParaRPr>
          </a:p>
        </p:txBody>
      </p:sp>
      <p:sp>
        <p:nvSpPr>
          <p:cNvPr id="385" name="Google Shape;385;p21"/>
          <p:cNvSpPr/>
          <p:nvPr/>
        </p:nvSpPr>
        <p:spPr>
          <a:xfrm>
            <a:off x="4723805" y="3122861"/>
            <a:ext cx="3549848" cy="515243"/>
          </a:xfrm>
          <a:prstGeom prst="rect">
            <a:avLst/>
          </a:prstGeom>
          <a:noFill/>
          <a:ln>
            <a:noFill/>
          </a:ln>
        </p:spPr>
        <p:txBody>
          <a:bodyPr spcFirstLastPara="1" wrap="square" lIns="0" tIns="0" rIns="0" bIns="0" anchor="t" anchorCtr="0">
            <a:noAutofit/>
          </a:bodyPr>
          <a:lstStyle/>
          <a:p>
            <a:pPr marL="0" marR="0" lvl="0" indent="0" algn="l" rtl="0">
              <a:lnSpc>
                <a:spcPct val="119000"/>
              </a:lnSpc>
              <a:spcBef>
                <a:spcPts val="0"/>
              </a:spcBef>
              <a:spcAft>
                <a:spcPts val="0"/>
              </a:spcAft>
              <a:buClr>
                <a:srgbClr val="000000"/>
              </a:buClr>
              <a:buSzPts val="900"/>
              <a:buFont typeface="Raleway Medium"/>
              <a:buNone/>
            </a:pPr>
            <a:r>
              <a:rPr lang="en" sz="900" b="0" i="0" u="none" strike="noStrike" cap="none">
                <a:solidFill>
                  <a:srgbClr val="000000"/>
                </a:solidFill>
                <a:latin typeface="Raleway Medium"/>
                <a:ea typeface="Raleway Medium"/>
                <a:cs typeface="Raleway Medium"/>
                <a:sym typeface="Raleway Medium"/>
              </a:rPr>
              <a:t>Wi-Fi 7, private 5G, and Wireless TSN are closing the gap with wired systems. </a:t>
            </a:r>
            <a:r>
              <a:rPr lang="en" sz="900" b="1" i="0" u="none" strike="noStrike" cap="none">
                <a:solidFill>
                  <a:srgbClr val="000000"/>
                </a:solidFill>
                <a:latin typeface="Raleway Medium"/>
                <a:ea typeface="Raleway Medium"/>
                <a:cs typeface="Raleway Medium"/>
                <a:sym typeface="Raleway Medium"/>
              </a:rPr>
              <a:t>Wireless won't replace every cable — but it will become central to flexible, mobile Industry 4.0 factories.</a:t>
            </a:r>
            <a:endParaRPr sz="900" b="0" i="0" u="none" strike="noStrike" cap="none">
              <a:solidFill>
                <a:schemeClr val="dk1"/>
              </a:solidFill>
              <a:latin typeface="Calibri"/>
              <a:ea typeface="Calibri"/>
              <a:cs typeface="Calibri"/>
              <a:sym typeface="Calibri"/>
            </a:endParaRPr>
          </a:p>
        </p:txBody>
      </p:sp>
      <p:pic>
        <p:nvPicPr>
          <p:cNvPr id="386" name="Google Shape;386;p21"/>
          <p:cNvPicPr preferRelativeResize="0"/>
          <p:nvPr/>
        </p:nvPicPr>
        <p:blipFill rotWithShape="1">
          <a:blip r:embed="rId4">
            <a:alphaModFix/>
          </a:blip>
          <a:srcRect/>
          <a:stretch/>
        </p:blipFill>
        <p:spPr>
          <a:xfrm>
            <a:off x="6966825" y="4808625"/>
            <a:ext cx="2177175" cy="334875"/>
          </a:xfrm>
          <a:prstGeom prst="rect">
            <a:avLst/>
          </a:prstGeom>
          <a:noFill/>
          <a:ln>
            <a:noFill/>
          </a:ln>
        </p:spPr>
      </p:pic>
    </p:spTree>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242560" y="1151533"/>
            <a:ext cx="3596640" cy="1344930"/>
          </a:xfrm>
          <a:prstGeom prst="rect">
            <a:avLst/>
          </a:prstGeom>
        </p:spPr>
      </p:pic>
      <p:pic>
        <p:nvPicPr>
          <p:cNvPr id="3" name="Picture 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957873" y="2613425"/>
            <a:ext cx="2107944" cy="1775637"/>
          </a:xfrm>
          <a:prstGeom prst="rect">
            <a:avLst/>
          </a:prstGeom>
        </p:spPr>
      </p:pic>
      <p:sp>
        <p:nvSpPr>
          <p:cNvPr id="5" name="TextBox 4"/>
          <p:cNvSpPr txBox="1"/>
          <p:nvPr/>
        </p:nvSpPr>
        <p:spPr>
          <a:xfrm>
            <a:off x="476092" y="520544"/>
            <a:ext cx="4375518" cy="4185761"/>
          </a:xfrm>
          <a:prstGeom prst="rect">
            <a:avLst/>
          </a:prstGeom>
          <a:noFill/>
        </p:spPr>
        <p:txBody>
          <a:bodyPr wrap="square" rtlCol="0">
            <a:spAutoFit/>
          </a:bodyPr>
          <a:lstStyle/>
          <a:p>
            <a:r>
              <a:rPr lang="en-US" b="1" dirty="0" smtClean="0"/>
              <a:t>Evaluation example</a:t>
            </a:r>
          </a:p>
          <a:p>
            <a:endParaRPr lang="en-US" b="1" dirty="0"/>
          </a:p>
          <a:p>
            <a:r>
              <a:rPr lang="en-US" b="1" dirty="0"/>
              <a:t>Automated Production Cell </a:t>
            </a:r>
            <a:r>
              <a:rPr lang="en-US" b="1" dirty="0" smtClean="0"/>
              <a:t>Scenario</a:t>
            </a:r>
          </a:p>
          <a:p>
            <a:endParaRPr lang="en-US" b="1" dirty="0"/>
          </a:p>
          <a:p>
            <a:r>
              <a:rPr lang="en-US" dirty="0"/>
              <a:t>• Industry 4.0 production cell </a:t>
            </a:r>
            <a:r>
              <a:rPr lang="en-US" dirty="0" smtClean="0"/>
              <a:t>has </a:t>
            </a:r>
            <a:r>
              <a:rPr lang="en-US" dirty="0"/>
              <a:t>different communication </a:t>
            </a:r>
            <a:r>
              <a:rPr lang="en-US" dirty="0" smtClean="0"/>
              <a:t>needs.</a:t>
            </a:r>
          </a:p>
          <a:p>
            <a:r>
              <a:rPr lang="en-US" dirty="0"/>
              <a:t/>
            </a:r>
            <a:br>
              <a:rPr lang="en-US" dirty="0"/>
            </a:br>
            <a:r>
              <a:rPr lang="en-US" dirty="0"/>
              <a:t>• 2 collaborative </a:t>
            </a:r>
            <a:r>
              <a:rPr lang="en-US" dirty="0" smtClean="0"/>
              <a:t>robots(</a:t>
            </a:r>
            <a:r>
              <a:rPr lang="en-US" dirty="0" err="1" smtClean="0"/>
              <a:t>cobots</a:t>
            </a:r>
            <a:r>
              <a:rPr lang="en-US" dirty="0" smtClean="0"/>
              <a:t>) </a:t>
            </a:r>
            <a:r>
              <a:rPr lang="en-US" dirty="0"/>
              <a:t>require 1 </a:t>
            </a:r>
            <a:r>
              <a:rPr lang="en-US" dirty="0" err="1"/>
              <a:t>ms</a:t>
            </a:r>
            <a:r>
              <a:rPr lang="en-US" dirty="0"/>
              <a:t> latency and very high </a:t>
            </a:r>
            <a:r>
              <a:rPr lang="en-US" dirty="0" smtClean="0"/>
              <a:t>reliability.</a:t>
            </a:r>
          </a:p>
          <a:p>
            <a:r>
              <a:rPr lang="en-US" dirty="0"/>
              <a:t/>
            </a:r>
            <a:br>
              <a:rPr lang="en-US" dirty="0"/>
            </a:br>
            <a:r>
              <a:rPr lang="en-US" dirty="0"/>
              <a:t>• Sensors send small data packets every 30 </a:t>
            </a:r>
            <a:r>
              <a:rPr lang="en-US" dirty="0" smtClean="0"/>
              <a:t>seconds.</a:t>
            </a:r>
          </a:p>
          <a:p>
            <a:r>
              <a:rPr lang="en-US" dirty="0"/>
              <a:t/>
            </a:r>
            <a:br>
              <a:rPr lang="en-US" dirty="0"/>
            </a:br>
            <a:r>
              <a:rPr lang="en-US" dirty="0"/>
              <a:t>• AGVs need 10 Mbps video links with maximum 10 </a:t>
            </a:r>
            <a:r>
              <a:rPr lang="en-US" dirty="0" err="1"/>
              <a:t>ms</a:t>
            </a:r>
            <a:r>
              <a:rPr lang="en-US" dirty="0"/>
              <a:t> </a:t>
            </a:r>
            <a:r>
              <a:rPr lang="en-US" dirty="0" smtClean="0"/>
              <a:t>latency.</a:t>
            </a:r>
          </a:p>
          <a:p>
            <a:r>
              <a:rPr lang="en-US" dirty="0"/>
              <a:t/>
            </a:r>
            <a:br>
              <a:rPr lang="en-US" dirty="0"/>
            </a:br>
            <a:r>
              <a:rPr lang="en-US" dirty="0"/>
              <a:t>• Machine vision station transfers images to an edge server in 0.5 s</a:t>
            </a:r>
          </a:p>
          <a:p>
            <a:endParaRPr lang="en-US" dirty="0"/>
          </a:p>
        </p:txBody>
      </p:sp>
      <p:pic>
        <p:nvPicPr>
          <p:cNvPr id="6" name="Picture 5"/>
          <p:cNvPicPr>
            <a:picLocks noChangeAspect="1"/>
          </p:cNvPicPr>
          <p:nvPr/>
        </p:nvPicPr>
        <p:blipFill>
          <a:blip r:embed="rId5"/>
          <a:stretch>
            <a:fillRect/>
          </a:stretch>
        </p:blipFill>
        <p:spPr>
          <a:xfrm>
            <a:off x="7065817" y="2613425"/>
            <a:ext cx="1773383" cy="1775637"/>
          </a:xfrm>
          <a:prstGeom prst="rect">
            <a:avLst/>
          </a:prstGeom>
        </p:spPr>
      </p:pic>
    </p:spTree>
    <p:extLst>
      <p:ext uri="{BB962C8B-B14F-4D97-AF65-F5344CB8AC3E}">
        <p14:creationId xmlns:p14="http://schemas.microsoft.com/office/powerpoint/2010/main" val="3703685252"/>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2"/>
          <a:stretch>
            <a:fillRect/>
          </a:stretch>
        </p:blipFill>
        <p:spPr>
          <a:xfrm>
            <a:off x="521435" y="264496"/>
            <a:ext cx="7889533" cy="4519101"/>
          </a:xfrm>
          <a:prstGeom prst="rect">
            <a:avLst/>
          </a:prstGeom>
        </p:spPr>
      </p:pic>
    </p:spTree>
    <p:extLst>
      <p:ext uri="{BB962C8B-B14F-4D97-AF65-F5344CB8AC3E}">
        <p14:creationId xmlns:p14="http://schemas.microsoft.com/office/powerpoint/2010/main" val="290811481"/>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294722" y="284561"/>
            <a:ext cx="8599895" cy="3108543"/>
          </a:xfrm>
          <a:prstGeom prst="rect">
            <a:avLst/>
          </a:prstGeom>
          <a:noFill/>
        </p:spPr>
        <p:txBody>
          <a:bodyPr wrap="square" rtlCol="0">
            <a:spAutoFit/>
          </a:bodyPr>
          <a:lstStyle/>
          <a:p>
            <a:r>
              <a:rPr lang="en-US" b="1" dirty="0"/>
              <a:t>Deployment Challenges in Industrial </a:t>
            </a:r>
            <a:r>
              <a:rPr lang="en-US" b="1" dirty="0" smtClean="0"/>
              <a:t>Environments</a:t>
            </a:r>
          </a:p>
          <a:p>
            <a:endParaRPr lang="en-US" b="1" dirty="0"/>
          </a:p>
          <a:p>
            <a:r>
              <a:rPr lang="en-US" dirty="0"/>
              <a:t>• EMI from frequency converters, arc welders, and servo drives can disturb wireless communication</a:t>
            </a:r>
          </a:p>
          <a:p>
            <a:endParaRPr lang="en-US" dirty="0" smtClean="0"/>
          </a:p>
          <a:p>
            <a:r>
              <a:rPr lang="en-US" dirty="0" smtClean="0"/>
              <a:t>• </a:t>
            </a:r>
            <a:r>
              <a:rPr lang="en-US" dirty="0"/>
              <a:t>Metallic factory environments cause multipath fading and signal dead zones</a:t>
            </a:r>
          </a:p>
          <a:p>
            <a:endParaRPr lang="en-US" dirty="0" smtClean="0"/>
          </a:p>
          <a:p>
            <a:r>
              <a:rPr lang="en-US" dirty="0" smtClean="0"/>
              <a:t>• </a:t>
            </a:r>
            <a:r>
              <a:rPr lang="en-US" dirty="0"/>
              <a:t>Wi-Fi 6 and 5G handle multipath better than </a:t>
            </a:r>
            <a:r>
              <a:rPr lang="en-US" dirty="0" err="1"/>
              <a:t>Zigbee</a:t>
            </a:r>
            <a:r>
              <a:rPr lang="en-US" dirty="0"/>
              <a:t> because they use OFDM-based transmission</a:t>
            </a:r>
          </a:p>
          <a:p>
            <a:endParaRPr lang="en-US" dirty="0" smtClean="0"/>
          </a:p>
          <a:p>
            <a:r>
              <a:rPr lang="en-US" dirty="0" smtClean="0"/>
              <a:t>• </a:t>
            </a:r>
            <a:r>
              <a:rPr lang="en-US" dirty="0"/>
              <a:t>Wi-Fi, </a:t>
            </a:r>
            <a:r>
              <a:rPr lang="en-US" dirty="0" err="1"/>
              <a:t>Zigbee</a:t>
            </a:r>
            <a:r>
              <a:rPr lang="en-US" dirty="0"/>
              <a:t>, and Bluetooth can interfere because they share the 2.4 GHz band</a:t>
            </a:r>
          </a:p>
          <a:p>
            <a:endParaRPr lang="en-US" dirty="0" smtClean="0"/>
          </a:p>
          <a:p>
            <a:r>
              <a:rPr lang="en-US" dirty="0" smtClean="0"/>
              <a:t>• </a:t>
            </a:r>
            <a:r>
              <a:rPr lang="en-US" dirty="0"/>
              <a:t>Cybersecurity depends on correct configuration, authentication, encryption, and key management</a:t>
            </a:r>
          </a:p>
          <a:p>
            <a:endParaRPr lang="en-US" dirty="0" smtClean="0"/>
          </a:p>
          <a:p>
            <a:r>
              <a:rPr lang="en-US" dirty="0" smtClean="0"/>
              <a:t>• </a:t>
            </a:r>
            <a:r>
              <a:rPr lang="en-US" dirty="0"/>
              <a:t>Indoor coverage is limited and must be carefully planned for Wi-Fi, </a:t>
            </a:r>
            <a:r>
              <a:rPr lang="en-US" dirty="0" err="1"/>
              <a:t>Zigbee</a:t>
            </a:r>
            <a:r>
              <a:rPr lang="en-US" dirty="0"/>
              <a:t>, and 5G </a:t>
            </a:r>
            <a:r>
              <a:rPr lang="en-US" dirty="0" err="1"/>
              <a:t>mmWave</a:t>
            </a:r>
            <a:endParaRPr lang="en-US" dirty="0"/>
          </a:p>
          <a:p>
            <a:endParaRPr lang="en-US" dirty="0"/>
          </a:p>
        </p:txBody>
      </p:sp>
      <p:pic>
        <p:nvPicPr>
          <p:cNvPr id="3" name="Picture 2"/>
          <p:cNvPicPr>
            <a:picLocks noChangeAspect="1"/>
          </p:cNvPicPr>
          <p:nvPr/>
        </p:nvPicPr>
        <p:blipFill>
          <a:blip r:embed="rId2"/>
          <a:stretch>
            <a:fillRect/>
          </a:stretch>
        </p:blipFill>
        <p:spPr>
          <a:xfrm>
            <a:off x="460977" y="3393104"/>
            <a:ext cx="8093575" cy="1677660"/>
          </a:xfrm>
          <a:prstGeom prst="rect">
            <a:avLst/>
          </a:prstGeom>
        </p:spPr>
      </p:pic>
    </p:spTree>
    <p:extLst>
      <p:ext uri="{BB962C8B-B14F-4D97-AF65-F5344CB8AC3E}">
        <p14:creationId xmlns:p14="http://schemas.microsoft.com/office/powerpoint/2010/main" val="2653952836"/>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p:cNvSpPr txBox="1"/>
          <p:nvPr/>
        </p:nvSpPr>
        <p:spPr>
          <a:xfrm>
            <a:off x="604562" y="491207"/>
            <a:ext cx="7987775" cy="4315061"/>
          </a:xfrm>
          <a:prstGeom prst="rect">
            <a:avLst/>
          </a:prstGeom>
          <a:noFill/>
        </p:spPr>
        <p:txBody>
          <a:bodyPr wrap="square" rtlCol="0">
            <a:spAutoFit/>
          </a:bodyPr>
          <a:lstStyle/>
          <a:p>
            <a:endParaRPr lang="en-US" dirty="0"/>
          </a:p>
        </p:txBody>
      </p:sp>
      <p:sp>
        <p:nvSpPr>
          <p:cNvPr id="18" name="TextBox 17"/>
          <p:cNvSpPr txBox="1"/>
          <p:nvPr/>
        </p:nvSpPr>
        <p:spPr>
          <a:xfrm>
            <a:off x="628542" y="237543"/>
            <a:ext cx="7963795" cy="2893100"/>
          </a:xfrm>
          <a:prstGeom prst="rect">
            <a:avLst/>
          </a:prstGeom>
          <a:noFill/>
        </p:spPr>
        <p:txBody>
          <a:bodyPr wrap="square" rtlCol="0">
            <a:spAutoFit/>
          </a:bodyPr>
          <a:lstStyle/>
          <a:p>
            <a:r>
              <a:rPr lang="en-US" b="1" dirty="0"/>
              <a:t>Pros and Cons </a:t>
            </a:r>
            <a:r>
              <a:rPr lang="en-US" b="1" dirty="0" smtClean="0"/>
              <a:t>Summary</a:t>
            </a:r>
          </a:p>
          <a:p>
            <a:endParaRPr lang="en-US" b="1" dirty="0"/>
          </a:p>
          <a:p>
            <a:r>
              <a:rPr lang="en-US" dirty="0"/>
              <a:t>5G URLLC provides the best performance for critical real-time control because it offers ultra-low latency, high reliability, licensed spectrum, and TSN support. However, it has high deployment costs, requires complex infrastructure, and consumes more energy</a:t>
            </a:r>
            <a:r>
              <a:rPr lang="en-US" dirty="0" smtClean="0"/>
              <a:t>.</a:t>
            </a:r>
          </a:p>
          <a:p>
            <a:endParaRPr lang="en-US" dirty="0" smtClean="0"/>
          </a:p>
          <a:p>
            <a:r>
              <a:rPr lang="en-US" dirty="0" smtClean="0"/>
              <a:t> </a:t>
            </a:r>
            <a:r>
              <a:rPr lang="en-US" dirty="0"/>
              <a:t>Wi-Fi 6 is suitable for AGVs and machine vision because it provides high throughput and has a mature ecosystem, but it is non-deterministic and operates in shared spectrum. </a:t>
            </a:r>
            <a:endParaRPr lang="en-US" dirty="0" smtClean="0"/>
          </a:p>
          <a:p>
            <a:endParaRPr lang="en-US" dirty="0"/>
          </a:p>
          <a:p>
            <a:r>
              <a:rPr lang="en-US" dirty="0" err="1" smtClean="0"/>
              <a:t>Zigbee</a:t>
            </a:r>
            <a:r>
              <a:rPr lang="en-US" dirty="0" smtClean="0"/>
              <a:t> </a:t>
            </a:r>
            <a:r>
              <a:rPr lang="en-US" dirty="0"/>
              <a:t>is the best option for low-power sensor networks because it is inexpensive, energy-efficient, and supports mesh networking, but it has limited throughput, higher latency, and security depends strongly on proper key management.</a:t>
            </a:r>
          </a:p>
          <a:p>
            <a:endParaRPr lang="en-US" dirty="0"/>
          </a:p>
        </p:txBody>
      </p:sp>
      <p:graphicFrame>
        <p:nvGraphicFramePr>
          <p:cNvPr id="19" name="Table 18"/>
          <p:cNvGraphicFramePr>
            <a:graphicFrameLocks noGrp="1"/>
          </p:cNvGraphicFramePr>
          <p:nvPr>
            <p:extLst>
              <p:ext uri="{D42A27DB-BD31-4B8C-83A1-F6EECF244321}">
                <p14:modId xmlns:p14="http://schemas.microsoft.com/office/powerpoint/2010/main" val="2985511494"/>
              </p:ext>
            </p:extLst>
          </p:nvPr>
        </p:nvGraphicFramePr>
        <p:xfrm>
          <a:off x="628542" y="3384307"/>
          <a:ext cx="7963795" cy="1432560"/>
        </p:xfrm>
        <a:graphic>
          <a:graphicData uri="http://schemas.openxmlformats.org/drawingml/2006/table">
            <a:tbl>
              <a:tblPr/>
              <a:tblGrid>
                <a:gridCol w="1592759">
                  <a:extLst>
                    <a:ext uri="{9D8B030D-6E8A-4147-A177-3AD203B41FA5}">
                      <a16:colId xmlns:a16="http://schemas.microsoft.com/office/drawing/2014/main" val="2738092028"/>
                    </a:ext>
                  </a:extLst>
                </a:gridCol>
                <a:gridCol w="1592759">
                  <a:extLst>
                    <a:ext uri="{9D8B030D-6E8A-4147-A177-3AD203B41FA5}">
                      <a16:colId xmlns:a16="http://schemas.microsoft.com/office/drawing/2014/main" val="3267127797"/>
                    </a:ext>
                  </a:extLst>
                </a:gridCol>
                <a:gridCol w="1592759">
                  <a:extLst>
                    <a:ext uri="{9D8B030D-6E8A-4147-A177-3AD203B41FA5}">
                      <a16:colId xmlns:a16="http://schemas.microsoft.com/office/drawing/2014/main" val="2610442199"/>
                    </a:ext>
                  </a:extLst>
                </a:gridCol>
                <a:gridCol w="1592759">
                  <a:extLst>
                    <a:ext uri="{9D8B030D-6E8A-4147-A177-3AD203B41FA5}">
                      <a16:colId xmlns:a16="http://schemas.microsoft.com/office/drawing/2014/main" val="1481214691"/>
                    </a:ext>
                  </a:extLst>
                </a:gridCol>
                <a:gridCol w="1592759">
                  <a:extLst>
                    <a:ext uri="{9D8B030D-6E8A-4147-A177-3AD203B41FA5}">
                      <a16:colId xmlns:a16="http://schemas.microsoft.com/office/drawing/2014/main" val="3954641466"/>
                    </a:ext>
                  </a:extLst>
                </a:gridCol>
              </a:tblGrid>
              <a:tr h="270651">
                <a:tc>
                  <a:txBody>
                    <a:bodyPr/>
                    <a:lstStyle/>
                    <a:p>
                      <a:r>
                        <a:rPr lang="en-US"/>
                        <a:t>Technology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Latency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Throughput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Energy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Best Use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620081901"/>
                  </a:ext>
                </a:extLst>
              </a:tr>
              <a:tr h="270651">
                <a:tc>
                  <a:txBody>
                    <a:bodyPr/>
                    <a:lstStyle/>
                    <a:p>
                      <a:r>
                        <a:rPr lang="en-US"/>
                        <a:t>5G URLLC</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~1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Very 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Cobots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3660821326"/>
                  </a:ext>
                </a:extLst>
              </a:tr>
              <a:tr h="460108">
                <a:tc>
                  <a:txBody>
                    <a:bodyPr/>
                    <a:lstStyle/>
                    <a:p>
                      <a:r>
                        <a:rPr lang="en-US"/>
                        <a:t>Wi-Fi 6</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2 to 5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Multi-Gbps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Medium</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AGVs and machine vision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2162280534"/>
                  </a:ext>
                </a:extLst>
              </a:tr>
              <a:tr h="270651">
                <a:tc>
                  <a:txBody>
                    <a:bodyPr/>
                    <a:lstStyle/>
                    <a:p>
                      <a:r>
                        <a:rPr lang="en-US"/>
                        <a:t>Zigbee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15 to 30 ms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250 kbps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a:t>Very 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r>
                        <a:rPr lang="en-US" dirty="0"/>
                        <a:t>Sensors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934402856"/>
                  </a:ext>
                </a:extLst>
              </a:tr>
            </a:tbl>
          </a:graphicData>
        </a:graphic>
      </p:graphicFrame>
    </p:spTree>
    <p:extLst>
      <p:ext uri="{BB962C8B-B14F-4D97-AF65-F5344CB8AC3E}">
        <p14:creationId xmlns:p14="http://schemas.microsoft.com/office/powerpoint/2010/main" val="1436254284"/>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1437</Words>
  <Application>Microsoft Office PowerPoint</Application>
  <PresentationFormat>On-screen Show (16:9)</PresentationFormat>
  <Paragraphs>217</Paragraphs>
  <Slides>25</Slides>
  <Notes>22</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25</vt:i4>
      </vt:variant>
    </vt:vector>
  </HeadingPairs>
  <TitlesOfParts>
    <vt:vector size="31" baseType="lpstr">
      <vt:lpstr>Calibri</vt:lpstr>
      <vt:lpstr>Raleway Medium</vt:lpstr>
      <vt:lpstr>Comfortaa</vt:lpstr>
      <vt:lpstr>Arial</vt:lpstr>
      <vt:lpstr>Simple Light</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cp:lastModifiedBy>Umer Gondal</cp:lastModifiedBy>
  <cp:revision>10</cp:revision>
  <dcterms:modified xsi:type="dcterms:W3CDTF">2026-06-14T20:17:19Z</dcterms:modified>
</cp:coreProperties>
</file>