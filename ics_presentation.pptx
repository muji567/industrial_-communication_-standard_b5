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2" r:id="rId2"/>
  </p:sldMasterIdLst>
  <p:notesMasterIdLst>
    <p:notesMasterId r:id="rId23"/>
  </p:notesMasterIdLst>
  <p:sldIdLst>
    <p:sldId id="281" r:id="rId3"/>
    <p:sldId id="256" r:id="rId4"/>
    <p:sldId id="257" r:id="rId5"/>
    <p:sldId id="259" r:id="rId6"/>
    <p:sldId id="260" r:id="rId7"/>
    <p:sldId id="261" r:id="rId8"/>
    <p:sldId id="262" r:id="rId9"/>
    <p:sldId id="263" r:id="rId10"/>
    <p:sldId id="264" r:id="rId11"/>
    <p:sldId id="265" r:id="rId12"/>
    <p:sldId id="266" r:id="rId13"/>
    <p:sldId id="267" r:id="rId14"/>
    <p:sldId id="268" r:id="rId15"/>
    <p:sldId id="276" r:id="rId16"/>
    <p:sldId id="272" r:id="rId17"/>
    <p:sldId id="273" r:id="rId18"/>
    <p:sldId id="274" r:id="rId19"/>
    <p:sldId id="270" r:id="rId20"/>
    <p:sldId id="271" r:id="rId21"/>
    <p:sldId id="282" r:id="rId22"/>
  </p:sldIdLst>
  <p:sldSz cx="9144000" cy="5143500" type="screen16x9"/>
  <p:notesSz cx="6858000" cy="9144000"/>
  <p:embeddedFontLst>
    <p:embeddedFont>
      <p:font typeface="Comfortaa" pitchFamily="2" charset="0"/>
      <p:regular r:id="rId24"/>
      <p:bold r:id="rId25"/>
    </p:embeddedFont>
    <p:embeddedFont>
      <p:font typeface="Raleway Medium" pitchFamily="2" charset="77"/>
      <p:regular r:id="rId26"/>
      <p:bold r:id="rId27"/>
      <p:italic r:id="rId28"/>
      <p:boldItalic r:id="rId2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gjTT7DyLVemM/LSUBMumVfjtNXz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C6BE81C-BBFD-4306-A97A-93FE6F449E8F}">
  <a:tblStyle styleId="{8C6BE81C-BBFD-4306-A97A-93FE6F449E8F}"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5830F60D-B96F-4FD6-A1FE-4A902E60987B}"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317"/>
    <p:restoredTop sz="82718"/>
  </p:normalViewPr>
  <p:slideViewPr>
    <p:cSldViewPr snapToGrid="0">
      <p:cViewPr varScale="1">
        <p:scale>
          <a:sx n="85" d="100"/>
          <a:sy n="85" d="100"/>
        </p:scale>
        <p:origin x="192" y="1320"/>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3.fntdata"/><Relationship Id="rId3" Type="http://schemas.openxmlformats.org/officeDocument/2006/relationships/slide" Target="slides/slide1.xml"/><Relationship Id="rId21" Type="http://schemas.openxmlformats.org/officeDocument/2006/relationships/slide" Target="slides/slide19.xml"/><Relationship Id="rId34" Type="http://customschemas.google.com/relationships/presentationmetadata" Target="meta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font" Target="fonts/font2.fntdata"/><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fntdata"/><Relationship Id="rId37"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notesMaster" Target="notesMasters/notesMaster1.xml"/><Relationship Id="rId28" Type="http://schemas.openxmlformats.org/officeDocument/2006/relationships/font" Target="fonts/font5.fntdata"/><Relationship Id="rId36"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4.fntdata"/><Relationship Id="rId35" Type="http://schemas.openxmlformats.org/officeDocument/2006/relationships/presProps" Target="presProp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1:notes"/>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00" name="Google Shape;100;p1:notes"/>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1:notes"/>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00" name="Google Shape;100;p1:notes"/>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0" name="Google Shape;110;p2:notes"/>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11" name="Google Shape;111;p2:notes"/>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3</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8" name="Google Shape;13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2" name="Google Shape;16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6" name="Google Shape;186;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3"/>
        <p:cNvGrpSpPr/>
        <p:nvPr/>
      </p:nvGrpSpPr>
      <p:grpSpPr>
        <a:xfrm>
          <a:off x="0" y="0"/>
          <a:ext cx="0" cy="0"/>
          <a:chOff x="0" y="0"/>
          <a:chExt cx="0" cy="0"/>
        </a:xfrm>
      </p:grpSpPr>
      <p:sp>
        <p:nvSpPr>
          <p:cNvPr id="204" name="Google Shape;20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5" name="Google Shape;205;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2" name="Google Shape;212;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9" name="Google Shape;229;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4" name="Google Shape;244;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b="1" dirty="0"/>
              <a:t>CSMA/CA</a:t>
            </a:r>
            <a:r>
              <a:rPr lang="en-US" dirty="0"/>
              <a:t> - Carrier Sense Multiple Access with Collision Avoidance.</a:t>
            </a:r>
          </a:p>
          <a:p>
            <a:pPr marL="0" lvl="0" indent="0" algn="l" rtl="0">
              <a:lnSpc>
                <a:spcPct val="100000"/>
              </a:lnSpc>
              <a:spcBef>
                <a:spcPts val="0"/>
              </a:spcBef>
              <a:spcAft>
                <a:spcPts val="0"/>
              </a:spcAft>
              <a:buSzPts val="1100"/>
              <a:buNone/>
            </a:pPr>
            <a:r>
              <a:rPr lang="en-US" dirty="0"/>
              <a:t>OFDMA – orthogonal frequency-division multiple access.   TWT – target wake time.</a:t>
            </a:r>
          </a:p>
          <a:p>
            <a:pPr marL="0" lvl="0" indent="0" algn="l" rtl="0">
              <a:lnSpc>
                <a:spcPct val="100000"/>
              </a:lnSpc>
              <a:spcBef>
                <a:spcPts val="0"/>
              </a:spcBef>
              <a:spcAft>
                <a:spcPts val="0"/>
              </a:spcAft>
              <a:buSzPts val="1100"/>
              <a:buNone/>
            </a:pPr>
            <a:r>
              <a:rPr lang="en-US" dirty="0"/>
              <a:t>AVG – automated guided vehicle</a:t>
            </a:r>
            <a:endParaRPr dirty="0"/>
          </a:p>
        </p:txBody>
      </p:sp>
      <p:sp>
        <p:nvSpPr>
          <p:cNvPr id="252" name="Google Shape;252;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b="1" dirty="0"/>
              <a:t>WPAN</a:t>
            </a:r>
            <a:r>
              <a:rPr lang="en-US" dirty="0"/>
              <a:t> — Wireless Personal Area Network. </a:t>
            </a:r>
            <a:endParaRPr dirty="0"/>
          </a:p>
        </p:txBody>
      </p:sp>
      <p:sp>
        <p:nvSpPr>
          <p:cNvPr id="268" name="Google Shape;268;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3"/>
        <p:cNvGrpSpPr/>
        <p:nvPr/>
      </p:nvGrpSpPr>
      <p:grpSpPr>
        <a:xfrm>
          <a:off x="0" y="0"/>
          <a:ext cx="0" cy="0"/>
          <a:chOff x="0" y="0"/>
          <a:chExt cx="0" cy="0"/>
        </a:xfrm>
      </p:grpSpPr>
      <p:sp>
        <p:nvSpPr>
          <p:cNvPr id="284" name="Google Shape;284;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b="1" dirty="0"/>
              <a:t>3GPP (3rd Generation Partnership Project)</a:t>
            </a:r>
            <a:r>
              <a:rPr lang="en-US" dirty="0"/>
              <a:t> — the </a:t>
            </a:r>
            <a:r>
              <a:rPr lang="en-US" dirty="0" err="1"/>
              <a:t>organisation</a:t>
            </a:r>
            <a:r>
              <a:rPr lang="en-US" dirty="0"/>
              <a:t> that writes the official 5G standards.</a:t>
            </a:r>
          </a:p>
          <a:p>
            <a:pPr marL="0" lvl="0" indent="0" algn="l" rtl="0">
              <a:lnSpc>
                <a:spcPct val="100000"/>
              </a:lnSpc>
              <a:spcBef>
                <a:spcPts val="0"/>
              </a:spcBef>
              <a:spcAft>
                <a:spcPts val="0"/>
              </a:spcAft>
              <a:buSzPts val="1100"/>
              <a:buNone/>
            </a:pPr>
            <a:r>
              <a:rPr lang="en-US" b="1" dirty="0" err="1"/>
              <a:t>eMBB</a:t>
            </a:r>
            <a:r>
              <a:rPr lang="en-US" b="1" dirty="0"/>
              <a:t> (enhanced Mobile Broadband)</a:t>
            </a:r>
            <a:r>
              <a:rPr lang="en-US" dirty="0"/>
              <a:t> — the 5G mode for high-speed data, like cameras or video. </a:t>
            </a:r>
          </a:p>
          <a:p>
            <a:pPr marL="0" lvl="0" indent="0" algn="l" rtl="0">
              <a:lnSpc>
                <a:spcPct val="100000"/>
              </a:lnSpc>
              <a:spcBef>
                <a:spcPts val="0"/>
              </a:spcBef>
              <a:spcAft>
                <a:spcPts val="0"/>
              </a:spcAft>
              <a:buSzPts val="1100"/>
              <a:buNone/>
            </a:pPr>
            <a:r>
              <a:rPr lang="en-US" b="1" dirty="0" err="1"/>
              <a:t>mMTC</a:t>
            </a:r>
            <a:r>
              <a:rPr lang="en-US" b="1" dirty="0"/>
              <a:t> (massive Machine-Type Communication)</a:t>
            </a:r>
            <a:r>
              <a:rPr lang="en-US" dirty="0"/>
              <a:t> — the mode for connecting huge numbers of small sensors at once. </a:t>
            </a:r>
          </a:p>
          <a:p>
            <a:pPr marL="0" lvl="0" indent="0" algn="l" rtl="0">
              <a:lnSpc>
                <a:spcPct val="100000"/>
              </a:lnSpc>
              <a:spcBef>
                <a:spcPts val="0"/>
              </a:spcBef>
              <a:spcAft>
                <a:spcPts val="0"/>
              </a:spcAft>
              <a:buSzPts val="1100"/>
              <a:buNone/>
            </a:pPr>
            <a:r>
              <a:rPr lang="en-US" b="1" dirty="0"/>
              <a:t>URLLC (Ultra-Reliable Low-Latency Communication)</a:t>
            </a:r>
            <a:r>
              <a:rPr lang="en-US" dirty="0"/>
              <a:t> — the mode for real-time control. Extremely fast and extremely reliable. Used for things like robot arms.</a:t>
            </a:r>
            <a:endParaRPr dirty="0"/>
          </a:p>
        </p:txBody>
      </p:sp>
      <p:sp>
        <p:nvSpPr>
          <p:cNvPr id="285" name="Google Shape;285;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5" name="Google Shape;34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4"/>
        <p:cNvGrpSpPr/>
        <p:nvPr/>
      </p:nvGrpSpPr>
      <p:grpSpPr>
        <a:xfrm>
          <a:off x="0" y="0"/>
          <a:ext cx="0" cy="0"/>
          <a:chOff x="0" y="0"/>
          <a:chExt cx="0" cy="0"/>
        </a:xfrm>
      </p:grpSpPr>
      <p:sp>
        <p:nvSpPr>
          <p:cNvPr id="345" name="Google Shape;345;p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6" name="Google Shape;346;p4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0"/>
              </a:spcBef>
              <a:spcAft>
                <a:spcPts val="0"/>
              </a:spcAft>
              <a:buClr>
                <a:srgbClr val="000000"/>
              </a:buClr>
              <a:buSzPts val="1100"/>
              <a:buFont typeface="Arial"/>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4" name="Google Shape;354;p50: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p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9" name="Google Shape;359;p51: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20: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1" name="Google Shape;311;p20:notes"/>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312" name="Google Shape;312;p20:notes"/>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18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p21: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5" name="Google Shape;335;p21:notes"/>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336" name="Google Shape;336;p21:notes"/>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19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1: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 name="Google Shape;99;p1:notes"/>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00" name="Google Shape;100;p1:notes"/>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20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Slide master 1">
  <p:cSld name="Slide master 1">
    <p:spTree>
      <p:nvGrpSpPr>
        <p:cNvPr id="1"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0"/>
        <p:cNvGrpSpPr/>
        <p:nvPr/>
      </p:nvGrpSpPr>
      <p:grpSpPr>
        <a:xfrm>
          <a:off x="0" y="0"/>
          <a:ext cx="0" cy="0"/>
          <a:chOff x="0" y="0"/>
          <a:chExt cx="0" cy="0"/>
        </a:xfrm>
      </p:grpSpPr>
      <p:sp>
        <p:nvSpPr>
          <p:cNvPr id="11" name="Google Shape;11;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2"/>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26"/>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5" name="Google Shape;15;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6" name="Google Shape;16;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
        <p:cNvGrpSpPr/>
        <p:nvPr/>
      </p:nvGrpSpPr>
      <p:grpSpPr>
        <a:xfrm>
          <a:off x="0" y="0"/>
          <a:ext cx="0" cy="0"/>
          <a:chOff x="0" y="0"/>
          <a:chExt cx="0" cy="0"/>
        </a:xfrm>
      </p:grpSpPr>
      <p:sp>
        <p:nvSpPr>
          <p:cNvPr id="18" name="Google Shape;18;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9" name="Google Shape;19;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3" name="Google Shape;23;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6" name="Google Shape;26;p29"/>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7" name="Google Shape;27;p29"/>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8" name="Google Shape;28;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3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1" name="Google Shape;31;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31"/>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4" name="Google Shape;34;p31"/>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5" name="Google Shape;35;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
        <p:cNvGrpSpPr/>
        <p:nvPr/>
      </p:nvGrpSpPr>
      <p:grpSpPr>
        <a:xfrm>
          <a:off x="0" y="0"/>
          <a:ext cx="0" cy="0"/>
          <a:chOff x="0" y="0"/>
          <a:chExt cx="0" cy="0"/>
        </a:xfrm>
      </p:grpSpPr>
      <p:sp>
        <p:nvSpPr>
          <p:cNvPr id="37" name="Google Shape;37;p32"/>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8" name="Google Shape;38;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33"/>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33"/>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2" name="Google Shape;42;p33"/>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3" name="Google Shape;43;p33"/>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4" name="Google Shape;44;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5"/>
        <p:cNvGrpSpPr/>
        <p:nvPr/>
      </p:nvGrpSpPr>
      <p:grpSpPr>
        <a:xfrm>
          <a:off x="0" y="0"/>
          <a:ext cx="0" cy="0"/>
          <a:chOff x="0" y="0"/>
          <a:chExt cx="0" cy="0"/>
        </a:xfrm>
      </p:grpSpPr>
      <p:sp>
        <p:nvSpPr>
          <p:cNvPr id="46" name="Google Shape;46;p34"/>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7" name="Google Shape;47;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8"/>
        <p:cNvGrpSpPr/>
        <p:nvPr/>
      </p:nvGrpSpPr>
      <p:grpSpPr>
        <a:xfrm>
          <a:off x="0" y="0"/>
          <a:ext cx="0" cy="0"/>
          <a:chOff x="0" y="0"/>
          <a:chExt cx="0" cy="0"/>
        </a:xfrm>
      </p:grpSpPr>
      <p:sp>
        <p:nvSpPr>
          <p:cNvPr id="49" name="Google Shape;49;p35"/>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0" name="Google Shape;50;p35"/>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1" name="Google Shape;51;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6"/>
        <p:cNvGrpSpPr/>
        <p:nvPr/>
      </p:nvGrpSpPr>
      <p:grpSpPr>
        <a:xfrm>
          <a:off x="0" y="0"/>
          <a:ext cx="0" cy="0"/>
          <a:chOff x="0" y="0"/>
          <a:chExt cx="0" cy="0"/>
        </a:xfrm>
      </p:grpSpPr>
      <p:sp>
        <p:nvSpPr>
          <p:cNvPr id="57" name="Google Shape;57;p38"/>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58" name="Google Shape;58;p38"/>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59" name="Google Shape;59;p3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0"/>
        <p:cNvGrpSpPr/>
        <p:nvPr/>
      </p:nvGrpSpPr>
      <p:grpSpPr>
        <a:xfrm>
          <a:off x="0" y="0"/>
          <a:ext cx="0" cy="0"/>
          <a:chOff x="0" y="0"/>
          <a:chExt cx="0" cy="0"/>
        </a:xfrm>
      </p:grpSpPr>
      <p:sp>
        <p:nvSpPr>
          <p:cNvPr id="61" name="Google Shape;61;p39"/>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2" name="Google Shape;62;p3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3"/>
        <p:cNvGrpSpPr/>
        <p:nvPr/>
      </p:nvGrpSpPr>
      <p:grpSpPr>
        <a:xfrm>
          <a:off x="0" y="0"/>
          <a:ext cx="0" cy="0"/>
          <a:chOff x="0" y="0"/>
          <a:chExt cx="0" cy="0"/>
        </a:xfrm>
      </p:grpSpPr>
      <p:sp>
        <p:nvSpPr>
          <p:cNvPr id="64" name="Google Shape;64;p4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5" name="Google Shape;65;p4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6" name="Google Shape;66;p4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7"/>
        <p:cNvGrpSpPr/>
        <p:nvPr/>
      </p:nvGrpSpPr>
      <p:grpSpPr>
        <a:xfrm>
          <a:off x="0" y="0"/>
          <a:ext cx="0" cy="0"/>
          <a:chOff x="0" y="0"/>
          <a:chExt cx="0" cy="0"/>
        </a:xfrm>
      </p:grpSpPr>
      <p:sp>
        <p:nvSpPr>
          <p:cNvPr id="68" name="Google Shape;68;p4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9" name="Google Shape;69;p41"/>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0" name="Google Shape;70;p41"/>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1" name="Google Shape;71;p4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2"/>
        <p:cNvGrpSpPr/>
        <p:nvPr/>
      </p:nvGrpSpPr>
      <p:grpSpPr>
        <a:xfrm>
          <a:off x="0" y="0"/>
          <a:ext cx="0" cy="0"/>
          <a:chOff x="0" y="0"/>
          <a:chExt cx="0" cy="0"/>
        </a:xfrm>
      </p:grpSpPr>
      <p:sp>
        <p:nvSpPr>
          <p:cNvPr id="73" name="Google Shape;73;p4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4" name="Google Shape;74;p4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5"/>
        <p:cNvGrpSpPr/>
        <p:nvPr/>
      </p:nvGrpSpPr>
      <p:grpSpPr>
        <a:xfrm>
          <a:off x="0" y="0"/>
          <a:ext cx="0" cy="0"/>
          <a:chOff x="0" y="0"/>
          <a:chExt cx="0" cy="0"/>
        </a:xfrm>
      </p:grpSpPr>
      <p:sp>
        <p:nvSpPr>
          <p:cNvPr id="76" name="Google Shape;76;p43"/>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77" name="Google Shape;77;p43"/>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8" name="Google Shape;78;p4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9"/>
        <p:cNvGrpSpPr/>
        <p:nvPr/>
      </p:nvGrpSpPr>
      <p:grpSpPr>
        <a:xfrm>
          <a:off x="0" y="0"/>
          <a:ext cx="0" cy="0"/>
          <a:chOff x="0" y="0"/>
          <a:chExt cx="0" cy="0"/>
        </a:xfrm>
      </p:grpSpPr>
      <p:sp>
        <p:nvSpPr>
          <p:cNvPr id="80" name="Google Shape;80;p44"/>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81" name="Google Shape;81;p4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2"/>
        <p:cNvGrpSpPr/>
        <p:nvPr/>
      </p:nvGrpSpPr>
      <p:grpSpPr>
        <a:xfrm>
          <a:off x="0" y="0"/>
          <a:ext cx="0" cy="0"/>
          <a:chOff x="0" y="0"/>
          <a:chExt cx="0" cy="0"/>
        </a:xfrm>
      </p:grpSpPr>
      <p:sp>
        <p:nvSpPr>
          <p:cNvPr id="83" name="Google Shape;83;p45"/>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45"/>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5" name="Google Shape;85;p45"/>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6" name="Google Shape;86;p45"/>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87" name="Google Shape;87;p4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8"/>
        <p:cNvGrpSpPr/>
        <p:nvPr/>
      </p:nvGrpSpPr>
      <p:grpSpPr>
        <a:xfrm>
          <a:off x="0" y="0"/>
          <a:ext cx="0" cy="0"/>
          <a:chOff x="0" y="0"/>
          <a:chExt cx="0" cy="0"/>
        </a:xfrm>
      </p:grpSpPr>
      <p:sp>
        <p:nvSpPr>
          <p:cNvPr id="89" name="Google Shape;89;p46"/>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90" name="Google Shape;90;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1"/>
        <p:cNvGrpSpPr/>
        <p:nvPr/>
      </p:nvGrpSpPr>
      <p:grpSpPr>
        <a:xfrm>
          <a:off x="0" y="0"/>
          <a:ext cx="0" cy="0"/>
          <a:chOff x="0" y="0"/>
          <a:chExt cx="0" cy="0"/>
        </a:xfrm>
      </p:grpSpPr>
      <p:sp>
        <p:nvSpPr>
          <p:cNvPr id="92" name="Google Shape;92;p47"/>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3" name="Google Shape;93;p47"/>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4" name="Google Shape;94;p4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5"/>
        <p:cNvGrpSpPr/>
        <p:nvPr/>
      </p:nvGrpSpPr>
      <p:grpSpPr>
        <a:xfrm>
          <a:off x="0" y="0"/>
          <a:ext cx="0" cy="0"/>
          <a:chOff x="0" y="0"/>
          <a:chExt cx="0" cy="0"/>
        </a:xfrm>
      </p:grpSpPr>
      <p:sp>
        <p:nvSpPr>
          <p:cNvPr id="96" name="Google Shape;96;p4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2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2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2"/>
        <p:cNvGrpSpPr/>
        <p:nvPr/>
      </p:nvGrpSpPr>
      <p:grpSpPr>
        <a:xfrm>
          <a:off x="0" y="0"/>
          <a:ext cx="0" cy="0"/>
          <a:chOff x="0" y="0"/>
          <a:chExt cx="0" cy="0"/>
        </a:xfrm>
      </p:grpSpPr>
      <p:sp>
        <p:nvSpPr>
          <p:cNvPr id="53" name="Google Shape;53;p3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4" name="Google Shape;54;p3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5" name="Google Shape;55;p3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12.jp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5.xml"/><Relationship Id="rId1" Type="http://schemas.openxmlformats.org/officeDocument/2006/relationships/slideLayout" Target="../slideLayouts/slideLayout3.xml"/><Relationship Id="rId5" Type="http://schemas.openxmlformats.org/officeDocument/2006/relationships/image" Target="../media/image16.png"/><Relationship Id="rId4" Type="http://schemas.openxmlformats.org/officeDocument/2006/relationships/image" Target="../media/image15.jpg"/></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5" name="Google Shape;105;p1"/>
          <p:cNvSpPr/>
          <p:nvPr/>
        </p:nvSpPr>
        <p:spPr>
          <a:xfrm>
            <a:off x="3975100" y="1524000"/>
            <a:ext cx="4724400" cy="9906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None/>
            </a:pPr>
            <a:r>
              <a:rPr lang="en" sz="2700" b="1" i="0" u="none" strike="noStrike" cap="none">
                <a:solidFill>
                  <a:srgbClr val="1B2DBA"/>
                </a:solidFill>
                <a:latin typeface="Comfortaa"/>
                <a:ea typeface="Comfortaa"/>
                <a:cs typeface="Comfortaa"/>
                <a:sym typeface="Comfortaa"/>
              </a:rPr>
              <a:t>Wireless Communication Standards in Industry</a:t>
            </a:r>
          </a:p>
        </p:txBody>
      </p:sp>
      <p:sp>
        <p:nvSpPr>
          <p:cNvPr id="106" name="Google Shape;106;p1"/>
          <p:cNvSpPr/>
          <p:nvPr/>
        </p:nvSpPr>
        <p:spPr>
          <a:xfrm>
            <a:off x="3975100" y="2603500"/>
            <a:ext cx="4572000" cy="88900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None/>
            </a:pPr>
            <a:r>
              <a:rPr lang="en" sz="1400" b="0" i="0" u="none" strike="noStrike" cap="none">
                <a:solidFill>
                  <a:srgbClr val="595959"/>
                </a:solidFill>
                <a:latin typeface="Raleway Medium"/>
                <a:ea typeface="Raleway Medium"/>
                <a:cs typeface="Raleway Medium"/>
                <a:sym typeface="Raleway Medium"/>
              </a:rPr>
              <a:t>Comparing wireless standards for flexible, mobile, and scalable Industry 4.0 automation</a:t>
            </a:r>
          </a:p>
        </p:txBody>
      </p:sp>
      <p:pic>
        <p:nvPicPr>
          <p:cNvPr id="107" name="Google Shape;107;p1"/>
          <p:cNvPicPr preferRelativeResize="0"/>
          <p:nvPr/>
        </p:nvPicPr>
        <p:blipFill rotWithShape="1">
          <a:blip r:embed="rId3">
            <a:alphaModFix/>
          </a:blip>
          <a:srcRect/>
          <a:stretch/>
        </p:blipFill>
        <p:spPr>
          <a:xfrm>
            <a:off x="6966825" y="4337447"/>
            <a:ext cx="2177174" cy="806053"/>
          </a:xfrm>
          <a:prstGeom prst="rect">
            <a:avLst/>
          </a:prstGeom>
          <a:noFill/>
          <a:ln>
            <a:noFill/>
          </a:ln>
        </p:spPr>
      </p:pic>
      <p:sp>
        <p:nvSpPr>
          <p:cNvPr id="900" name="Band Base"/>
          <p:cNvSpPr/>
          <p:nvPr/>
        </p:nvSpPr>
        <p:spPr>
          <a:xfrm>
            <a:off x="0" y="0"/>
            <a:ext cx="3429000" cy="5143500"/>
          </a:xfrm>
          <a:prstGeom prst="rect">
            <a:avLst/>
          </a:prstGeom>
          <a:gradFill>
            <a:gsLst>
              <a:gs pos="0">
                <a:srgbClr val="2A3BCB"/>
              </a:gs>
              <a:gs pos="55000">
                <a:srgbClr val="1B2DBA"/>
              </a:gs>
              <a:gs pos="100000">
                <a:srgbClr val="0B1452"/>
              </a:gs>
            </a:gsLst>
            <a:lin ang="3600000" scaled="1"/>
          </a:gradFill>
          <a:ln>
            <a:noFill/>
          </a:ln>
        </p:spPr>
        <p:txBody>
          <a:bodyPr/>
          <a:lstStyle/>
          <a:p>
            <a:endParaRPr/>
          </a:p>
        </p:txBody>
      </p:sp>
      <p:sp>
        <p:nvSpPr>
          <p:cNvPr id="901" name="Ring"/>
          <p:cNvSpPr/>
          <p:nvPr/>
        </p:nvSpPr>
        <p:spPr>
          <a:xfrm>
            <a:off x="1270000" y="1778000"/>
            <a:ext cx="889000" cy="889000"/>
          </a:xfrm>
          <a:prstGeom prst="ellipse">
            <a:avLst/>
          </a:prstGeom>
          <a:noFill/>
          <a:ln w="19050">
            <a:solidFill>
              <a:srgbClr val="FFFFFF">
                <a:alpha val="30000"/>
              </a:srgbClr>
            </a:solidFill>
          </a:ln>
        </p:spPr>
        <p:txBody>
          <a:bodyPr/>
          <a:lstStyle/>
          <a:p>
            <a:endParaRPr/>
          </a:p>
        </p:txBody>
      </p:sp>
      <p:sp>
        <p:nvSpPr>
          <p:cNvPr id="902" name="Ring"/>
          <p:cNvSpPr/>
          <p:nvPr/>
        </p:nvSpPr>
        <p:spPr>
          <a:xfrm>
            <a:off x="927100" y="1435100"/>
            <a:ext cx="1574800" cy="1574800"/>
          </a:xfrm>
          <a:prstGeom prst="ellipse">
            <a:avLst/>
          </a:prstGeom>
          <a:noFill/>
          <a:ln w="19050">
            <a:solidFill>
              <a:srgbClr val="FFFFFF">
                <a:alpha val="22000"/>
              </a:srgbClr>
            </a:solidFill>
          </a:ln>
        </p:spPr>
        <p:txBody>
          <a:bodyPr/>
          <a:lstStyle/>
          <a:p>
            <a:endParaRPr/>
          </a:p>
        </p:txBody>
      </p:sp>
      <p:sp>
        <p:nvSpPr>
          <p:cNvPr id="903" name="Ring"/>
          <p:cNvSpPr/>
          <p:nvPr/>
        </p:nvSpPr>
        <p:spPr>
          <a:xfrm>
            <a:off x="571500" y="1079500"/>
            <a:ext cx="2286000" cy="2286000"/>
          </a:xfrm>
          <a:prstGeom prst="ellipse">
            <a:avLst/>
          </a:prstGeom>
          <a:noFill/>
          <a:ln w="19050">
            <a:solidFill>
              <a:srgbClr val="FFFFFF">
                <a:alpha val="15000"/>
              </a:srgbClr>
            </a:solidFill>
          </a:ln>
        </p:spPr>
        <p:txBody>
          <a:bodyPr/>
          <a:lstStyle/>
          <a:p>
            <a:endParaRPr/>
          </a:p>
        </p:txBody>
      </p:sp>
      <p:sp>
        <p:nvSpPr>
          <p:cNvPr id="904" name="Ring"/>
          <p:cNvSpPr/>
          <p:nvPr/>
        </p:nvSpPr>
        <p:spPr>
          <a:xfrm>
            <a:off x="190500" y="698500"/>
            <a:ext cx="3048000" cy="3048000"/>
          </a:xfrm>
          <a:prstGeom prst="ellipse">
            <a:avLst/>
          </a:prstGeom>
          <a:noFill/>
          <a:ln w="19050">
            <a:solidFill>
              <a:srgbClr val="FFFFFF">
                <a:alpha val="10000"/>
              </a:srgbClr>
            </a:solidFill>
          </a:ln>
        </p:spPr>
        <p:txBody>
          <a:bodyPr/>
          <a:lstStyle/>
          <a:p>
            <a:endParaRPr/>
          </a:p>
        </p:txBody>
      </p:sp>
      <p:sp>
        <p:nvSpPr>
          <p:cNvPr id="905" name="Node"/>
          <p:cNvSpPr/>
          <p:nvPr/>
        </p:nvSpPr>
        <p:spPr>
          <a:xfrm>
            <a:off x="1638300" y="2146300"/>
            <a:ext cx="152400" cy="152400"/>
          </a:xfrm>
          <a:prstGeom prst="ellipse">
            <a:avLst/>
          </a:prstGeom>
          <a:solidFill>
            <a:srgbClr val="FFFFFF">
              <a:alpha val="92000"/>
            </a:srgbClr>
          </a:solidFill>
          <a:ln>
            <a:noFill/>
          </a:ln>
        </p:spPr>
        <p:txBody>
          <a:bodyPr/>
          <a:lstStyle/>
          <a:p>
            <a:endParaRPr/>
          </a:p>
        </p:txBody>
      </p:sp>
      <p:sp>
        <p:nvSpPr>
          <p:cNvPr id="906" name="Dot"/>
          <p:cNvSpPr/>
          <p:nvPr/>
        </p:nvSpPr>
        <p:spPr>
          <a:xfrm>
            <a:off x="762000" y="3683000"/>
            <a:ext cx="101600" cy="101600"/>
          </a:xfrm>
          <a:prstGeom prst="ellipse">
            <a:avLst/>
          </a:prstGeom>
          <a:solidFill>
            <a:srgbClr val="FFFFFF">
              <a:alpha val="70000"/>
            </a:srgbClr>
          </a:solidFill>
          <a:ln>
            <a:noFill/>
          </a:ln>
        </p:spPr>
        <p:txBody>
          <a:bodyPr/>
          <a:lstStyle/>
          <a:p>
            <a:endParaRPr/>
          </a:p>
        </p:txBody>
      </p:sp>
      <p:sp>
        <p:nvSpPr>
          <p:cNvPr id="907" name="Dot"/>
          <p:cNvSpPr/>
          <p:nvPr/>
        </p:nvSpPr>
        <p:spPr>
          <a:xfrm>
            <a:off x="1778000" y="4191000"/>
            <a:ext cx="101600" cy="101600"/>
          </a:xfrm>
          <a:prstGeom prst="ellipse">
            <a:avLst/>
          </a:prstGeom>
          <a:solidFill>
            <a:srgbClr val="FFFFFF">
              <a:alpha val="70000"/>
            </a:srgbClr>
          </a:solidFill>
          <a:ln>
            <a:noFill/>
          </a:ln>
        </p:spPr>
        <p:txBody>
          <a:bodyPr/>
          <a:lstStyle/>
          <a:p>
            <a:endParaRPr/>
          </a:p>
        </p:txBody>
      </p:sp>
      <p:sp>
        <p:nvSpPr>
          <p:cNvPr id="908" name="Dot"/>
          <p:cNvSpPr/>
          <p:nvPr/>
        </p:nvSpPr>
        <p:spPr>
          <a:xfrm>
            <a:off x="2603500" y="4572000"/>
            <a:ext cx="101600" cy="101600"/>
          </a:xfrm>
          <a:prstGeom prst="ellipse">
            <a:avLst/>
          </a:prstGeom>
          <a:solidFill>
            <a:srgbClr val="FFFFFF">
              <a:alpha val="70000"/>
            </a:srgbClr>
          </a:solidFill>
          <a:ln>
            <a:noFill/>
          </a:ln>
        </p:spPr>
        <p:txBody>
          <a:bodyPr/>
          <a:lstStyle/>
          <a:p>
            <a:endParaRPr/>
          </a:p>
        </p:txBody>
      </p:sp>
      <p:cxnSp>
        <p:nvCxnSpPr>
          <p:cNvPr id="909" name="Link909"/>
          <p:cNvCxnSpPr/>
          <p:nvPr/>
        </p:nvCxnSpPr>
        <p:spPr>
          <a:xfrm>
            <a:off x="812800" y="3733800"/>
            <a:ext cx="1016000" cy="508000"/>
          </a:xfrm>
          <a:prstGeom prst="line">
            <a:avLst/>
          </a:prstGeom>
          <a:ln w="9525">
            <a:solidFill>
              <a:srgbClr val="FFFFFF">
                <a:alpha val="25000"/>
              </a:srgbClr>
            </a:solidFill>
          </a:ln>
        </p:spPr>
      </p:cxnSp>
      <p:cxnSp>
        <p:nvCxnSpPr>
          <p:cNvPr id="910" name="Link910"/>
          <p:cNvCxnSpPr/>
          <p:nvPr/>
        </p:nvCxnSpPr>
        <p:spPr>
          <a:xfrm>
            <a:off x="1828800" y="4241800"/>
            <a:ext cx="825500" cy="381000"/>
          </a:xfrm>
          <a:prstGeom prst="line">
            <a:avLst/>
          </a:prstGeom>
          <a:ln w="9525">
            <a:solidFill>
              <a:srgbClr val="FFFFFF">
                <a:alpha val="25000"/>
              </a:srgbClr>
            </a:solidFill>
          </a:ln>
        </p:spPr>
      </p:cxnSp>
    </p:spTree>
    <p:extLst>
      <p:ext uri="{BB962C8B-B14F-4D97-AF65-F5344CB8AC3E}">
        <p14:creationId xmlns:p14="http://schemas.microsoft.com/office/powerpoint/2010/main" val="29247311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pic>
        <p:nvPicPr>
          <p:cNvPr id="102" name="Google Shape;102;p1" descr="preencoded.png"/>
          <p:cNvPicPr preferRelativeResize="0"/>
          <p:nvPr/>
        </p:nvPicPr>
        <p:blipFill rotWithShape="1">
          <a:blip r:embed="rId3">
            <a:alphaModFix/>
          </a:blip>
          <a:srcRect/>
          <a:stretch/>
        </p:blipFill>
        <p:spPr>
          <a:xfrm>
            <a:off x="0" y="0"/>
            <a:ext cx="3429000" cy="5143500"/>
          </a:xfrm>
          <a:prstGeom prst="rect">
            <a:avLst/>
          </a:prstGeom>
          <a:noFill/>
          <a:ln>
            <a:noFill/>
          </a:ln>
        </p:spPr>
      </p:pic>
      <p:sp>
        <p:nvSpPr>
          <p:cNvPr id="103" name="Google Shape;103;p1"/>
          <p:cNvSpPr/>
          <p:nvPr/>
        </p:nvSpPr>
        <p:spPr>
          <a:xfrm>
            <a:off x="3969023" y="1110779"/>
            <a:ext cx="998860" cy="290066"/>
          </a:xfrm>
          <a:prstGeom prst="roundRect">
            <a:avLst>
              <a:gd name="adj" fmla="val 63836"/>
            </a:avLst>
          </a:prstGeom>
          <a:solidFill>
            <a:srgbClr val="E6E6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1"/>
          <p:cNvSpPr/>
          <p:nvPr/>
        </p:nvSpPr>
        <p:spPr>
          <a:xfrm>
            <a:off x="4061594" y="1157064"/>
            <a:ext cx="1270918" cy="197495"/>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000000"/>
              </a:buClr>
              <a:buSzPts val="950"/>
              <a:buFont typeface="Raleway Medium"/>
              <a:buNone/>
            </a:pPr>
            <a:r>
              <a:rPr lang="en" sz="950" b="0" i="0" u="none" strike="noStrike" cap="none">
                <a:solidFill>
                  <a:srgbClr val="000000"/>
                </a:solidFill>
                <a:latin typeface="Raleway Medium"/>
                <a:ea typeface="Raleway Medium"/>
                <a:cs typeface="Raleway Medium"/>
                <a:sym typeface="Raleway Medium"/>
              </a:rPr>
              <a:t>INDUSTRY 4.0</a:t>
            </a:r>
            <a:endParaRPr sz="950" b="0" i="0" u="none" strike="noStrike" cap="none">
              <a:solidFill>
                <a:schemeClr val="dk1"/>
              </a:solidFill>
              <a:latin typeface="Calibri"/>
              <a:ea typeface="Calibri"/>
              <a:cs typeface="Calibri"/>
              <a:sym typeface="Calibri"/>
            </a:endParaRPr>
          </a:p>
        </p:txBody>
      </p:sp>
      <p:sp>
        <p:nvSpPr>
          <p:cNvPr id="105" name="Google Shape;105;p1"/>
          <p:cNvSpPr/>
          <p:nvPr/>
        </p:nvSpPr>
        <p:spPr>
          <a:xfrm>
            <a:off x="3969023" y="1462534"/>
            <a:ext cx="4634954" cy="85725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B2DBA"/>
              </a:buClr>
              <a:buSzPts val="2700"/>
              <a:buFont typeface="Comfortaa"/>
              <a:buNone/>
            </a:pPr>
            <a:r>
              <a:rPr lang="en" sz="2700" b="1" i="0" u="none" strike="noStrike" cap="none">
                <a:solidFill>
                  <a:srgbClr val="1B2DBA"/>
                </a:solidFill>
                <a:latin typeface="Comfortaa"/>
                <a:ea typeface="Comfortaa"/>
                <a:cs typeface="Comfortaa"/>
                <a:sym typeface="Comfortaa"/>
              </a:rPr>
              <a:t>Why Wireless Matters in Industry 4.0</a:t>
            </a:r>
            <a:endParaRPr sz="2700" b="0" i="0" u="none" strike="noStrike" cap="none">
              <a:solidFill>
                <a:schemeClr val="dk1"/>
              </a:solidFill>
              <a:latin typeface="Calibri"/>
              <a:ea typeface="Calibri"/>
              <a:cs typeface="Calibri"/>
              <a:sym typeface="Calibri"/>
            </a:endParaRPr>
          </a:p>
        </p:txBody>
      </p:sp>
      <p:sp>
        <p:nvSpPr>
          <p:cNvPr id="106" name="Google Shape;106;p1"/>
          <p:cNvSpPr/>
          <p:nvPr/>
        </p:nvSpPr>
        <p:spPr>
          <a:xfrm>
            <a:off x="3969023" y="2551212"/>
            <a:ext cx="4634954" cy="1481435"/>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000000"/>
              </a:buClr>
              <a:buSzPts val="1200"/>
              <a:buFont typeface="Raleway Medium"/>
              <a:buNone/>
            </a:pPr>
            <a:r>
              <a:rPr lang="en" sz="1200" b="0" i="0" u="none" strike="noStrike" cap="none">
                <a:solidFill>
                  <a:srgbClr val="000000"/>
                </a:solidFill>
                <a:latin typeface="Raleway Medium"/>
                <a:ea typeface="Raleway Medium"/>
                <a:cs typeface="Raleway Medium"/>
                <a:sym typeface="Raleway Medium"/>
              </a:rPr>
              <a:t>Industry 4.0 demands flexible, mobile, and scalable communication. Wired systems like PROFINET offer stable timing but are expensive to install and hard to reconfigure. Wireless enables AGVs, mobile sensors, and remote monitoring — but the real question is: </a:t>
            </a:r>
            <a:r>
              <a:rPr lang="en" sz="1200" b="1" i="0" u="none" strike="noStrike" cap="none">
                <a:solidFill>
                  <a:srgbClr val="000000"/>
                </a:solidFill>
                <a:latin typeface="Raleway Medium"/>
                <a:ea typeface="Raleway Medium"/>
                <a:cs typeface="Raleway Medium"/>
                <a:sym typeface="Raleway Medium"/>
              </a:rPr>
              <a:t>which wireless standard fits which industrial task?</a:t>
            </a:r>
            <a:endParaRPr sz="1200" b="0" i="0" u="none" strike="noStrike" cap="none">
              <a:solidFill>
                <a:schemeClr val="dk1"/>
              </a:solidFill>
              <a:latin typeface="Calibri"/>
              <a:ea typeface="Calibri"/>
              <a:cs typeface="Calibri"/>
              <a:sym typeface="Calibri"/>
            </a:endParaRPr>
          </a:p>
        </p:txBody>
      </p:sp>
      <p:pic>
        <p:nvPicPr>
          <p:cNvPr id="107" name="Google Shape;107;p1"/>
          <p:cNvPicPr preferRelativeResize="0"/>
          <p:nvPr/>
        </p:nvPicPr>
        <p:blipFill rotWithShape="1">
          <a:blip r:embed="rId4">
            <a:alphaModFix/>
          </a:blip>
          <a:srcRect/>
          <a:stretch/>
        </p:blipFill>
        <p:spPr>
          <a:xfrm>
            <a:off x="6966825" y="4337447"/>
            <a:ext cx="2177174" cy="80605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
          <p:cNvSpPr/>
          <p:nvPr/>
        </p:nvSpPr>
        <p:spPr>
          <a:xfrm>
            <a:off x="1318766" y="460325"/>
            <a:ext cx="4901729" cy="29468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B2DBA"/>
              </a:buClr>
              <a:buSzPts val="1850"/>
              <a:buFont typeface="Comfortaa"/>
              <a:buNone/>
            </a:pPr>
            <a:r>
              <a:rPr lang="en" sz="1850" b="1" i="0" u="none" strike="noStrike" cap="none">
                <a:solidFill>
                  <a:srgbClr val="1B2DBA"/>
                </a:solidFill>
                <a:latin typeface="Comfortaa"/>
                <a:ea typeface="Comfortaa"/>
                <a:cs typeface="Comfortaa"/>
                <a:sym typeface="Comfortaa"/>
              </a:rPr>
              <a:t>The Industrial Wireless Environment</a:t>
            </a:r>
            <a:endParaRPr sz="1850" b="0" i="0" u="none" strike="noStrike" cap="none">
              <a:solidFill>
                <a:schemeClr val="dk1"/>
              </a:solidFill>
              <a:latin typeface="Calibri"/>
              <a:ea typeface="Calibri"/>
              <a:cs typeface="Calibri"/>
              <a:sym typeface="Calibri"/>
            </a:endParaRPr>
          </a:p>
        </p:txBody>
      </p:sp>
      <p:pic>
        <p:nvPicPr>
          <p:cNvPr id="114" name="Google Shape;114;p2" descr="preencoded.png"/>
          <p:cNvPicPr preferRelativeResize="0"/>
          <p:nvPr/>
        </p:nvPicPr>
        <p:blipFill rotWithShape="1">
          <a:blip r:embed="rId3">
            <a:alphaModFix/>
          </a:blip>
          <a:srcRect/>
          <a:stretch/>
        </p:blipFill>
        <p:spPr>
          <a:xfrm>
            <a:off x="1318766" y="946398"/>
            <a:ext cx="4138612" cy="2345159"/>
          </a:xfrm>
          <a:prstGeom prst="rect">
            <a:avLst/>
          </a:prstGeom>
          <a:noFill/>
          <a:ln>
            <a:noFill/>
          </a:ln>
        </p:spPr>
      </p:pic>
      <p:sp>
        <p:nvSpPr>
          <p:cNvPr id="115" name="Google Shape;115;p2"/>
          <p:cNvSpPr/>
          <p:nvPr/>
        </p:nvSpPr>
        <p:spPr>
          <a:xfrm>
            <a:off x="5720953" y="1580704"/>
            <a:ext cx="2108969" cy="29468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B2DBA"/>
              </a:buClr>
              <a:buSzPts val="900"/>
              <a:buFont typeface="Comfortaa"/>
              <a:buNone/>
            </a:pPr>
            <a:r>
              <a:rPr lang="en" sz="900" b="1" i="0" u="none" strike="noStrike" cap="none">
                <a:solidFill>
                  <a:srgbClr val="1B2DBA"/>
                </a:solidFill>
                <a:latin typeface="Comfortaa"/>
                <a:ea typeface="Comfortaa"/>
                <a:cs typeface="Comfortaa"/>
                <a:sym typeface="Comfortaa"/>
              </a:rPr>
              <a:t>Why Factories Are Hard on Wireless</a:t>
            </a:r>
            <a:endParaRPr sz="900" b="0" i="0" u="none" strike="noStrike" cap="none">
              <a:solidFill>
                <a:schemeClr val="dk1"/>
              </a:solidFill>
              <a:latin typeface="Calibri"/>
              <a:ea typeface="Calibri"/>
              <a:cs typeface="Calibri"/>
              <a:sym typeface="Calibri"/>
            </a:endParaRPr>
          </a:p>
        </p:txBody>
      </p:sp>
      <p:sp>
        <p:nvSpPr>
          <p:cNvPr id="116" name="Google Shape;116;p2"/>
          <p:cNvSpPr/>
          <p:nvPr/>
        </p:nvSpPr>
        <p:spPr>
          <a:xfrm>
            <a:off x="5720953" y="1948309"/>
            <a:ext cx="2108969" cy="716235"/>
          </a:xfrm>
          <a:prstGeom prst="rect">
            <a:avLst/>
          </a:prstGeom>
          <a:noFill/>
          <a:ln>
            <a:noFill/>
          </a:ln>
        </p:spPr>
        <p:txBody>
          <a:bodyPr spcFirstLastPara="1" wrap="square" lIns="0" tIns="0" rIns="0" bIns="0" anchor="t" anchorCtr="0">
            <a:noAutofit/>
          </a:bodyPr>
          <a:lstStyle/>
          <a:p>
            <a:pPr marL="0" marR="0" lvl="0" indent="0" algn="l" rtl="0">
              <a:lnSpc>
                <a:spcPct val="113000"/>
              </a:lnSpc>
              <a:spcBef>
                <a:spcPts val="0"/>
              </a:spcBef>
              <a:spcAft>
                <a:spcPts val="0"/>
              </a:spcAft>
              <a:buClr>
                <a:srgbClr val="000000"/>
              </a:buClr>
              <a:buSzPts val="800"/>
              <a:buFont typeface="Raleway Medium"/>
              <a:buNone/>
            </a:pPr>
            <a:r>
              <a:rPr lang="en" sz="800" b="0" i="0" u="none" strike="noStrike" cap="none">
                <a:solidFill>
                  <a:srgbClr val="000000"/>
                </a:solidFill>
                <a:latin typeface="Raleway Medium"/>
                <a:ea typeface="Raleway Medium"/>
                <a:cs typeface="Raleway Medium"/>
                <a:sym typeface="Raleway Medium"/>
              </a:rPr>
              <a:t>Metal structures, motors, and moving machines create EMI, multipath fading, and unstable signal quality. Shared 2.4 GHz spectrum adds congestion; cybersecurity is critical.</a:t>
            </a:r>
            <a:endParaRPr sz="800" b="0" i="0" u="none" strike="noStrike" cap="none">
              <a:solidFill>
                <a:schemeClr val="dk1"/>
              </a:solidFill>
              <a:latin typeface="Calibri"/>
              <a:ea typeface="Calibri"/>
              <a:cs typeface="Calibri"/>
              <a:sym typeface="Calibri"/>
            </a:endParaRPr>
          </a:p>
        </p:txBody>
      </p:sp>
      <p:sp>
        <p:nvSpPr>
          <p:cNvPr id="117" name="Google Shape;117;p2"/>
          <p:cNvSpPr/>
          <p:nvPr/>
        </p:nvSpPr>
        <p:spPr>
          <a:xfrm>
            <a:off x="1318766" y="3482950"/>
            <a:ext cx="2621831" cy="14734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B2DBA"/>
              </a:buClr>
              <a:buSzPts val="900"/>
              <a:buFont typeface="Comfortaa"/>
              <a:buNone/>
            </a:pPr>
            <a:r>
              <a:rPr lang="en" sz="900" b="1" i="0" u="none" strike="noStrike" cap="none">
                <a:solidFill>
                  <a:srgbClr val="1B2DBA"/>
                </a:solidFill>
                <a:latin typeface="Comfortaa"/>
                <a:ea typeface="Comfortaa"/>
                <a:cs typeface="Comfortaa"/>
                <a:sym typeface="Comfortaa"/>
              </a:rPr>
              <a:t>Three Standards Under Evaluation</a:t>
            </a:r>
            <a:endParaRPr sz="900" b="0" i="0" u="none" strike="noStrike" cap="none">
              <a:solidFill>
                <a:schemeClr val="dk1"/>
              </a:solidFill>
              <a:latin typeface="Calibri"/>
              <a:ea typeface="Calibri"/>
              <a:cs typeface="Calibri"/>
              <a:sym typeface="Calibri"/>
            </a:endParaRPr>
          </a:p>
        </p:txBody>
      </p:sp>
      <p:pic>
        <p:nvPicPr>
          <p:cNvPr id="118" name="Google Shape;118;p2" descr="preencoded.png"/>
          <p:cNvPicPr preferRelativeResize="0"/>
          <p:nvPr/>
        </p:nvPicPr>
        <p:blipFill rotWithShape="1">
          <a:blip r:embed="rId4">
            <a:alphaModFix/>
          </a:blip>
          <a:srcRect/>
          <a:stretch/>
        </p:blipFill>
        <p:spPr>
          <a:xfrm>
            <a:off x="1304479" y="3739679"/>
            <a:ext cx="2134493" cy="718245"/>
          </a:xfrm>
          <a:prstGeom prst="rect">
            <a:avLst/>
          </a:prstGeom>
          <a:noFill/>
          <a:ln>
            <a:noFill/>
          </a:ln>
        </p:spPr>
      </p:pic>
      <p:sp>
        <p:nvSpPr>
          <p:cNvPr id="119" name="Google Shape;119;p2"/>
          <p:cNvSpPr/>
          <p:nvPr/>
        </p:nvSpPr>
        <p:spPr>
          <a:xfrm>
            <a:off x="1481956" y="3860006"/>
            <a:ext cx="1178719" cy="14734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900"/>
              <a:buFont typeface="Comfortaa"/>
              <a:buNone/>
            </a:pPr>
            <a:r>
              <a:rPr lang="en" sz="900" b="1" i="0" u="none" strike="noStrike" cap="none">
                <a:solidFill>
                  <a:srgbClr val="000000"/>
                </a:solidFill>
                <a:latin typeface="Comfortaa"/>
                <a:ea typeface="Comfortaa"/>
                <a:cs typeface="Comfortaa"/>
                <a:sym typeface="Comfortaa"/>
              </a:rPr>
              <a:t>Wi-Fi / IEEE 802.11</a:t>
            </a:r>
            <a:endParaRPr sz="900" b="0" i="0" u="none" strike="noStrike" cap="none">
              <a:solidFill>
                <a:schemeClr val="dk1"/>
              </a:solidFill>
              <a:latin typeface="Calibri"/>
              <a:ea typeface="Calibri"/>
              <a:cs typeface="Calibri"/>
              <a:sym typeface="Calibri"/>
            </a:endParaRPr>
          </a:p>
        </p:txBody>
      </p:sp>
      <p:sp>
        <p:nvSpPr>
          <p:cNvPr id="120" name="Google Shape;120;p2"/>
          <p:cNvSpPr/>
          <p:nvPr/>
        </p:nvSpPr>
        <p:spPr>
          <a:xfrm>
            <a:off x="1481956" y="4051102"/>
            <a:ext cx="1836688" cy="286494"/>
          </a:xfrm>
          <a:prstGeom prst="rect">
            <a:avLst/>
          </a:prstGeom>
          <a:noFill/>
          <a:ln>
            <a:noFill/>
          </a:ln>
        </p:spPr>
        <p:txBody>
          <a:bodyPr spcFirstLastPara="1" wrap="square" lIns="0" tIns="0" rIns="0" bIns="0" anchor="t" anchorCtr="0">
            <a:noAutofit/>
          </a:bodyPr>
          <a:lstStyle/>
          <a:p>
            <a:pPr marL="0" marR="0" lvl="0" indent="0" algn="l" rtl="0">
              <a:lnSpc>
                <a:spcPct val="113000"/>
              </a:lnSpc>
              <a:spcBef>
                <a:spcPts val="0"/>
              </a:spcBef>
              <a:spcAft>
                <a:spcPts val="0"/>
              </a:spcAft>
              <a:buClr>
                <a:srgbClr val="000000"/>
              </a:buClr>
              <a:buSzPts val="800"/>
              <a:buFont typeface="Raleway Medium"/>
              <a:buNone/>
            </a:pPr>
            <a:r>
              <a:rPr lang="en" sz="800" b="0" i="0" u="none" strike="noStrike" cap="none">
                <a:solidFill>
                  <a:srgbClr val="000000"/>
                </a:solidFill>
                <a:latin typeface="Raleway Medium"/>
                <a:ea typeface="Raleway Medium"/>
                <a:cs typeface="Raleway Medium"/>
                <a:sym typeface="Raleway Medium"/>
              </a:rPr>
              <a:t>High-bandwidth mobile communication</a:t>
            </a:r>
            <a:endParaRPr sz="800" b="0" i="0" u="none" strike="noStrike" cap="none">
              <a:solidFill>
                <a:schemeClr val="dk1"/>
              </a:solidFill>
              <a:latin typeface="Calibri"/>
              <a:ea typeface="Calibri"/>
              <a:cs typeface="Calibri"/>
              <a:sym typeface="Calibri"/>
            </a:endParaRPr>
          </a:p>
        </p:txBody>
      </p:sp>
      <p:pic>
        <p:nvPicPr>
          <p:cNvPr id="121" name="Google Shape;121;p2" descr="preencoded.png"/>
          <p:cNvPicPr preferRelativeResize="0"/>
          <p:nvPr/>
        </p:nvPicPr>
        <p:blipFill rotWithShape="1">
          <a:blip r:embed="rId4">
            <a:alphaModFix/>
          </a:blip>
          <a:srcRect/>
          <a:stretch/>
        </p:blipFill>
        <p:spPr>
          <a:xfrm>
            <a:off x="3497610" y="3739679"/>
            <a:ext cx="2134493" cy="718245"/>
          </a:xfrm>
          <a:prstGeom prst="rect">
            <a:avLst/>
          </a:prstGeom>
          <a:noFill/>
          <a:ln>
            <a:noFill/>
          </a:ln>
        </p:spPr>
      </p:pic>
      <p:sp>
        <p:nvSpPr>
          <p:cNvPr id="122" name="Google Shape;122;p2"/>
          <p:cNvSpPr/>
          <p:nvPr/>
        </p:nvSpPr>
        <p:spPr>
          <a:xfrm>
            <a:off x="3675087" y="3860006"/>
            <a:ext cx="1331268" cy="14734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900"/>
              <a:buFont typeface="Comfortaa"/>
              <a:buNone/>
            </a:pPr>
            <a:r>
              <a:rPr lang="en" sz="900" b="1" i="0" u="none" strike="noStrike" cap="none">
                <a:solidFill>
                  <a:srgbClr val="000000"/>
                </a:solidFill>
                <a:latin typeface="Comfortaa"/>
                <a:ea typeface="Comfortaa"/>
                <a:cs typeface="Comfortaa"/>
                <a:sym typeface="Comfortaa"/>
              </a:rPr>
              <a:t>Zigbee / IEEE 802.15.4</a:t>
            </a:r>
            <a:endParaRPr sz="900" b="0" i="0" u="none" strike="noStrike" cap="none">
              <a:solidFill>
                <a:schemeClr val="dk1"/>
              </a:solidFill>
              <a:latin typeface="Calibri"/>
              <a:ea typeface="Calibri"/>
              <a:cs typeface="Calibri"/>
              <a:sym typeface="Calibri"/>
            </a:endParaRPr>
          </a:p>
        </p:txBody>
      </p:sp>
      <p:sp>
        <p:nvSpPr>
          <p:cNvPr id="123" name="Google Shape;123;p2"/>
          <p:cNvSpPr/>
          <p:nvPr/>
        </p:nvSpPr>
        <p:spPr>
          <a:xfrm>
            <a:off x="3675087" y="4051102"/>
            <a:ext cx="1836688" cy="143247"/>
          </a:xfrm>
          <a:prstGeom prst="rect">
            <a:avLst/>
          </a:prstGeom>
          <a:noFill/>
          <a:ln>
            <a:noFill/>
          </a:ln>
        </p:spPr>
        <p:txBody>
          <a:bodyPr spcFirstLastPara="1" wrap="square" lIns="0" tIns="0" rIns="0" bIns="0" anchor="t" anchorCtr="0">
            <a:noAutofit/>
          </a:bodyPr>
          <a:lstStyle/>
          <a:p>
            <a:pPr marL="0" marR="0" lvl="0" indent="0" algn="l" rtl="0">
              <a:lnSpc>
                <a:spcPct val="113000"/>
              </a:lnSpc>
              <a:spcBef>
                <a:spcPts val="0"/>
              </a:spcBef>
              <a:spcAft>
                <a:spcPts val="0"/>
              </a:spcAft>
              <a:buClr>
                <a:srgbClr val="000000"/>
              </a:buClr>
              <a:buSzPts val="800"/>
              <a:buFont typeface="Raleway Medium"/>
              <a:buNone/>
            </a:pPr>
            <a:r>
              <a:rPr lang="en" sz="800" b="0" i="0" u="none" strike="noStrike" cap="none">
                <a:solidFill>
                  <a:srgbClr val="000000"/>
                </a:solidFill>
                <a:latin typeface="Raleway Medium"/>
                <a:ea typeface="Raleway Medium"/>
                <a:cs typeface="Raleway Medium"/>
                <a:sym typeface="Raleway Medium"/>
              </a:rPr>
              <a:t>Low-power sensor networks</a:t>
            </a:r>
            <a:endParaRPr sz="800" b="0" i="0" u="none" strike="noStrike" cap="none">
              <a:solidFill>
                <a:schemeClr val="dk1"/>
              </a:solidFill>
              <a:latin typeface="Calibri"/>
              <a:ea typeface="Calibri"/>
              <a:cs typeface="Calibri"/>
              <a:sym typeface="Calibri"/>
            </a:endParaRPr>
          </a:p>
        </p:txBody>
      </p:sp>
      <p:pic>
        <p:nvPicPr>
          <p:cNvPr id="124" name="Google Shape;124;p2" descr="preencoded.png"/>
          <p:cNvPicPr preferRelativeResize="0"/>
          <p:nvPr/>
        </p:nvPicPr>
        <p:blipFill rotWithShape="1">
          <a:blip r:embed="rId4">
            <a:alphaModFix/>
          </a:blip>
          <a:srcRect/>
          <a:stretch/>
        </p:blipFill>
        <p:spPr>
          <a:xfrm>
            <a:off x="5690741" y="3739679"/>
            <a:ext cx="2134493" cy="718245"/>
          </a:xfrm>
          <a:prstGeom prst="rect">
            <a:avLst/>
          </a:prstGeom>
          <a:noFill/>
          <a:ln>
            <a:noFill/>
          </a:ln>
        </p:spPr>
      </p:pic>
      <p:sp>
        <p:nvSpPr>
          <p:cNvPr id="125" name="Google Shape;125;p2"/>
          <p:cNvSpPr/>
          <p:nvPr/>
        </p:nvSpPr>
        <p:spPr>
          <a:xfrm>
            <a:off x="5868219" y="3860006"/>
            <a:ext cx="1178719" cy="14734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900"/>
              <a:buFont typeface="Comfortaa"/>
              <a:buNone/>
            </a:pPr>
            <a:r>
              <a:rPr lang="en" sz="900" b="1" i="0" u="none" strike="noStrike" cap="none">
                <a:solidFill>
                  <a:srgbClr val="000000"/>
                </a:solidFill>
                <a:latin typeface="Comfortaa"/>
                <a:ea typeface="Comfortaa"/>
                <a:cs typeface="Comfortaa"/>
                <a:sym typeface="Comfortaa"/>
              </a:rPr>
              <a:t>5G New Radio</a:t>
            </a:r>
            <a:endParaRPr sz="900" b="0" i="0" u="none" strike="noStrike" cap="none">
              <a:solidFill>
                <a:schemeClr val="dk1"/>
              </a:solidFill>
              <a:latin typeface="Calibri"/>
              <a:ea typeface="Calibri"/>
              <a:cs typeface="Calibri"/>
              <a:sym typeface="Calibri"/>
            </a:endParaRPr>
          </a:p>
        </p:txBody>
      </p:sp>
      <p:sp>
        <p:nvSpPr>
          <p:cNvPr id="126" name="Google Shape;126;p2"/>
          <p:cNvSpPr/>
          <p:nvPr/>
        </p:nvSpPr>
        <p:spPr>
          <a:xfrm>
            <a:off x="5868219" y="4051102"/>
            <a:ext cx="1836688" cy="143247"/>
          </a:xfrm>
          <a:prstGeom prst="rect">
            <a:avLst/>
          </a:prstGeom>
          <a:noFill/>
          <a:ln>
            <a:noFill/>
          </a:ln>
        </p:spPr>
        <p:txBody>
          <a:bodyPr spcFirstLastPara="1" wrap="square" lIns="0" tIns="0" rIns="0" bIns="0" anchor="t" anchorCtr="0">
            <a:noAutofit/>
          </a:bodyPr>
          <a:lstStyle/>
          <a:p>
            <a:pPr marL="0" marR="0" lvl="0" indent="0" algn="l" rtl="0">
              <a:lnSpc>
                <a:spcPct val="113000"/>
              </a:lnSpc>
              <a:spcBef>
                <a:spcPts val="0"/>
              </a:spcBef>
              <a:spcAft>
                <a:spcPts val="0"/>
              </a:spcAft>
              <a:buClr>
                <a:srgbClr val="000000"/>
              </a:buClr>
              <a:buSzPts val="800"/>
              <a:buFont typeface="Raleway Medium"/>
              <a:buNone/>
            </a:pPr>
            <a:r>
              <a:rPr lang="en" sz="800" b="0" i="0" u="none" strike="noStrike" cap="none">
                <a:solidFill>
                  <a:srgbClr val="000000"/>
                </a:solidFill>
                <a:latin typeface="Raleway Medium"/>
                <a:ea typeface="Raleway Medium"/>
                <a:cs typeface="Raleway Medium"/>
                <a:sym typeface="Raleway Medium"/>
              </a:rPr>
              <a:t>Real-time control &amp; private networks</a:t>
            </a:r>
            <a:endParaRPr sz="800" b="0" i="0" u="none" strike="noStrike" cap="none">
              <a:solidFill>
                <a:schemeClr val="dk1"/>
              </a:solidFill>
              <a:latin typeface="Calibri"/>
              <a:ea typeface="Calibri"/>
              <a:cs typeface="Calibri"/>
              <a:sym typeface="Calibri"/>
            </a:endParaRPr>
          </a:p>
        </p:txBody>
      </p:sp>
      <p:sp>
        <p:nvSpPr>
          <p:cNvPr id="127" name="Google Shape;127;p2"/>
          <p:cNvSpPr/>
          <p:nvPr/>
        </p:nvSpPr>
        <p:spPr>
          <a:xfrm>
            <a:off x="1318766" y="4539928"/>
            <a:ext cx="6963668" cy="143247"/>
          </a:xfrm>
          <a:prstGeom prst="rect">
            <a:avLst/>
          </a:prstGeom>
          <a:noFill/>
          <a:ln>
            <a:noFill/>
          </a:ln>
        </p:spPr>
        <p:txBody>
          <a:bodyPr spcFirstLastPara="1" wrap="square" lIns="0" tIns="0" rIns="0" bIns="0" anchor="t" anchorCtr="0">
            <a:noAutofit/>
          </a:bodyPr>
          <a:lstStyle/>
          <a:p>
            <a:pPr marL="0" marR="0" lvl="0" indent="0" algn="l" rtl="0">
              <a:lnSpc>
                <a:spcPct val="113000"/>
              </a:lnSpc>
              <a:spcBef>
                <a:spcPts val="0"/>
              </a:spcBef>
              <a:spcAft>
                <a:spcPts val="0"/>
              </a:spcAft>
              <a:buClr>
                <a:srgbClr val="000000"/>
              </a:buClr>
              <a:buSzPts val="800"/>
              <a:buFont typeface="Raleway Medium"/>
              <a:buNone/>
            </a:pPr>
            <a:r>
              <a:rPr lang="en" sz="800" b="0" i="0" u="none" strike="noStrike" cap="none">
                <a:solidFill>
                  <a:srgbClr val="000000"/>
                </a:solidFill>
                <a:latin typeface="Raleway Medium"/>
                <a:ea typeface="Raleway Medium"/>
                <a:cs typeface="Raleway Medium"/>
                <a:sym typeface="Raleway Medium"/>
              </a:rPr>
              <a:t>Evaluated on latency, throughput, reliability, energy use, and deployment complexity.</a:t>
            </a:r>
            <a:endParaRPr sz="800" b="0" i="0" u="none" strike="noStrike" cap="none">
              <a:solidFill>
                <a:schemeClr val="dk1"/>
              </a:solidFill>
              <a:latin typeface="Calibri"/>
              <a:ea typeface="Calibri"/>
              <a:cs typeface="Calibri"/>
              <a:sym typeface="Calibri"/>
            </a:endParaRPr>
          </a:p>
        </p:txBody>
      </p:sp>
      <p:pic>
        <p:nvPicPr>
          <p:cNvPr id="128" name="Google Shape;128;p2"/>
          <p:cNvPicPr preferRelativeResize="0"/>
          <p:nvPr/>
        </p:nvPicPr>
        <p:blipFill rotWithShape="1">
          <a:blip r:embed="rId5">
            <a:alphaModFix/>
          </a:blip>
          <a:srcRect/>
          <a:stretch/>
        </p:blipFill>
        <p:spPr>
          <a:xfrm>
            <a:off x="6966825" y="4857000"/>
            <a:ext cx="2177175" cy="2865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9"/>
        <p:cNvGrpSpPr/>
        <p:nvPr/>
      </p:nvGrpSpPr>
      <p:grpSpPr>
        <a:xfrm>
          <a:off x="0" y="0"/>
          <a:ext cx="0" cy="0"/>
          <a:chOff x="0" y="0"/>
          <a:chExt cx="0" cy="0"/>
        </a:xfrm>
      </p:grpSpPr>
      <p:sp>
        <p:nvSpPr>
          <p:cNvPr id="140" name="Google Shape;140;p4"/>
          <p:cNvSpPr txBox="1"/>
          <p:nvPr/>
        </p:nvSpPr>
        <p:spPr>
          <a:xfrm>
            <a:off x="365760" y="205740"/>
            <a:ext cx="8412600" cy="66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200"/>
              <a:buFont typeface="Arial"/>
              <a:buNone/>
            </a:pPr>
            <a:r>
              <a:rPr lang="en" sz="2200" b="1" i="0" u="none" strike="noStrike" cap="none" dirty="0">
                <a:solidFill>
                  <a:srgbClr val="1A56A0"/>
                </a:solidFill>
                <a:latin typeface="Arial"/>
                <a:ea typeface="Arial"/>
                <a:cs typeface="Arial"/>
                <a:sym typeface="Arial"/>
              </a:rPr>
              <a:t>  Early Wireless Sensor Networks (WSN)</a:t>
            </a:r>
            <a:endParaRPr sz="2200" b="1" i="0" u="none" strike="noStrike" cap="none" dirty="0">
              <a:solidFill>
                <a:srgbClr val="1A56A0"/>
              </a:solidFill>
              <a:latin typeface="Arial"/>
              <a:ea typeface="Arial"/>
              <a:cs typeface="Arial"/>
              <a:sym typeface="Arial"/>
            </a:endParaRPr>
          </a:p>
        </p:txBody>
      </p:sp>
      <p:sp>
        <p:nvSpPr>
          <p:cNvPr id="141" name="Google Shape;141;p4"/>
          <p:cNvSpPr/>
          <p:nvPr/>
        </p:nvSpPr>
        <p:spPr>
          <a:xfrm>
            <a:off x="365760" y="900113"/>
            <a:ext cx="4950000" cy="207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 name="Google Shape;142;p4"/>
          <p:cNvSpPr/>
          <p:nvPr/>
        </p:nvSpPr>
        <p:spPr>
          <a:xfrm>
            <a:off x="365760" y="1080135"/>
            <a:ext cx="1450000" cy="7200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 name="Google Shape;143;p4"/>
          <p:cNvSpPr txBox="1"/>
          <p:nvPr/>
        </p:nvSpPr>
        <p:spPr>
          <a:xfrm>
            <a:off x="365760" y="1080135"/>
            <a:ext cx="1450000" cy="720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rgbClr val="FFFFFF"/>
                </a:solidFill>
                <a:latin typeface="Arial"/>
                <a:ea typeface="Arial"/>
                <a:cs typeface="Arial"/>
                <a:sym typeface="Arial"/>
              </a:rPr>
              <a:t>Foundation</a:t>
            </a:r>
            <a:endParaRPr sz="1200" b="1" i="0" u="none" strike="noStrike" cap="none">
              <a:solidFill>
                <a:srgbClr val="FFFFFF"/>
              </a:solidFill>
              <a:latin typeface="Arial"/>
              <a:ea typeface="Arial"/>
              <a:cs typeface="Arial"/>
              <a:sym typeface="Arial"/>
            </a:endParaRPr>
          </a:p>
        </p:txBody>
      </p:sp>
      <p:sp>
        <p:nvSpPr>
          <p:cNvPr id="144" name="Google Shape;144;p4"/>
          <p:cNvSpPr/>
          <p:nvPr/>
        </p:nvSpPr>
        <p:spPr>
          <a:xfrm>
            <a:off x="1815760" y="1080135"/>
            <a:ext cx="3500000" cy="720000"/>
          </a:xfrm>
          <a:prstGeom prst="rect">
            <a:avLst/>
          </a:prstGeom>
          <a:solidFill>
            <a:srgbClr val="F2F2F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 name="Google Shape;145;p4"/>
          <p:cNvSpPr txBox="1"/>
          <p:nvPr/>
        </p:nvSpPr>
        <p:spPr>
          <a:xfrm>
            <a:off x="1998640" y="1080135"/>
            <a:ext cx="3134240" cy="72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100" b="0" i="0" u="none" strike="noStrike" cap="none">
                <a:solidFill>
                  <a:srgbClr val="444444"/>
                </a:solidFill>
                <a:latin typeface="Arial"/>
                <a:ea typeface="Arial"/>
                <a:cs typeface="Arial"/>
                <a:sym typeface="Arial"/>
              </a:rPr>
              <a:t>WSN established the foundation of industrial wireless communication, based on IEEE 802.15.4 standards.</a:t>
            </a:r>
            <a:endParaRPr sz="1200" b="0" i="0" u="none" strike="noStrike" cap="none">
              <a:solidFill>
                <a:srgbClr val="444444"/>
              </a:solidFill>
              <a:latin typeface="Arial"/>
              <a:ea typeface="Arial"/>
              <a:cs typeface="Arial"/>
              <a:sym typeface="Arial"/>
            </a:endParaRPr>
          </a:p>
        </p:txBody>
      </p:sp>
      <p:sp>
        <p:nvSpPr>
          <p:cNvPr id="146" name="Google Shape;146;p4"/>
          <p:cNvSpPr/>
          <p:nvPr/>
        </p:nvSpPr>
        <p:spPr>
          <a:xfrm>
            <a:off x="365760" y="1980248"/>
            <a:ext cx="1450000" cy="7200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p4"/>
          <p:cNvSpPr txBox="1"/>
          <p:nvPr/>
        </p:nvSpPr>
        <p:spPr>
          <a:xfrm>
            <a:off x="365760" y="1980248"/>
            <a:ext cx="1450000" cy="720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rgbClr val="FFFFFF"/>
                </a:solidFill>
                <a:latin typeface="Arial"/>
                <a:ea typeface="Arial"/>
                <a:cs typeface="Arial"/>
                <a:sym typeface="Arial"/>
              </a:rPr>
              <a:t>Main Goal</a:t>
            </a:r>
            <a:endParaRPr sz="1200" b="1" i="0" u="none" strike="noStrike" cap="none">
              <a:solidFill>
                <a:srgbClr val="FFFFFF"/>
              </a:solidFill>
              <a:latin typeface="Arial"/>
              <a:ea typeface="Arial"/>
              <a:cs typeface="Arial"/>
              <a:sym typeface="Arial"/>
            </a:endParaRPr>
          </a:p>
        </p:txBody>
      </p:sp>
      <p:sp>
        <p:nvSpPr>
          <p:cNvPr id="148" name="Google Shape;148;p4"/>
          <p:cNvSpPr/>
          <p:nvPr/>
        </p:nvSpPr>
        <p:spPr>
          <a:xfrm>
            <a:off x="1815760" y="1980248"/>
            <a:ext cx="3500000" cy="720000"/>
          </a:xfrm>
          <a:prstGeom prst="rect">
            <a:avLst/>
          </a:prstGeom>
          <a:solidFill>
            <a:srgbClr val="F2F2F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 name="Google Shape;149;p4"/>
          <p:cNvSpPr txBox="1"/>
          <p:nvPr/>
        </p:nvSpPr>
        <p:spPr>
          <a:xfrm>
            <a:off x="1998640" y="1980248"/>
            <a:ext cx="3134240" cy="72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100" b="0" i="0" u="none" strike="noStrike" cap="none">
                <a:solidFill>
                  <a:srgbClr val="444444"/>
                </a:solidFill>
                <a:latin typeface="Arial"/>
                <a:ea typeface="Arial"/>
                <a:cs typeface="Arial"/>
                <a:sym typeface="Arial"/>
              </a:rPr>
              <a:t>Collect and transmit data wirelessly with low power consumption, allowing devices to run on batteries for years.</a:t>
            </a:r>
            <a:endParaRPr sz="1200" b="0" i="0" u="none" strike="noStrike" cap="none">
              <a:solidFill>
                <a:srgbClr val="444444"/>
              </a:solidFill>
              <a:latin typeface="Arial"/>
              <a:ea typeface="Arial"/>
              <a:cs typeface="Arial"/>
              <a:sym typeface="Arial"/>
            </a:endParaRPr>
          </a:p>
        </p:txBody>
      </p:sp>
      <p:sp>
        <p:nvSpPr>
          <p:cNvPr id="150" name="Google Shape;150;p4"/>
          <p:cNvSpPr/>
          <p:nvPr/>
        </p:nvSpPr>
        <p:spPr>
          <a:xfrm>
            <a:off x="365760" y="2880360"/>
            <a:ext cx="1450000" cy="7200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p4"/>
          <p:cNvSpPr txBox="1"/>
          <p:nvPr/>
        </p:nvSpPr>
        <p:spPr>
          <a:xfrm>
            <a:off x="365760" y="2880360"/>
            <a:ext cx="1450000" cy="720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rgbClr val="FFFFFF"/>
                </a:solidFill>
                <a:latin typeface="Arial"/>
                <a:ea typeface="Arial"/>
                <a:cs typeface="Arial"/>
                <a:sym typeface="Arial"/>
              </a:rPr>
              <a:t>Key Challenges</a:t>
            </a:r>
            <a:endParaRPr sz="1200" b="1" i="0" u="none" strike="noStrike" cap="none">
              <a:solidFill>
                <a:srgbClr val="FFFFFF"/>
              </a:solidFill>
              <a:latin typeface="Arial"/>
              <a:ea typeface="Arial"/>
              <a:cs typeface="Arial"/>
              <a:sym typeface="Arial"/>
            </a:endParaRPr>
          </a:p>
        </p:txBody>
      </p:sp>
      <p:sp>
        <p:nvSpPr>
          <p:cNvPr id="152" name="Google Shape;152;p4"/>
          <p:cNvSpPr/>
          <p:nvPr/>
        </p:nvSpPr>
        <p:spPr>
          <a:xfrm>
            <a:off x="1815760" y="2880360"/>
            <a:ext cx="3500000" cy="720000"/>
          </a:xfrm>
          <a:prstGeom prst="rect">
            <a:avLst/>
          </a:prstGeom>
          <a:solidFill>
            <a:srgbClr val="F2F2F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 name="Google Shape;153;p4"/>
          <p:cNvSpPr txBox="1"/>
          <p:nvPr/>
        </p:nvSpPr>
        <p:spPr>
          <a:xfrm>
            <a:off x="1998640" y="2880360"/>
            <a:ext cx="3134240" cy="72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100" b="0" i="0" u="none" strike="noStrike" cap="none">
                <a:solidFill>
                  <a:srgbClr val="444444"/>
                </a:solidFill>
                <a:latin typeface="Arial"/>
                <a:ea typeface="Arial"/>
                <a:cs typeface="Arial"/>
                <a:sym typeface="Arial"/>
              </a:rPr>
              <a:t>Unstable delays, electromagnetic interference from machines, and signal loss in metallic factory environments.</a:t>
            </a:r>
            <a:endParaRPr sz="1200" b="0" i="0" u="none" strike="noStrike" cap="none">
              <a:solidFill>
                <a:srgbClr val="444444"/>
              </a:solidFill>
              <a:latin typeface="Arial"/>
              <a:ea typeface="Arial"/>
              <a:cs typeface="Arial"/>
              <a:sym typeface="Arial"/>
            </a:endParaRPr>
          </a:p>
        </p:txBody>
      </p:sp>
      <p:sp>
        <p:nvSpPr>
          <p:cNvPr id="154" name="Google Shape;154;p4"/>
          <p:cNvSpPr/>
          <p:nvPr/>
        </p:nvSpPr>
        <p:spPr>
          <a:xfrm>
            <a:off x="365760" y="3780473"/>
            <a:ext cx="1450000" cy="7200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p4"/>
          <p:cNvSpPr txBox="1"/>
          <p:nvPr/>
        </p:nvSpPr>
        <p:spPr>
          <a:xfrm>
            <a:off x="365760" y="3780473"/>
            <a:ext cx="1450000" cy="720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rgbClr val="FFFFFF"/>
                </a:solidFill>
                <a:latin typeface="Arial"/>
                <a:ea typeface="Arial"/>
                <a:cs typeface="Arial"/>
                <a:sym typeface="Arial"/>
              </a:rPr>
              <a:t>Significance</a:t>
            </a:r>
            <a:endParaRPr sz="1200" b="1" i="0" u="none" strike="noStrike" cap="none">
              <a:solidFill>
                <a:srgbClr val="FFFFFF"/>
              </a:solidFill>
              <a:latin typeface="Arial"/>
              <a:ea typeface="Arial"/>
              <a:cs typeface="Arial"/>
              <a:sym typeface="Arial"/>
            </a:endParaRPr>
          </a:p>
        </p:txBody>
      </p:sp>
      <p:sp>
        <p:nvSpPr>
          <p:cNvPr id="156" name="Google Shape;156;p4"/>
          <p:cNvSpPr/>
          <p:nvPr/>
        </p:nvSpPr>
        <p:spPr>
          <a:xfrm>
            <a:off x="1815760" y="3780473"/>
            <a:ext cx="3500000" cy="720000"/>
          </a:xfrm>
          <a:prstGeom prst="rect">
            <a:avLst/>
          </a:prstGeom>
          <a:solidFill>
            <a:srgbClr val="F2F2F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 name="Google Shape;157;p4"/>
          <p:cNvSpPr txBox="1"/>
          <p:nvPr/>
        </p:nvSpPr>
        <p:spPr>
          <a:xfrm>
            <a:off x="1998640" y="3780473"/>
            <a:ext cx="3134240" cy="72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100" b="0" i="0" u="none" strike="noStrike" cap="none">
                <a:solidFill>
                  <a:srgbClr val="444444"/>
                </a:solidFill>
                <a:latin typeface="Arial"/>
                <a:ea typeface="Arial"/>
                <a:cs typeface="Arial"/>
                <a:sym typeface="Arial"/>
              </a:rPr>
              <a:t>Despite the challenges, WSN shaped the design principles still used in modern industrial wireless systems today.</a:t>
            </a:r>
            <a:endParaRPr sz="1200" b="0" i="0" u="none" strike="noStrike" cap="none">
              <a:solidFill>
                <a:srgbClr val="444444"/>
              </a:solidFill>
              <a:latin typeface="Arial"/>
              <a:ea typeface="Arial"/>
              <a:cs typeface="Arial"/>
              <a:sym typeface="Arial"/>
            </a:endParaRPr>
          </a:p>
        </p:txBody>
      </p:sp>
      <p:pic>
        <p:nvPicPr>
          <p:cNvPr id="158" name="Google Shape;158;p4" descr="image.jpg"/>
          <p:cNvPicPr preferRelativeResize="0"/>
          <p:nvPr/>
        </p:nvPicPr>
        <p:blipFill rotWithShape="1">
          <a:blip r:embed="rId3">
            <a:alphaModFix/>
          </a:blip>
          <a:srcRect/>
          <a:stretch/>
        </p:blipFill>
        <p:spPr>
          <a:xfrm>
            <a:off x="5150000" y="1769483"/>
            <a:ext cx="3628240" cy="2021303"/>
          </a:xfrm>
          <a:prstGeom prst="rect">
            <a:avLst/>
          </a:prstGeom>
          <a:noFill/>
          <a:ln>
            <a:noFill/>
          </a:ln>
        </p:spPr>
      </p:pic>
      <p:sp>
        <p:nvSpPr>
          <p:cNvPr id="159" name="Google Shape;159;p4"/>
          <p:cNvSpPr txBox="1"/>
          <p:nvPr/>
        </p:nvSpPr>
        <p:spPr>
          <a:xfrm>
            <a:off x="5150000" y="4530135"/>
            <a:ext cx="3628240" cy="450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100" b="0" i="1" u="none" strike="noStrike" cap="none">
                <a:solidFill>
                  <a:srgbClr val="666666"/>
                </a:solidFill>
                <a:latin typeface="Arial"/>
                <a:ea typeface="Arial"/>
                <a:cs typeface="Arial"/>
                <a:sym typeface="Arial"/>
              </a:rPr>
              <a:t>Typical WSN architecture: sensor nodes relay data through the network to a base station and the internet.</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3"/>
        <p:cNvGrpSpPr/>
        <p:nvPr/>
      </p:nvGrpSpPr>
      <p:grpSpPr>
        <a:xfrm>
          <a:off x="0" y="0"/>
          <a:ext cx="0" cy="0"/>
          <a:chOff x="0" y="0"/>
          <a:chExt cx="0" cy="0"/>
        </a:xfrm>
      </p:grpSpPr>
      <p:sp>
        <p:nvSpPr>
          <p:cNvPr id="164" name="Google Shape;164;p6"/>
          <p:cNvSpPr txBox="1"/>
          <p:nvPr/>
        </p:nvSpPr>
        <p:spPr>
          <a:xfrm>
            <a:off x="365760" y="205740"/>
            <a:ext cx="8412600" cy="66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200"/>
              <a:buFont typeface="Arial"/>
              <a:buNone/>
            </a:pPr>
            <a:r>
              <a:rPr lang="en" sz="2200" b="1" i="0" u="none" strike="noStrike" cap="none" dirty="0">
                <a:solidFill>
                  <a:srgbClr val="1A56A0"/>
                </a:solidFill>
                <a:latin typeface="Arial"/>
                <a:ea typeface="Arial"/>
                <a:cs typeface="Arial"/>
                <a:sym typeface="Arial"/>
              </a:rPr>
              <a:t>  Industrial Wi-Fi Evolution</a:t>
            </a:r>
            <a:endParaRPr sz="2200" b="1" i="0" u="none" strike="noStrike" cap="none" dirty="0">
              <a:solidFill>
                <a:srgbClr val="1A56A0"/>
              </a:solidFill>
              <a:latin typeface="Arial"/>
              <a:ea typeface="Arial"/>
              <a:cs typeface="Arial"/>
              <a:sym typeface="Arial"/>
            </a:endParaRPr>
          </a:p>
        </p:txBody>
      </p:sp>
      <p:sp>
        <p:nvSpPr>
          <p:cNvPr id="165" name="Google Shape;165;p6"/>
          <p:cNvSpPr/>
          <p:nvPr/>
        </p:nvSpPr>
        <p:spPr>
          <a:xfrm>
            <a:off x="365760" y="900113"/>
            <a:ext cx="4950000" cy="207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6" name="Google Shape;166;p6"/>
          <p:cNvSpPr/>
          <p:nvPr/>
        </p:nvSpPr>
        <p:spPr>
          <a:xfrm>
            <a:off x="365760" y="1080135"/>
            <a:ext cx="1450000" cy="6687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6"/>
          <p:cNvSpPr txBox="1"/>
          <p:nvPr/>
        </p:nvSpPr>
        <p:spPr>
          <a:xfrm>
            <a:off x="365760" y="1080135"/>
            <a:ext cx="1450000" cy="66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 sz="1300" b="1" i="0" u="none" strike="noStrike" cap="none">
                <a:solidFill>
                  <a:srgbClr val="FFFFFF"/>
                </a:solidFill>
                <a:latin typeface="Arial"/>
                <a:ea typeface="Arial"/>
                <a:cs typeface="Arial"/>
                <a:sym typeface="Arial"/>
              </a:rPr>
              <a:t>802.11b/g</a:t>
            </a:r>
            <a:endParaRPr sz="1300" b="1" i="0" u="none" strike="noStrike" cap="none">
              <a:solidFill>
                <a:srgbClr val="FFFFFF"/>
              </a:solidFill>
              <a:latin typeface="Arial"/>
              <a:ea typeface="Arial"/>
              <a:cs typeface="Arial"/>
              <a:sym typeface="Arial"/>
            </a:endParaRPr>
          </a:p>
        </p:txBody>
      </p:sp>
      <p:sp>
        <p:nvSpPr>
          <p:cNvPr id="168" name="Google Shape;168;p6"/>
          <p:cNvSpPr/>
          <p:nvPr/>
        </p:nvSpPr>
        <p:spPr>
          <a:xfrm>
            <a:off x="1815760" y="1080135"/>
            <a:ext cx="3500000" cy="668700"/>
          </a:xfrm>
          <a:prstGeom prst="rect">
            <a:avLst/>
          </a:prstGeom>
          <a:solidFill>
            <a:srgbClr val="F2F2F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9" name="Google Shape;169;p6"/>
          <p:cNvSpPr txBox="1"/>
          <p:nvPr/>
        </p:nvSpPr>
        <p:spPr>
          <a:xfrm>
            <a:off x="1998640" y="1080135"/>
            <a:ext cx="3225680" cy="66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100" b="0" i="0" u="none" strike="noStrike" cap="none">
                <a:solidFill>
                  <a:srgbClr val="444444"/>
                </a:solidFill>
                <a:latin typeface="Arial"/>
                <a:ea typeface="Arial"/>
                <a:cs typeface="Arial"/>
                <a:sym typeface="Arial"/>
              </a:rPr>
              <a:t>High variable latency - not suitable for closed-loop industrial control.</a:t>
            </a:r>
            <a:endParaRPr sz="1200" b="0" i="0" u="none" strike="noStrike" cap="none">
              <a:solidFill>
                <a:srgbClr val="444444"/>
              </a:solidFill>
              <a:latin typeface="Arial"/>
              <a:ea typeface="Arial"/>
              <a:cs typeface="Arial"/>
              <a:sym typeface="Arial"/>
            </a:endParaRPr>
          </a:p>
        </p:txBody>
      </p:sp>
      <p:sp>
        <p:nvSpPr>
          <p:cNvPr id="170" name="Google Shape;170;p6"/>
          <p:cNvSpPr/>
          <p:nvPr/>
        </p:nvSpPr>
        <p:spPr>
          <a:xfrm>
            <a:off x="365760" y="1954530"/>
            <a:ext cx="1450000" cy="6687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1" name="Google Shape;171;p6"/>
          <p:cNvSpPr txBox="1"/>
          <p:nvPr/>
        </p:nvSpPr>
        <p:spPr>
          <a:xfrm>
            <a:off x="365760" y="1954530"/>
            <a:ext cx="1450000" cy="66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 sz="1300" b="1" i="0" u="none" strike="noStrike" cap="none">
                <a:solidFill>
                  <a:srgbClr val="FFFFFF"/>
                </a:solidFill>
                <a:latin typeface="Arial"/>
                <a:ea typeface="Arial"/>
                <a:cs typeface="Arial"/>
                <a:sym typeface="Arial"/>
              </a:rPr>
              <a:t>802.11e</a:t>
            </a:r>
            <a:endParaRPr sz="1300" b="1" i="0" u="none" strike="noStrike" cap="none">
              <a:solidFill>
                <a:srgbClr val="FFFFFF"/>
              </a:solidFill>
              <a:latin typeface="Arial"/>
              <a:ea typeface="Arial"/>
              <a:cs typeface="Arial"/>
              <a:sym typeface="Arial"/>
            </a:endParaRPr>
          </a:p>
        </p:txBody>
      </p:sp>
      <p:sp>
        <p:nvSpPr>
          <p:cNvPr id="172" name="Google Shape;172;p6"/>
          <p:cNvSpPr/>
          <p:nvPr/>
        </p:nvSpPr>
        <p:spPr>
          <a:xfrm>
            <a:off x="1815760" y="1954530"/>
            <a:ext cx="3500000" cy="668700"/>
          </a:xfrm>
          <a:prstGeom prst="rect">
            <a:avLst/>
          </a:prstGeom>
          <a:solidFill>
            <a:srgbClr val="F2F2F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 name="Google Shape;173;p6"/>
          <p:cNvSpPr txBox="1"/>
          <p:nvPr/>
        </p:nvSpPr>
        <p:spPr>
          <a:xfrm>
            <a:off x="1998640" y="1954530"/>
            <a:ext cx="3225680" cy="66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100" b="0" i="0" u="none" strike="noStrike" cap="none">
                <a:solidFill>
                  <a:srgbClr val="444444"/>
                </a:solidFill>
                <a:latin typeface="Arial"/>
                <a:ea typeface="Arial"/>
                <a:cs typeface="Arial"/>
                <a:sym typeface="Arial"/>
              </a:rPr>
              <a:t>QoS  introduced traffic prioritisation, improving reliability.</a:t>
            </a:r>
            <a:endParaRPr sz="1200" b="0" i="0" u="none" strike="noStrike" cap="none">
              <a:solidFill>
                <a:srgbClr val="444444"/>
              </a:solidFill>
              <a:latin typeface="Arial"/>
              <a:ea typeface="Arial"/>
              <a:cs typeface="Arial"/>
              <a:sym typeface="Arial"/>
            </a:endParaRPr>
          </a:p>
        </p:txBody>
      </p:sp>
      <p:sp>
        <p:nvSpPr>
          <p:cNvPr id="174" name="Google Shape;174;p6"/>
          <p:cNvSpPr/>
          <p:nvPr/>
        </p:nvSpPr>
        <p:spPr>
          <a:xfrm>
            <a:off x="365760" y="2828925"/>
            <a:ext cx="1450000" cy="6687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 name="Google Shape;175;p6"/>
          <p:cNvSpPr txBox="1"/>
          <p:nvPr/>
        </p:nvSpPr>
        <p:spPr>
          <a:xfrm>
            <a:off x="365760" y="2828925"/>
            <a:ext cx="1450000" cy="66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 sz="1300" b="1" i="0" u="none" strike="noStrike" cap="none">
                <a:solidFill>
                  <a:srgbClr val="FFFFFF"/>
                </a:solidFill>
                <a:latin typeface="Arial"/>
                <a:ea typeface="Arial"/>
                <a:cs typeface="Arial"/>
                <a:sym typeface="Arial"/>
              </a:rPr>
              <a:t>802.11n</a:t>
            </a:r>
            <a:endParaRPr sz="1300" b="1" i="0" u="none" strike="noStrike" cap="none">
              <a:solidFill>
                <a:srgbClr val="FFFFFF"/>
              </a:solidFill>
              <a:latin typeface="Arial"/>
              <a:ea typeface="Arial"/>
              <a:cs typeface="Arial"/>
              <a:sym typeface="Arial"/>
            </a:endParaRPr>
          </a:p>
        </p:txBody>
      </p:sp>
      <p:sp>
        <p:nvSpPr>
          <p:cNvPr id="176" name="Google Shape;176;p6"/>
          <p:cNvSpPr/>
          <p:nvPr/>
        </p:nvSpPr>
        <p:spPr>
          <a:xfrm>
            <a:off x="1815760" y="2828925"/>
            <a:ext cx="3500000" cy="668700"/>
          </a:xfrm>
          <a:prstGeom prst="rect">
            <a:avLst/>
          </a:prstGeom>
          <a:solidFill>
            <a:srgbClr val="F2F2F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 name="Google Shape;177;p6"/>
          <p:cNvSpPr txBox="1"/>
          <p:nvPr/>
        </p:nvSpPr>
        <p:spPr>
          <a:xfrm>
            <a:off x="1998640" y="2828925"/>
            <a:ext cx="3225680" cy="66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100" b="0" i="0" u="none" strike="noStrike" cap="none">
                <a:solidFill>
                  <a:srgbClr val="444444"/>
                </a:solidFill>
                <a:latin typeface="Arial"/>
                <a:ea typeface="Arial"/>
                <a:cs typeface="Arial"/>
                <a:sym typeface="Arial"/>
              </a:rPr>
              <a:t>MIMO antennas enabled spatial multiplexing and increased data rates.</a:t>
            </a:r>
            <a:endParaRPr sz="1200" b="0" i="0" u="none" strike="noStrike" cap="none">
              <a:solidFill>
                <a:srgbClr val="444444"/>
              </a:solidFill>
              <a:latin typeface="Arial"/>
              <a:ea typeface="Arial"/>
              <a:cs typeface="Arial"/>
              <a:sym typeface="Arial"/>
            </a:endParaRPr>
          </a:p>
        </p:txBody>
      </p:sp>
      <p:sp>
        <p:nvSpPr>
          <p:cNvPr id="178" name="Google Shape;178;p6"/>
          <p:cNvSpPr/>
          <p:nvPr/>
        </p:nvSpPr>
        <p:spPr>
          <a:xfrm>
            <a:off x="365760" y="3703320"/>
            <a:ext cx="1450000" cy="6687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 name="Google Shape;179;p6"/>
          <p:cNvSpPr txBox="1"/>
          <p:nvPr/>
        </p:nvSpPr>
        <p:spPr>
          <a:xfrm>
            <a:off x="365760" y="3703320"/>
            <a:ext cx="1450000" cy="66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 sz="1300" b="1" i="0" u="none" strike="noStrike" cap="none">
                <a:solidFill>
                  <a:srgbClr val="FFFFFF"/>
                </a:solidFill>
                <a:latin typeface="Arial"/>
                <a:ea typeface="Arial"/>
                <a:cs typeface="Arial"/>
                <a:sym typeface="Arial"/>
              </a:rPr>
              <a:t>Wi-Fi 6</a:t>
            </a:r>
            <a:endParaRPr sz="1300" b="1" i="0" u="none" strike="noStrike" cap="none">
              <a:solidFill>
                <a:srgbClr val="FFFFFF"/>
              </a:solidFill>
              <a:latin typeface="Arial"/>
              <a:ea typeface="Arial"/>
              <a:cs typeface="Arial"/>
              <a:sym typeface="Arial"/>
            </a:endParaRPr>
          </a:p>
        </p:txBody>
      </p:sp>
      <p:sp>
        <p:nvSpPr>
          <p:cNvPr id="180" name="Google Shape;180;p6"/>
          <p:cNvSpPr/>
          <p:nvPr/>
        </p:nvSpPr>
        <p:spPr>
          <a:xfrm>
            <a:off x="1815760" y="3703320"/>
            <a:ext cx="3500000" cy="668700"/>
          </a:xfrm>
          <a:prstGeom prst="rect">
            <a:avLst/>
          </a:prstGeom>
          <a:solidFill>
            <a:srgbClr val="F2F2F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 name="Google Shape;181;p6"/>
          <p:cNvSpPr txBox="1"/>
          <p:nvPr/>
        </p:nvSpPr>
        <p:spPr>
          <a:xfrm>
            <a:off x="1998640" y="3703320"/>
            <a:ext cx="3225680" cy="66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100" b="0" i="0" u="none" strike="noStrike" cap="none">
                <a:solidFill>
                  <a:srgbClr val="444444"/>
                </a:solidFill>
                <a:latin typeface="Arial"/>
                <a:ea typeface="Arial"/>
                <a:cs typeface="Arial"/>
                <a:sym typeface="Arial"/>
              </a:rPr>
              <a:t>OFDMA and TWT reduced latency to ~5 ms - suitable for high-bandwidth industrial applications.</a:t>
            </a:r>
            <a:endParaRPr sz="1200" b="0" i="0" u="none" strike="noStrike" cap="none">
              <a:solidFill>
                <a:srgbClr val="444444"/>
              </a:solidFill>
              <a:latin typeface="Arial"/>
              <a:ea typeface="Arial"/>
              <a:cs typeface="Arial"/>
              <a:sym typeface="Arial"/>
            </a:endParaRPr>
          </a:p>
        </p:txBody>
      </p:sp>
      <p:pic>
        <p:nvPicPr>
          <p:cNvPr id="182" name="Google Shape;182;p6" descr="image.jpg"/>
          <p:cNvPicPr preferRelativeResize="0"/>
          <p:nvPr/>
        </p:nvPicPr>
        <p:blipFill rotWithShape="1">
          <a:blip r:embed="rId3">
            <a:alphaModFix/>
          </a:blip>
          <a:srcRect/>
          <a:stretch/>
        </p:blipFill>
        <p:spPr>
          <a:xfrm>
            <a:off x="5150000" y="1961688"/>
            <a:ext cx="3628240" cy="1636894"/>
          </a:xfrm>
          <a:prstGeom prst="rect">
            <a:avLst/>
          </a:prstGeom>
          <a:noFill/>
          <a:ln>
            <a:noFill/>
          </a:ln>
        </p:spPr>
      </p:pic>
      <p:sp>
        <p:nvSpPr>
          <p:cNvPr id="183" name="Google Shape;183;p6"/>
          <p:cNvSpPr txBox="1"/>
          <p:nvPr/>
        </p:nvSpPr>
        <p:spPr>
          <a:xfrm>
            <a:off x="5150000" y="4530135"/>
            <a:ext cx="3628240" cy="450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100" b="0" i="1" u="none" strike="noStrike" cap="none">
                <a:solidFill>
                  <a:srgbClr val="666666"/>
                </a:solidFill>
                <a:latin typeface="Arial"/>
                <a:ea typeface="Arial"/>
                <a:cs typeface="Arial"/>
                <a:sym typeface="Arial"/>
              </a:rPr>
              <a:t>Wireless connectivity links across an industrial network: routers, sensors, and IoT-enabled devices.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7"/>
        <p:cNvGrpSpPr/>
        <p:nvPr/>
      </p:nvGrpSpPr>
      <p:grpSpPr>
        <a:xfrm>
          <a:off x="0" y="0"/>
          <a:ext cx="0" cy="0"/>
          <a:chOff x="0" y="0"/>
          <a:chExt cx="0" cy="0"/>
        </a:xfrm>
      </p:grpSpPr>
      <p:sp>
        <p:nvSpPr>
          <p:cNvPr id="188" name="Google Shape;188;p8"/>
          <p:cNvSpPr txBox="1"/>
          <p:nvPr/>
        </p:nvSpPr>
        <p:spPr>
          <a:xfrm>
            <a:off x="365760" y="205740"/>
            <a:ext cx="8412600" cy="66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200"/>
              <a:buFont typeface="Arial"/>
              <a:buNone/>
            </a:pPr>
            <a:r>
              <a:rPr lang="en" sz="2200" b="1" i="0" u="none" strike="noStrike" cap="none" dirty="0">
                <a:solidFill>
                  <a:srgbClr val="1A56A0"/>
                </a:solidFill>
                <a:latin typeface="Arial"/>
                <a:ea typeface="Arial"/>
                <a:cs typeface="Arial"/>
                <a:sym typeface="Arial"/>
              </a:rPr>
              <a:t> 5G and the URLLC Paradigm</a:t>
            </a:r>
            <a:endParaRPr sz="2200" b="1" i="0" u="none" strike="noStrike" cap="none" dirty="0">
              <a:solidFill>
                <a:srgbClr val="1A56A0"/>
              </a:solidFill>
              <a:latin typeface="Arial"/>
              <a:ea typeface="Arial"/>
              <a:cs typeface="Arial"/>
              <a:sym typeface="Arial"/>
            </a:endParaRPr>
          </a:p>
        </p:txBody>
      </p:sp>
      <p:sp>
        <p:nvSpPr>
          <p:cNvPr id="189" name="Google Shape;189;p8"/>
          <p:cNvSpPr/>
          <p:nvPr/>
        </p:nvSpPr>
        <p:spPr>
          <a:xfrm>
            <a:off x="365760" y="900113"/>
            <a:ext cx="8412600" cy="207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 name="Google Shape;190;p8"/>
          <p:cNvSpPr/>
          <p:nvPr/>
        </p:nvSpPr>
        <p:spPr>
          <a:xfrm>
            <a:off x="365760" y="1080135"/>
            <a:ext cx="2560200" cy="11316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p8"/>
          <p:cNvSpPr txBox="1"/>
          <p:nvPr/>
        </p:nvSpPr>
        <p:spPr>
          <a:xfrm>
            <a:off x="365760" y="1080135"/>
            <a:ext cx="2560200" cy="617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FFFFFF"/>
                </a:solidFill>
                <a:latin typeface="Arial"/>
                <a:ea typeface="Arial"/>
                <a:cs typeface="Arial"/>
                <a:sym typeface="Arial"/>
              </a:rPr>
              <a:t>&lt; 1 ms</a:t>
            </a:r>
            <a:endParaRPr sz="2400" b="1" i="0" u="none" strike="noStrike" cap="none">
              <a:solidFill>
                <a:srgbClr val="FFFFFF"/>
              </a:solidFill>
              <a:latin typeface="Arial"/>
              <a:ea typeface="Arial"/>
              <a:cs typeface="Arial"/>
              <a:sym typeface="Arial"/>
            </a:endParaRPr>
          </a:p>
        </p:txBody>
      </p:sp>
      <p:sp>
        <p:nvSpPr>
          <p:cNvPr id="192" name="Google Shape;192;p8"/>
          <p:cNvSpPr txBox="1"/>
          <p:nvPr/>
        </p:nvSpPr>
        <p:spPr>
          <a:xfrm>
            <a:off x="365760" y="1594485"/>
            <a:ext cx="2560200" cy="514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none" strike="noStrike" cap="none">
                <a:solidFill>
                  <a:srgbClr val="FFFFFF"/>
                </a:solidFill>
                <a:latin typeface="Arial"/>
                <a:ea typeface="Arial"/>
                <a:cs typeface="Arial"/>
                <a:sym typeface="Arial"/>
              </a:rPr>
              <a:t>Latency for motion control</a:t>
            </a:r>
            <a:endParaRPr sz="1100" b="0" i="0" u="none" strike="noStrike" cap="none">
              <a:solidFill>
                <a:srgbClr val="FFFFFF"/>
              </a:solidFill>
              <a:latin typeface="Arial"/>
              <a:ea typeface="Arial"/>
              <a:cs typeface="Arial"/>
              <a:sym typeface="Arial"/>
            </a:endParaRPr>
          </a:p>
        </p:txBody>
      </p:sp>
      <p:sp>
        <p:nvSpPr>
          <p:cNvPr id="193" name="Google Shape;193;p8"/>
          <p:cNvSpPr/>
          <p:nvPr/>
        </p:nvSpPr>
        <p:spPr>
          <a:xfrm>
            <a:off x="3291840" y="1080135"/>
            <a:ext cx="2560200" cy="11316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 name="Google Shape;194;p8"/>
          <p:cNvSpPr txBox="1"/>
          <p:nvPr/>
        </p:nvSpPr>
        <p:spPr>
          <a:xfrm>
            <a:off x="3291840" y="1080135"/>
            <a:ext cx="2560200" cy="617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FFFFFF"/>
                </a:solidFill>
                <a:latin typeface="Arial"/>
                <a:ea typeface="Arial"/>
                <a:cs typeface="Arial"/>
                <a:sym typeface="Arial"/>
              </a:rPr>
              <a:t>99.9999%</a:t>
            </a:r>
            <a:endParaRPr sz="2400" b="1" i="0" u="none" strike="noStrike" cap="none">
              <a:solidFill>
                <a:srgbClr val="FFFFFF"/>
              </a:solidFill>
              <a:latin typeface="Arial"/>
              <a:ea typeface="Arial"/>
              <a:cs typeface="Arial"/>
              <a:sym typeface="Arial"/>
            </a:endParaRPr>
          </a:p>
        </p:txBody>
      </p:sp>
      <p:sp>
        <p:nvSpPr>
          <p:cNvPr id="195" name="Google Shape;195;p8"/>
          <p:cNvSpPr txBox="1"/>
          <p:nvPr/>
        </p:nvSpPr>
        <p:spPr>
          <a:xfrm>
            <a:off x="3291840" y="1594485"/>
            <a:ext cx="2560200" cy="514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none" strike="noStrike" cap="none">
                <a:solidFill>
                  <a:srgbClr val="FFFFFF"/>
                </a:solidFill>
                <a:latin typeface="Arial"/>
                <a:ea typeface="Arial"/>
                <a:cs typeface="Arial"/>
                <a:sym typeface="Arial"/>
              </a:rPr>
              <a:t>Reliability (URLLC)</a:t>
            </a:r>
            <a:endParaRPr sz="1100" b="0" i="0" u="none" strike="noStrike" cap="none">
              <a:solidFill>
                <a:srgbClr val="FFFFFF"/>
              </a:solidFill>
              <a:latin typeface="Arial"/>
              <a:ea typeface="Arial"/>
              <a:cs typeface="Arial"/>
              <a:sym typeface="Arial"/>
            </a:endParaRPr>
          </a:p>
        </p:txBody>
      </p:sp>
      <p:sp>
        <p:nvSpPr>
          <p:cNvPr id="196" name="Google Shape;196;p8"/>
          <p:cNvSpPr/>
          <p:nvPr/>
        </p:nvSpPr>
        <p:spPr>
          <a:xfrm>
            <a:off x="6217920" y="1080135"/>
            <a:ext cx="2560200" cy="11316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7" name="Google Shape;197;p8"/>
          <p:cNvSpPr txBox="1"/>
          <p:nvPr/>
        </p:nvSpPr>
        <p:spPr>
          <a:xfrm>
            <a:off x="6217920" y="1080135"/>
            <a:ext cx="2560200" cy="617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FFFFFF"/>
                </a:solidFill>
                <a:latin typeface="Arial"/>
                <a:ea typeface="Arial"/>
                <a:cs typeface="Arial"/>
                <a:sym typeface="Arial"/>
              </a:rPr>
              <a:t>70%+</a:t>
            </a:r>
            <a:endParaRPr sz="2400" b="1" i="0" u="none" strike="noStrike" cap="none">
              <a:solidFill>
                <a:srgbClr val="FFFFFF"/>
              </a:solidFill>
              <a:latin typeface="Arial"/>
              <a:ea typeface="Arial"/>
              <a:cs typeface="Arial"/>
              <a:sym typeface="Arial"/>
            </a:endParaRPr>
          </a:p>
        </p:txBody>
      </p:sp>
      <p:sp>
        <p:nvSpPr>
          <p:cNvPr id="198" name="Google Shape;198;p8"/>
          <p:cNvSpPr txBox="1"/>
          <p:nvPr/>
        </p:nvSpPr>
        <p:spPr>
          <a:xfrm>
            <a:off x="6217920" y="1594485"/>
            <a:ext cx="2560200" cy="514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none" strike="noStrike" cap="none">
                <a:solidFill>
                  <a:srgbClr val="FFFFFF"/>
                </a:solidFill>
                <a:latin typeface="Arial"/>
                <a:ea typeface="Arial"/>
                <a:cs typeface="Arial"/>
                <a:sym typeface="Arial"/>
              </a:rPr>
              <a:t>New private wireless spend on standalone 5G (2025)</a:t>
            </a:r>
            <a:endParaRPr sz="1100" b="0" i="0" u="none" strike="noStrike" cap="none">
              <a:solidFill>
                <a:srgbClr val="FFFFFF"/>
              </a:solidFill>
              <a:latin typeface="Arial"/>
              <a:ea typeface="Arial"/>
              <a:cs typeface="Arial"/>
              <a:sym typeface="Arial"/>
            </a:endParaRPr>
          </a:p>
        </p:txBody>
      </p:sp>
      <p:sp>
        <p:nvSpPr>
          <p:cNvPr id="199" name="Google Shape;199;p8"/>
          <p:cNvSpPr txBox="1"/>
          <p:nvPr/>
        </p:nvSpPr>
        <p:spPr>
          <a:xfrm>
            <a:off x="365760" y="2400000"/>
            <a:ext cx="8412480" cy="380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600" b="1" i="0" u="none" strike="noStrike" cap="none">
                <a:solidFill>
                  <a:srgbClr val="1A56A0"/>
                </a:solidFill>
                <a:latin typeface="Arial"/>
                <a:ea typeface="Arial"/>
                <a:cs typeface="Arial"/>
                <a:sym typeface="Arial"/>
              </a:rPr>
              <a:t>3GPP Roadmap</a:t>
            </a:r>
            <a:endParaRPr/>
          </a:p>
        </p:txBody>
      </p:sp>
      <p:sp>
        <p:nvSpPr>
          <p:cNvPr id="200" name="Google Shape;200;p8"/>
          <p:cNvSpPr txBox="1"/>
          <p:nvPr/>
        </p:nvSpPr>
        <p:spPr>
          <a:xfrm>
            <a:off x="365760" y="2850000"/>
            <a:ext cx="8412480" cy="2000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1000"/>
              </a:spcAft>
              <a:buNone/>
            </a:pPr>
            <a:r>
              <a:rPr lang="en" sz="1300" b="0" i="0" u="none" strike="noStrike" cap="none">
                <a:solidFill>
                  <a:srgbClr val="333333"/>
                </a:solidFill>
                <a:latin typeface="Arial"/>
                <a:ea typeface="Arial"/>
                <a:cs typeface="Arial"/>
                <a:sym typeface="Arial"/>
              </a:rPr>
              <a:t>•  Release 15 (2018): air interface standardised.</a:t>
            </a:r>
            <a:endParaRPr/>
          </a:p>
          <a:p>
            <a:pPr marL="0" marR="0" lvl="0" indent="0" algn="l" rtl="0">
              <a:lnSpc>
                <a:spcPct val="100000"/>
              </a:lnSpc>
              <a:spcBef>
                <a:spcPts val="600"/>
              </a:spcBef>
              <a:spcAft>
                <a:spcPts val="1000"/>
              </a:spcAft>
              <a:buNone/>
            </a:pPr>
            <a:r>
              <a:rPr lang="en" sz="1300" b="0" i="0" u="none" strike="noStrike" cap="none">
                <a:solidFill>
                  <a:srgbClr val="333333"/>
                </a:solidFill>
                <a:latin typeface="Arial"/>
                <a:ea typeface="Arial"/>
                <a:cs typeface="Arial"/>
                <a:sym typeface="Arial"/>
              </a:rPr>
              <a:t>•  Release 16 (2020): mini-slot scheduling added for URLLC.</a:t>
            </a:r>
            <a:endParaRPr/>
          </a:p>
          <a:p>
            <a:pPr marL="0" marR="0" lvl="0" indent="0" algn="l" rtl="0">
              <a:lnSpc>
                <a:spcPct val="100000"/>
              </a:lnSpc>
              <a:spcBef>
                <a:spcPts val="600"/>
              </a:spcBef>
              <a:spcAft>
                <a:spcPts val="1000"/>
              </a:spcAft>
              <a:buNone/>
            </a:pPr>
            <a:r>
              <a:rPr lang="en" sz="1300" b="0" i="0" u="none" strike="noStrike" cap="none">
                <a:solidFill>
                  <a:srgbClr val="333333"/>
                </a:solidFill>
                <a:latin typeface="Arial"/>
                <a:ea typeface="Arial"/>
                <a:cs typeface="Arial"/>
                <a:sym typeface="Arial"/>
              </a:rPr>
              <a:t>•  Release 16 also defines 5G as a TSN bridge for end-to-end deterministic delivery.</a:t>
            </a:r>
            <a:endParaRPr/>
          </a:p>
          <a:p>
            <a:pPr marL="0" marR="0" lvl="0" indent="0" algn="l" rtl="0">
              <a:lnSpc>
                <a:spcPct val="100000"/>
              </a:lnSpc>
              <a:spcBef>
                <a:spcPts val="600"/>
              </a:spcBef>
              <a:spcAft>
                <a:spcPts val="1000"/>
              </a:spcAft>
              <a:buNone/>
            </a:pPr>
            <a:r>
              <a:rPr lang="en" sz="1300" b="0" i="0" u="none" strike="noStrike" cap="none">
                <a:solidFill>
                  <a:srgbClr val="333333"/>
                </a:solidFill>
                <a:latin typeface="Arial"/>
                <a:ea typeface="Arial"/>
                <a:cs typeface="Arial"/>
                <a:sym typeface="Arial"/>
              </a:rPr>
              <a:t>•  Many industries are now adopting private 5G networks for real-time control.</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A56A0"/>
        </a:solidFill>
        <a:effectLst/>
      </p:bgPr>
    </p:bg>
    <p:spTree>
      <p:nvGrpSpPr>
        <p:cNvPr id="1" name="Shape 206"/>
        <p:cNvGrpSpPr/>
        <p:nvPr/>
      </p:nvGrpSpPr>
      <p:grpSpPr>
        <a:xfrm>
          <a:off x="0" y="0"/>
          <a:ext cx="0" cy="0"/>
          <a:chOff x="0" y="0"/>
          <a:chExt cx="0" cy="0"/>
        </a:xfrm>
      </p:grpSpPr>
      <p:sp>
        <p:nvSpPr>
          <p:cNvPr id="207" name="Google Shape;207;p10"/>
          <p:cNvSpPr txBox="1"/>
          <p:nvPr/>
        </p:nvSpPr>
        <p:spPr>
          <a:xfrm>
            <a:off x="731520" y="1285875"/>
            <a:ext cx="7680900" cy="514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Arial"/>
              <a:ea typeface="Arial"/>
              <a:cs typeface="Arial"/>
              <a:sym typeface="Arial"/>
            </a:endParaRPr>
          </a:p>
        </p:txBody>
      </p:sp>
      <p:sp>
        <p:nvSpPr>
          <p:cNvPr id="208" name="Google Shape;208;p10"/>
          <p:cNvSpPr txBox="1"/>
          <p:nvPr/>
        </p:nvSpPr>
        <p:spPr>
          <a:xfrm>
            <a:off x="731520" y="1800225"/>
            <a:ext cx="7680900" cy="10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3600"/>
              <a:buFont typeface="Arial"/>
              <a:buNone/>
            </a:pPr>
            <a:r>
              <a:rPr lang="en" sz="3600" b="1" i="0" u="none" strike="noStrike" cap="none">
                <a:solidFill>
                  <a:srgbClr val="FFFFFF"/>
                </a:solidFill>
                <a:latin typeface="Arial"/>
                <a:ea typeface="Arial"/>
                <a:cs typeface="Arial"/>
                <a:sym typeface="Arial"/>
              </a:rPr>
              <a:t>Emerging Trends</a:t>
            </a:r>
            <a:endParaRPr sz="3600" b="1" i="0" u="none" strike="noStrike" cap="none">
              <a:solidFill>
                <a:srgbClr val="FFFFFF"/>
              </a:solidFill>
              <a:latin typeface="Arial"/>
              <a:ea typeface="Arial"/>
              <a:cs typeface="Arial"/>
              <a:sym typeface="Arial"/>
            </a:endParaRPr>
          </a:p>
        </p:txBody>
      </p:sp>
      <p:sp>
        <p:nvSpPr>
          <p:cNvPr id="209" name="Google Shape;209;p10"/>
          <p:cNvSpPr txBox="1"/>
          <p:nvPr/>
        </p:nvSpPr>
        <p:spPr>
          <a:xfrm>
            <a:off x="731520" y="3086100"/>
            <a:ext cx="7680900" cy="514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BDD7EE"/>
                </a:solidFill>
                <a:latin typeface="Arial"/>
                <a:ea typeface="Arial"/>
                <a:cs typeface="Arial"/>
                <a:sym typeface="Arial"/>
              </a:rPr>
              <a:t>Wi-Fi 7  ·  Private 5G  ·  Wireless TSN  </a:t>
            </a:r>
            <a:endParaRPr sz="1400" b="0" i="0" u="none" strike="noStrike" cap="none">
              <a:solidFill>
                <a:srgbClr val="BDD7EE"/>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3"/>
        <p:cNvGrpSpPr/>
        <p:nvPr/>
      </p:nvGrpSpPr>
      <p:grpSpPr>
        <a:xfrm>
          <a:off x="0" y="0"/>
          <a:ext cx="0" cy="0"/>
          <a:chOff x="0" y="0"/>
          <a:chExt cx="0" cy="0"/>
        </a:xfrm>
      </p:grpSpPr>
      <p:sp>
        <p:nvSpPr>
          <p:cNvPr id="214" name="Google Shape;214;p11"/>
          <p:cNvSpPr txBox="1"/>
          <p:nvPr/>
        </p:nvSpPr>
        <p:spPr>
          <a:xfrm>
            <a:off x="365760" y="205740"/>
            <a:ext cx="8412600" cy="66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200"/>
              <a:buFont typeface="Arial"/>
              <a:buNone/>
            </a:pPr>
            <a:r>
              <a:rPr lang="en" sz="2200" b="1" i="0" u="none" strike="noStrike" cap="none" dirty="0">
                <a:solidFill>
                  <a:srgbClr val="1A56A0"/>
                </a:solidFill>
                <a:latin typeface="Arial"/>
                <a:ea typeface="Arial"/>
                <a:cs typeface="Arial"/>
                <a:sym typeface="Arial"/>
              </a:rPr>
              <a:t>  Wi-Fi 7 — Multi-Link Operation (MLO)</a:t>
            </a:r>
            <a:endParaRPr sz="2200" b="1" i="0" u="none" strike="noStrike" cap="none" dirty="0">
              <a:solidFill>
                <a:srgbClr val="1A56A0"/>
              </a:solidFill>
              <a:latin typeface="Arial"/>
              <a:ea typeface="Arial"/>
              <a:cs typeface="Arial"/>
              <a:sym typeface="Arial"/>
            </a:endParaRPr>
          </a:p>
        </p:txBody>
      </p:sp>
      <p:sp>
        <p:nvSpPr>
          <p:cNvPr id="215" name="Google Shape;215;p11"/>
          <p:cNvSpPr/>
          <p:nvPr/>
        </p:nvSpPr>
        <p:spPr>
          <a:xfrm>
            <a:off x="365760" y="900113"/>
            <a:ext cx="8412600" cy="207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6" name="Google Shape;216;p11"/>
          <p:cNvSpPr/>
          <p:nvPr/>
        </p:nvSpPr>
        <p:spPr>
          <a:xfrm>
            <a:off x="365760" y="1131570"/>
            <a:ext cx="2469000" cy="6500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7" name="Google Shape;217;p11"/>
          <p:cNvSpPr txBox="1"/>
          <p:nvPr/>
        </p:nvSpPr>
        <p:spPr>
          <a:xfrm>
            <a:off x="365760" y="1131570"/>
            <a:ext cx="2469000" cy="650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FFFFFF"/>
                </a:solidFill>
                <a:latin typeface="Arial"/>
                <a:ea typeface="Arial"/>
                <a:cs typeface="Arial"/>
                <a:sym typeface="Arial"/>
              </a:rPr>
              <a:t>2.4 GHz</a:t>
            </a:r>
            <a:endParaRPr sz="1600" b="1" i="0" u="none" strike="noStrike" cap="none">
              <a:solidFill>
                <a:srgbClr val="FFFFFF"/>
              </a:solidFill>
              <a:latin typeface="Arial"/>
              <a:ea typeface="Arial"/>
              <a:cs typeface="Arial"/>
              <a:sym typeface="Arial"/>
            </a:endParaRPr>
          </a:p>
        </p:txBody>
      </p:sp>
      <p:sp>
        <p:nvSpPr>
          <p:cNvPr id="218" name="Google Shape;218;p11"/>
          <p:cNvSpPr/>
          <p:nvPr/>
        </p:nvSpPr>
        <p:spPr>
          <a:xfrm>
            <a:off x="3291840" y="1131570"/>
            <a:ext cx="2469000" cy="6500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9" name="Google Shape;219;p11"/>
          <p:cNvSpPr txBox="1"/>
          <p:nvPr/>
        </p:nvSpPr>
        <p:spPr>
          <a:xfrm>
            <a:off x="3291840" y="1131570"/>
            <a:ext cx="2469000" cy="650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FFFFFF"/>
                </a:solidFill>
                <a:latin typeface="Arial"/>
                <a:ea typeface="Arial"/>
                <a:cs typeface="Arial"/>
                <a:sym typeface="Arial"/>
              </a:rPr>
              <a:t>5 GHz</a:t>
            </a:r>
            <a:endParaRPr sz="1600" b="1" i="0" u="none" strike="noStrike" cap="none">
              <a:solidFill>
                <a:srgbClr val="FFFFFF"/>
              </a:solidFill>
              <a:latin typeface="Arial"/>
              <a:ea typeface="Arial"/>
              <a:cs typeface="Arial"/>
              <a:sym typeface="Arial"/>
            </a:endParaRPr>
          </a:p>
        </p:txBody>
      </p:sp>
      <p:sp>
        <p:nvSpPr>
          <p:cNvPr id="220" name="Google Shape;220;p11"/>
          <p:cNvSpPr/>
          <p:nvPr/>
        </p:nvSpPr>
        <p:spPr>
          <a:xfrm>
            <a:off x="6217920" y="1131570"/>
            <a:ext cx="2469000" cy="6500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 name="Google Shape;221;p11"/>
          <p:cNvSpPr txBox="1"/>
          <p:nvPr/>
        </p:nvSpPr>
        <p:spPr>
          <a:xfrm>
            <a:off x="6217920" y="1131570"/>
            <a:ext cx="2469000" cy="650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FFFFFF"/>
                </a:solidFill>
                <a:latin typeface="Arial"/>
                <a:ea typeface="Arial"/>
                <a:cs typeface="Arial"/>
                <a:sym typeface="Arial"/>
              </a:rPr>
              <a:t>6 GHz</a:t>
            </a:r>
            <a:endParaRPr sz="1600" b="1" i="0" u="none" strike="noStrike" cap="none">
              <a:solidFill>
                <a:srgbClr val="FFFFFF"/>
              </a:solidFill>
              <a:latin typeface="Arial"/>
              <a:ea typeface="Arial"/>
              <a:cs typeface="Arial"/>
              <a:sym typeface="Arial"/>
            </a:endParaRPr>
          </a:p>
        </p:txBody>
      </p:sp>
      <p:sp>
        <p:nvSpPr>
          <p:cNvPr id="222" name="Google Shape;222;p11"/>
          <p:cNvSpPr txBox="1"/>
          <p:nvPr/>
        </p:nvSpPr>
        <p:spPr>
          <a:xfrm>
            <a:off x="365760" y="1831570"/>
            <a:ext cx="8412600" cy="411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1" u="none" strike="noStrike" cap="none">
                <a:solidFill>
                  <a:srgbClr val="666666"/>
                </a:solidFill>
                <a:latin typeface="Arial"/>
                <a:ea typeface="Arial"/>
                <a:cs typeface="Arial"/>
                <a:sym typeface="Arial"/>
              </a:rPr>
              <a:t>All three frequency bands used simultaneously</a:t>
            </a:r>
            <a:endParaRPr sz="1200" b="0" i="1" u="none" strike="noStrike" cap="none">
              <a:solidFill>
                <a:srgbClr val="666666"/>
              </a:solidFill>
              <a:latin typeface="Arial"/>
              <a:ea typeface="Arial"/>
              <a:cs typeface="Arial"/>
              <a:sym typeface="Arial"/>
            </a:endParaRPr>
          </a:p>
        </p:txBody>
      </p:sp>
      <p:sp>
        <p:nvSpPr>
          <p:cNvPr id="223" name="Google Shape;223;p11"/>
          <p:cNvSpPr txBox="1"/>
          <p:nvPr/>
        </p:nvSpPr>
        <p:spPr>
          <a:xfrm>
            <a:off x="548640" y="2293170"/>
            <a:ext cx="8046600" cy="50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200" b="0" i="0" u="none" strike="noStrike" cap="none">
                <a:solidFill>
                  <a:srgbClr val="444444"/>
                </a:solidFill>
                <a:latin typeface="Arial"/>
                <a:ea typeface="Arial"/>
                <a:cs typeface="Arial"/>
                <a:sym typeface="Arial"/>
              </a:rPr>
              <a:t>•  MLO provides packet-level diversity — a dropped packet on one band is recovered on another without retransmission delay.</a:t>
            </a:r>
            <a:endParaRPr sz="1300" b="0" i="0" u="none" strike="noStrike" cap="none">
              <a:solidFill>
                <a:srgbClr val="444444"/>
              </a:solidFill>
              <a:latin typeface="Arial"/>
              <a:ea typeface="Arial"/>
              <a:cs typeface="Arial"/>
              <a:sym typeface="Arial"/>
            </a:endParaRPr>
          </a:p>
        </p:txBody>
      </p:sp>
      <p:sp>
        <p:nvSpPr>
          <p:cNvPr id="224" name="Google Shape;224;p11"/>
          <p:cNvSpPr txBox="1"/>
          <p:nvPr/>
        </p:nvSpPr>
        <p:spPr>
          <a:xfrm>
            <a:off x="548640" y="2793170"/>
            <a:ext cx="8046600" cy="50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200" b="0" i="0" u="none" strike="noStrike" cap="none">
                <a:solidFill>
                  <a:srgbClr val="444444"/>
                </a:solidFill>
                <a:latin typeface="Arial"/>
                <a:ea typeface="Arial"/>
                <a:cs typeface="Arial"/>
                <a:sym typeface="Arial"/>
              </a:rPr>
              <a:t>•  IEEE 802.11be (Wi-Fi 7) is finalised. Draft 1.0 of Wi-Fi 8 (802.11bn) completed August 2025.</a:t>
            </a:r>
            <a:endParaRPr sz="1300" b="0" i="0" u="none" strike="noStrike" cap="none">
              <a:solidFill>
                <a:srgbClr val="444444"/>
              </a:solidFill>
              <a:latin typeface="Arial"/>
              <a:ea typeface="Arial"/>
              <a:cs typeface="Arial"/>
              <a:sym typeface="Arial"/>
            </a:endParaRPr>
          </a:p>
        </p:txBody>
      </p:sp>
      <p:pic>
        <p:nvPicPr>
          <p:cNvPr id="225" name="Google Shape;225;p11" descr="image.jpg"/>
          <p:cNvPicPr preferRelativeResize="0"/>
          <p:nvPr/>
        </p:nvPicPr>
        <p:blipFill rotWithShape="1">
          <a:blip r:embed="rId3">
            <a:alphaModFix/>
          </a:blip>
          <a:srcRect/>
          <a:stretch/>
        </p:blipFill>
        <p:spPr>
          <a:xfrm>
            <a:off x="2493576" y="3353170"/>
            <a:ext cx="4156847" cy="1340330"/>
          </a:xfrm>
          <a:prstGeom prst="rect">
            <a:avLst/>
          </a:prstGeom>
          <a:noFill/>
          <a:ln>
            <a:noFill/>
          </a:ln>
        </p:spPr>
      </p:pic>
      <p:sp>
        <p:nvSpPr>
          <p:cNvPr id="226" name="Google Shape;226;p11"/>
          <p:cNvSpPr txBox="1"/>
          <p:nvPr/>
        </p:nvSpPr>
        <p:spPr>
          <a:xfrm>
            <a:off x="365760" y="4723500"/>
            <a:ext cx="8412480" cy="3800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 sz="1100" b="0" i="1" u="none" strike="noStrike" cap="none">
                <a:solidFill>
                  <a:srgbClr val="666666"/>
                </a:solidFill>
                <a:latin typeface="Arial"/>
                <a:ea typeface="Arial"/>
                <a:cs typeface="Arial"/>
                <a:sym typeface="Arial"/>
              </a:rPr>
              <a:t>Wi-Fi 6 uses 2.4/5 GHz bands, while Wi-Fi 7 adds the 6 GHz band for simultaneous multi-link operation.</a:t>
            </a: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0"/>
        <p:cNvGrpSpPr/>
        <p:nvPr/>
      </p:nvGrpSpPr>
      <p:grpSpPr>
        <a:xfrm>
          <a:off x="0" y="0"/>
          <a:ext cx="0" cy="0"/>
          <a:chOff x="0" y="0"/>
          <a:chExt cx="0" cy="0"/>
        </a:xfrm>
      </p:grpSpPr>
      <p:sp>
        <p:nvSpPr>
          <p:cNvPr id="231" name="Google Shape;231;p13"/>
          <p:cNvSpPr txBox="1"/>
          <p:nvPr/>
        </p:nvSpPr>
        <p:spPr>
          <a:xfrm>
            <a:off x="365760" y="205740"/>
            <a:ext cx="8412600" cy="66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200"/>
              <a:buFont typeface="Arial"/>
              <a:buNone/>
            </a:pPr>
            <a:r>
              <a:rPr lang="en" sz="2200" b="1" i="0" u="none" strike="noStrike" cap="none" dirty="0">
                <a:solidFill>
                  <a:srgbClr val="1A56A0"/>
                </a:solidFill>
                <a:latin typeface="Arial"/>
                <a:ea typeface="Arial"/>
                <a:cs typeface="Arial"/>
                <a:sym typeface="Arial"/>
              </a:rPr>
              <a:t> Private 5G &amp; Wireless Time-Sensitive Networking</a:t>
            </a:r>
            <a:endParaRPr sz="2200" b="1" i="0" u="none" strike="noStrike" cap="none" dirty="0">
              <a:solidFill>
                <a:srgbClr val="1A56A0"/>
              </a:solidFill>
              <a:latin typeface="Arial"/>
              <a:ea typeface="Arial"/>
              <a:cs typeface="Arial"/>
              <a:sym typeface="Arial"/>
            </a:endParaRPr>
          </a:p>
        </p:txBody>
      </p:sp>
      <p:sp>
        <p:nvSpPr>
          <p:cNvPr id="232" name="Google Shape;232;p13"/>
          <p:cNvSpPr/>
          <p:nvPr/>
        </p:nvSpPr>
        <p:spPr>
          <a:xfrm>
            <a:off x="365760" y="900113"/>
            <a:ext cx="8412600" cy="207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 name="Google Shape;233;p13"/>
          <p:cNvSpPr txBox="1"/>
          <p:nvPr/>
        </p:nvSpPr>
        <p:spPr>
          <a:xfrm>
            <a:off x="267885" y="1675413"/>
            <a:ext cx="4106100" cy="470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000" b="0" i="0" u="none" strike="noStrike" cap="none">
                <a:solidFill>
                  <a:srgbClr val="444444"/>
                </a:solidFill>
                <a:latin typeface="Arial"/>
                <a:ea typeface="Arial"/>
                <a:cs typeface="Arial"/>
                <a:sym typeface="Arial"/>
              </a:rPr>
              <a:t>•  Companies build and manage their own 5G network instead of using public infrastructure.</a:t>
            </a:r>
            <a:endParaRPr sz="1300" b="0" i="0" u="none" strike="noStrike" cap="none">
              <a:solidFill>
                <a:srgbClr val="444444"/>
              </a:solidFill>
              <a:latin typeface="Arial"/>
              <a:ea typeface="Arial"/>
              <a:cs typeface="Arial"/>
              <a:sym typeface="Arial"/>
            </a:endParaRPr>
          </a:p>
        </p:txBody>
      </p:sp>
      <p:sp>
        <p:nvSpPr>
          <p:cNvPr id="234" name="Google Shape;234;p13"/>
          <p:cNvSpPr txBox="1"/>
          <p:nvPr/>
        </p:nvSpPr>
        <p:spPr>
          <a:xfrm>
            <a:off x="267810" y="2145413"/>
            <a:ext cx="4106100" cy="470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000" b="0" i="0" u="none" strike="noStrike" cap="none">
                <a:solidFill>
                  <a:srgbClr val="444444"/>
                </a:solidFill>
                <a:latin typeface="Arial"/>
                <a:ea typeface="Arial"/>
                <a:cs typeface="Arial"/>
                <a:sym typeface="Arial"/>
              </a:rPr>
              <a:t>•  Full control over security, service levels, and spectrum allocation.</a:t>
            </a:r>
            <a:endParaRPr sz="1300" b="0" i="0" u="none" strike="noStrike" cap="none">
              <a:solidFill>
                <a:srgbClr val="444444"/>
              </a:solidFill>
              <a:latin typeface="Arial"/>
              <a:ea typeface="Arial"/>
              <a:cs typeface="Arial"/>
              <a:sym typeface="Arial"/>
            </a:endParaRPr>
          </a:p>
        </p:txBody>
      </p:sp>
      <p:sp>
        <p:nvSpPr>
          <p:cNvPr id="235" name="Google Shape;235;p13"/>
          <p:cNvSpPr txBox="1"/>
          <p:nvPr/>
        </p:nvSpPr>
        <p:spPr>
          <a:xfrm>
            <a:off x="267735" y="2571750"/>
            <a:ext cx="4106100" cy="470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000" b="0" i="0" u="none" strike="noStrike" cap="none">
                <a:solidFill>
                  <a:srgbClr val="444444"/>
                </a:solidFill>
                <a:latin typeface="Arial"/>
                <a:ea typeface="Arial"/>
                <a:cs typeface="Arial"/>
                <a:sym typeface="Arial"/>
              </a:rPr>
              <a:t>•  Optimised for deterministic, high-density industrial environments such as factories.</a:t>
            </a:r>
            <a:endParaRPr sz="1300" b="0" i="0" u="none" strike="noStrike" cap="none">
              <a:solidFill>
                <a:srgbClr val="444444"/>
              </a:solidFill>
              <a:latin typeface="Arial"/>
              <a:ea typeface="Arial"/>
              <a:cs typeface="Arial"/>
              <a:sym typeface="Arial"/>
            </a:endParaRPr>
          </a:p>
        </p:txBody>
      </p:sp>
      <p:sp>
        <p:nvSpPr>
          <p:cNvPr id="236" name="Google Shape;236;p13"/>
          <p:cNvSpPr txBox="1"/>
          <p:nvPr/>
        </p:nvSpPr>
        <p:spPr>
          <a:xfrm>
            <a:off x="365760" y="3840000"/>
            <a:ext cx="4106240" cy="47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444444"/>
              </a:solidFill>
              <a:latin typeface="Arial"/>
              <a:ea typeface="Arial"/>
              <a:cs typeface="Arial"/>
              <a:sym typeface="Arial"/>
            </a:endParaRPr>
          </a:p>
        </p:txBody>
      </p:sp>
      <p:sp>
        <p:nvSpPr>
          <p:cNvPr id="237" name="Google Shape;237;p13"/>
          <p:cNvSpPr txBox="1"/>
          <p:nvPr/>
        </p:nvSpPr>
        <p:spPr>
          <a:xfrm>
            <a:off x="365760" y="1150000"/>
            <a:ext cx="4106240" cy="420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600" b="1" i="0" u="none" strike="noStrike" cap="none">
                <a:solidFill>
                  <a:srgbClr val="1A56A0"/>
                </a:solidFill>
                <a:latin typeface="Arial"/>
                <a:ea typeface="Arial"/>
                <a:cs typeface="Arial"/>
                <a:sym typeface="Arial"/>
              </a:rPr>
              <a:t>Private 5G Campus Networks</a:t>
            </a:r>
            <a:endParaRPr/>
          </a:p>
        </p:txBody>
      </p:sp>
      <p:sp>
        <p:nvSpPr>
          <p:cNvPr id="238" name="Google Shape;238;p13"/>
          <p:cNvSpPr txBox="1"/>
          <p:nvPr/>
        </p:nvSpPr>
        <p:spPr>
          <a:xfrm>
            <a:off x="4672000" y="1150000"/>
            <a:ext cx="4106240" cy="4200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600" b="1" i="0" u="none" strike="noStrike" cap="none">
                <a:solidFill>
                  <a:srgbClr val="1A56A0"/>
                </a:solidFill>
                <a:latin typeface="Arial"/>
                <a:ea typeface="Arial"/>
                <a:cs typeface="Arial"/>
                <a:sym typeface="Arial"/>
              </a:rPr>
              <a:t>Wireless Time-Sensitive Networking (TSN)</a:t>
            </a:r>
            <a:endParaRPr/>
          </a:p>
        </p:txBody>
      </p:sp>
      <p:sp>
        <p:nvSpPr>
          <p:cNvPr id="239" name="Google Shape;239;p13"/>
          <p:cNvSpPr txBox="1"/>
          <p:nvPr/>
        </p:nvSpPr>
        <p:spPr>
          <a:xfrm>
            <a:off x="4672000" y="1620000"/>
            <a:ext cx="4106240" cy="70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000" b="0" i="0" u="none" strike="noStrike" cap="none">
                <a:solidFill>
                  <a:srgbClr val="444444"/>
                </a:solidFill>
                <a:latin typeface="Arial"/>
                <a:ea typeface="Arial"/>
                <a:cs typeface="Arial"/>
                <a:sym typeface="Arial"/>
              </a:rPr>
              <a:t>•  TSN ensures data arrives at the exact required time - critical for real-time control.</a:t>
            </a:r>
            <a:endParaRPr sz="1000" b="0" i="0" u="none" strike="noStrike" cap="none">
              <a:solidFill>
                <a:srgbClr val="444444"/>
              </a:solidFill>
              <a:latin typeface="Arial"/>
              <a:ea typeface="Arial"/>
              <a:cs typeface="Arial"/>
              <a:sym typeface="Arial"/>
            </a:endParaRPr>
          </a:p>
        </p:txBody>
      </p:sp>
      <p:sp>
        <p:nvSpPr>
          <p:cNvPr id="240" name="Google Shape;240;p13"/>
          <p:cNvSpPr txBox="1"/>
          <p:nvPr/>
        </p:nvSpPr>
        <p:spPr>
          <a:xfrm>
            <a:off x="4672075" y="2145425"/>
            <a:ext cx="4106100" cy="6999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000" b="0" i="0" u="none" strike="noStrike" cap="none">
                <a:solidFill>
                  <a:srgbClr val="444444"/>
                </a:solidFill>
                <a:latin typeface="Arial"/>
                <a:ea typeface="Arial"/>
                <a:cs typeface="Arial"/>
                <a:sym typeface="Arial"/>
              </a:rPr>
              <a:t>•  Closes the "last mile" gap: wireless now matches wired PROFINET and EtherCAT guarantees.</a:t>
            </a:r>
            <a:endParaRPr sz="1000" b="0" i="0" u="none" strike="noStrike" cap="none">
              <a:solidFill>
                <a:srgbClr val="444444"/>
              </a:solidFill>
              <a:latin typeface="Arial"/>
              <a:ea typeface="Arial"/>
              <a:cs typeface="Arial"/>
              <a:sym typeface="Arial"/>
            </a:endParaRPr>
          </a:p>
        </p:txBody>
      </p:sp>
      <p:sp>
        <p:nvSpPr>
          <p:cNvPr id="241" name="Google Shape;241;p13"/>
          <p:cNvSpPr txBox="1"/>
          <p:nvPr/>
        </p:nvSpPr>
        <p:spPr>
          <a:xfrm>
            <a:off x="4672075" y="2615525"/>
            <a:ext cx="4106100" cy="6999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000" b="0" i="0" u="none" strike="noStrike" cap="none">
                <a:solidFill>
                  <a:srgbClr val="444444"/>
                </a:solidFill>
                <a:latin typeface="Arial"/>
                <a:ea typeface="Arial"/>
                <a:cs typeface="Arial"/>
                <a:sym typeface="Arial"/>
              </a:rPr>
              <a:t>•  A single TSN scheduler can drive both wired and wireless robot axes at the same time.</a:t>
            </a:r>
            <a:endParaRPr sz="1000" b="0" i="0" u="none" strike="noStrike" cap="none">
              <a:solidFill>
                <a:srgbClr val="444444"/>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a:gsLst>
            <a:gs pos="0">
              <a:srgbClr val="00717D"/>
            </a:gs>
            <a:gs pos="83000">
              <a:srgbClr val="A8C7FA"/>
            </a:gs>
            <a:gs pos="100000">
              <a:srgbClr val="C5D9FB"/>
            </a:gs>
          </a:gsLst>
          <a:lin ang="5400000" scaled="0"/>
        </a:gradFill>
        <a:effectLst/>
      </p:bgPr>
    </p:bg>
    <p:spTree>
      <p:nvGrpSpPr>
        <p:cNvPr id="1" name="Shape 245"/>
        <p:cNvGrpSpPr/>
        <p:nvPr/>
      </p:nvGrpSpPr>
      <p:grpSpPr>
        <a:xfrm>
          <a:off x="0" y="0"/>
          <a:ext cx="0" cy="0"/>
          <a:chOff x="0" y="0"/>
          <a:chExt cx="0" cy="0"/>
        </a:xfrm>
      </p:grpSpPr>
      <p:sp>
        <p:nvSpPr>
          <p:cNvPr id="246" name="Google Shape;246;p15"/>
          <p:cNvSpPr/>
          <p:nvPr/>
        </p:nvSpPr>
        <p:spPr>
          <a:xfrm>
            <a:off x="0" y="1805940"/>
            <a:ext cx="9144000" cy="1783080"/>
          </a:xfrm>
          <a:prstGeom prst="rect">
            <a:avLst/>
          </a:prstGeom>
          <a:solidFill>
            <a:srgbClr val="0F6E78"/>
          </a:solidFill>
          <a:ln w="12700" cap="flat" cmpd="sng">
            <a:solidFill>
              <a:srgbClr val="0F6E7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7" name="Google Shape;247;p15"/>
          <p:cNvSpPr/>
          <p:nvPr/>
        </p:nvSpPr>
        <p:spPr>
          <a:xfrm>
            <a:off x="731520" y="1828800"/>
            <a:ext cx="7680960" cy="41148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
        <p:nvSpPr>
          <p:cNvPr id="248" name="Google Shape;248;p15"/>
          <p:cNvSpPr/>
          <p:nvPr/>
        </p:nvSpPr>
        <p:spPr>
          <a:xfrm>
            <a:off x="731520" y="2240280"/>
            <a:ext cx="7680960" cy="914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 sz="3200" b="1" i="0" u="none" strike="noStrike" cap="none" dirty="0">
                <a:solidFill>
                  <a:srgbClr val="FFFFFF"/>
                </a:solidFill>
                <a:latin typeface="Arial"/>
                <a:ea typeface="Arial"/>
                <a:cs typeface="Arial"/>
                <a:sym typeface="Arial"/>
              </a:rPr>
              <a:t>Wireless Standards: Architecture and how they work</a:t>
            </a:r>
            <a:endParaRPr sz="3200" b="0" i="0" u="none" strike="noStrike" cap="none" dirty="0">
              <a:solidFill>
                <a:srgbClr val="000000"/>
              </a:solidFill>
              <a:latin typeface="Arial"/>
              <a:ea typeface="Arial"/>
              <a:cs typeface="Arial"/>
              <a:sym typeface="Arial"/>
            </a:endParaRPr>
          </a:p>
        </p:txBody>
      </p:sp>
      <p:sp>
        <p:nvSpPr>
          <p:cNvPr id="249" name="Google Shape;249;p15"/>
          <p:cNvSpPr/>
          <p:nvPr/>
        </p:nvSpPr>
        <p:spPr>
          <a:xfrm>
            <a:off x="731520" y="3653306"/>
            <a:ext cx="7680960" cy="109857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 sz="2000" b="0" i="0" u="none" strike="noStrike" cap="none" dirty="0">
                <a:solidFill>
                  <a:srgbClr val="0F6E78"/>
                </a:solidFill>
                <a:latin typeface="Arial"/>
                <a:ea typeface="Arial"/>
                <a:cs typeface="Arial"/>
                <a:sym typeface="Arial"/>
              </a:rPr>
              <a:t>Wi-Fi (802.11)   ·   Zigbee (802.15.4)   ·   5G New Radio</a:t>
            </a:r>
            <a:endParaRPr sz="2000" b="0" i="0" u="none" strike="noStrike" cap="none" dirty="0">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3"/>
        <p:cNvGrpSpPr/>
        <p:nvPr/>
      </p:nvGrpSpPr>
      <p:grpSpPr>
        <a:xfrm>
          <a:off x="0" y="0"/>
          <a:ext cx="0" cy="0"/>
          <a:chOff x="0" y="0"/>
          <a:chExt cx="0" cy="0"/>
        </a:xfrm>
      </p:grpSpPr>
      <p:sp>
        <p:nvSpPr>
          <p:cNvPr id="254" name="Google Shape;254;p16"/>
          <p:cNvSpPr/>
          <p:nvPr/>
        </p:nvSpPr>
        <p:spPr>
          <a:xfrm>
            <a:off x="411480" y="256032"/>
            <a:ext cx="8321040" cy="5029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300"/>
              <a:buFont typeface="Arial"/>
              <a:buNone/>
            </a:pPr>
            <a:r>
              <a:rPr lang="en" sz="2300" b="1" i="0" u="none" strike="noStrike" cap="none" dirty="0">
                <a:solidFill>
                  <a:srgbClr val="F2A900"/>
                </a:solidFill>
                <a:latin typeface="Calibri"/>
                <a:ea typeface="Calibri"/>
                <a:cs typeface="Calibri"/>
                <a:sym typeface="Calibri"/>
              </a:rPr>
              <a:t>  </a:t>
            </a:r>
            <a:r>
              <a:rPr lang="en" sz="2300" b="1" i="0" u="none" strike="noStrike" cap="none" dirty="0">
                <a:solidFill>
                  <a:srgbClr val="0F6E78"/>
                </a:solidFill>
                <a:latin typeface="Calibri"/>
                <a:ea typeface="Calibri"/>
                <a:cs typeface="Calibri"/>
                <a:sym typeface="Calibri"/>
              </a:rPr>
              <a:t>IEEE 802.11 (Wi-Fi)</a:t>
            </a:r>
            <a:endParaRPr sz="2300" b="0" i="0" u="none" strike="noStrike" cap="none" dirty="0">
              <a:solidFill>
                <a:srgbClr val="000000"/>
              </a:solidFill>
              <a:latin typeface="Arial"/>
              <a:ea typeface="Arial"/>
              <a:cs typeface="Arial"/>
              <a:sym typeface="Arial"/>
            </a:endParaRPr>
          </a:p>
        </p:txBody>
      </p:sp>
      <p:sp>
        <p:nvSpPr>
          <p:cNvPr id="255" name="Google Shape;255;p16"/>
          <p:cNvSpPr/>
          <p:nvPr/>
        </p:nvSpPr>
        <p:spPr>
          <a:xfrm>
            <a:off x="411480" y="749808"/>
            <a:ext cx="8321040" cy="22860"/>
          </a:xfrm>
          <a:prstGeom prst="rect">
            <a:avLst/>
          </a:prstGeom>
          <a:solidFill>
            <a:srgbClr val="0F6E78"/>
          </a:solidFill>
          <a:ln w="12700" cap="flat" cmpd="sng">
            <a:solidFill>
              <a:srgbClr val="0F6E7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 name="Google Shape;256;p16"/>
          <p:cNvSpPr/>
          <p:nvPr/>
        </p:nvSpPr>
        <p:spPr>
          <a:xfrm>
            <a:off x="457200" y="1051560"/>
            <a:ext cx="3931920" cy="237744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100000"/>
              </a:lnSpc>
              <a:spcBef>
                <a:spcPts val="0"/>
              </a:spcBef>
              <a:spcAft>
                <a:spcPts val="0"/>
              </a:spcAft>
              <a:buClr>
                <a:srgbClr val="000000"/>
              </a:buClr>
              <a:buSzPts val="1500"/>
              <a:buFont typeface="Arial"/>
              <a:buChar char="•"/>
            </a:pPr>
            <a:r>
              <a:rPr lang="en" sz="1500" b="0" i="0" u="none" strike="noStrike" cap="none" dirty="0">
                <a:solidFill>
                  <a:srgbClr val="243B40"/>
                </a:solidFill>
                <a:latin typeface="Calibri"/>
                <a:ea typeface="Calibri"/>
                <a:cs typeface="Calibri"/>
                <a:sym typeface="Calibri"/>
              </a:rPr>
              <a:t>Operates on 2.4, 5 and 6 GHz bands</a:t>
            </a:r>
            <a:endParaRPr sz="15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1000"/>
              </a:spcBef>
              <a:spcAft>
                <a:spcPts val="0"/>
              </a:spcAft>
              <a:buClr>
                <a:srgbClr val="000000"/>
              </a:buClr>
              <a:buSzPts val="1500"/>
              <a:buFont typeface="Arial"/>
              <a:buChar char="•"/>
            </a:pPr>
            <a:r>
              <a:rPr lang="en" sz="1500" b="0" i="0" u="none" strike="noStrike" cap="none" dirty="0">
                <a:solidFill>
                  <a:srgbClr val="243B40"/>
                </a:solidFill>
                <a:latin typeface="Calibri"/>
                <a:ea typeface="Calibri"/>
                <a:cs typeface="Calibri"/>
                <a:sym typeface="Calibri"/>
              </a:rPr>
              <a:t>CSMA/CA for channel access</a:t>
            </a:r>
            <a:endParaRPr sz="15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1000"/>
              </a:spcBef>
              <a:spcAft>
                <a:spcPts val="0"/>
              </a:spcAft>
              <a:buClr>
                <a:srgbClr val="000000"/>
              </a:buClr>
              <a:buSzPts val="1500"/>
              <a:buFont typeface="Arial"/>
              <a:buChar char="•"/>
            </a:pPr>
            <a:r>
              <a:rPr lang="en" sz="1500" b="0" i="0" u="none" strike="noStrike" cap="none" dirty="0">
                <a:solidFill>
                  <a:srgbClr val="243B40"/>
                </a:solidFill>
                <a:latin typeface="Calibri"/>
                <a:ea typeface="Calibri"/>
                <a:cs typeface="Calibri"/>
                <a:sym typeface="Calibri"/>
              </a:rPr>
              <a:t>802.11r enables fast roaming for AGVs</a:t>
            </a:r>
            <a:endParaRPr sz="15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1000"/>
              </a:spcBef>
              <a:spcAft>
                <a:spcPts val="0"/>
              </a:spcAft>
              <a:buClr>
                <a:srgbClr val="000000"/>
              </a:buClr>
              <a:buSzPts val="1500"/>
              <a:buFont typeface="Arial"/>
              <a:buChar char="•"/>
            </a:pPr>
            <a:r>
              <a:rPr lang="en" sz="1500" b="0" i="0" u="none" strike="noStrike" cap="none" dirty="0">
                <a:solidFill>
                  <a:srgbClr val="243B40"/>
                </a:solidFill>
                <a:latin typeface="Calibri"/>
                <a:ea typeface="Calibri"/>
                <a:cs typeface="Calibri"/>
                <a:sym typeface="Calibri"/>
              </a:rPr>
              <a:t>Speeds up to 9.6 Gbps</a:t>
            </a:r>
            <a:endParaRPr sz="1500" b="0" i="0" u="none" strike="noStrike" cap="none" dirty="0">
              <a:solidFill>
                <a:srgbClr val="000000"/>
              </a:solidFill>
              <a:latin typeface="Arial"/>
              <a:ea typeface="Arial"/>
              <a:cs typeface="Arial"/>
              <a:sym typeface="Arial"/>
            </a:endParaRPr>
          </a:p>
        </p:txBody>
      </p:sp>
      <p:sp>
        <p:nvSpPr>
          <p:cNvPr id="257" name="Google Shape;257;p16"/>
          <p:cNvSpPr/>
          <p:nvPr/>
        </p:nvSpPr>
        <p:spPr>
          <a:xfrm>
            <a:off x="457200" y="3703320"/>
            <a:ext cx="914400" cy="310896"/>
          </a:xfrm>
          <a:prstGeom prst="roundRect">
            <a:avLst>
              <a:gd name="adj" fmla="val 50000"/>
            </a:avLst>
          </a:prstGeom>
          <a:solidFill>
            <a:srgbClr val="1C8C99"/>
          </a:solidFill>
          <a:ln w="12700" cap="flat" cmpd="sng">
            <a:solidFill>
              <a:srgbClr val="1C8C9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 name="Google Shape;258;p16"/>
          <p:cNvSpPr/>
          <p:nvPr/>
        </p:nvSpPr>
        <p:spPr>
          <a:xfrm>
            <a:off x="457200" y="3703320"/>
            <a:ext cx="914400" cy="31089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1" i="0" u="none" strike="noStrike" cap="none">
                <a:solidFill>
                  <a:srgbClr val="FFFFFF"/>
                </a:solidFill>
                <a:latin typeface="Arial"/>
                <a:ea typeface="Arial"/>
                <a:cs typeface="Arial"/>
                <a:sym typeface="Arial"/>
              </a:rPr>
              <a:t>PROS</a:t>
            </a:r>
            <a:endParaRPr sz="1100" b="0" i="0" u="none" strike="noStrike" cap="none">
              <a:solidFill>
                <a:srgbClr val="000000"/>
              </a:solidFill>
              <a:latin typeface="Arial"/>
              <a:ea typeface="Arial"/>
              <a:cs typeface="Arial"/>
              <a:sym typeface="Arial"/>
            </a:endParaRPr>
          </a:p>
        </p:txBody>
      </p:sp>
      <p:sp>
        <p:nvSpPr>
          <p:cNvPr id="259" name="Google Shape;259;p16"/>
          <p:cNvSpPr/>
          <p:nvPr/>
        </p:nvSpPr>
        <p:spPr>
          <a:xfrm>
            <a:off x="1324377" y="3719322"/>
            <a:ext cx="3017520" cy="3108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solidFill>
                  <a:srgbClr val="5A6B6E"/>
                </a:solidFill>
                <a:latin typeface="Arial"/>
                <a:ea typeface="Arial"/>
                <a:cs typeface="Arial"/>
                <a:sym typeface="Arial"/>
              </a:rPr>
              <a:t>High speed, huge ecosystem</a:t>
            </a:r>
            <a:endParaRPr sz="1100" b="0" i="0" u="none" strike="noStrike" cap="none" dirty="0">
              <a:solidFill>
                <a:srgbClr val="000000"/>
              </a:solidFill>
              <a:latin typeface="Arial"/>
              <a:ea typeface="Arial"/>
              <a:cs typeface="Arial"/>
              <a:sym typeface="Arial"/>
            </a:endParaRPr>
          </a:p>
        </p:txBody>
      </p:sp>
      <p:sp>
        <p:nvSpPr>
          <p:cNvPr id="260" name="Google Shape;260;p16"/>
          <p:cNvSpPr/>
          <p:nvPr/>
        </p:nvSpPr>
        <p:spPr>
          <a:xfrm>
            <a:off x="457200" y="4114800"/>
            <a:ext cx="914400" cy="310896"/>
          </a:xfrm>
          <a:prstGeom prst="roundRect">
            <a:avLst>
              <a:gd name="adj" fmla="val 50000"/>
            </a:avLst>
          </a:prstGeom>
          <a:solidFill>
            <a:srgbClr val="F2A900"/>
          </a:solidFill>
          <a:ln w="12700" cap="flat" cmpd="sng">
            <a:solidFill>
              <a:srgbClr val="F2A9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 name="Google Shape;261;p16"/>
          <p:cNvSpPr/>
          <p:nvPr/>
        </p:nvSpPr>
        <p:spPr>
          <a:xfrm>
            <a:off x="457200" y="4114800"/>
            <a:ext cx="914400" cy="31089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1" i="0" u="none" strike="noStrike" cap="none">
                <a:solidFill>
                  <a:srgbClr val="FFFFFF"/>
                </a:solidFill>
                <a:latin typeface="Arial"/>
                <a:ea typeface="Arial"/>
                <a:cs typeface="Arial"/>
                <a:sym typeface="Arial"/>
              </a:rPr>
              <a:t>CONS</a:t>
            </a:r>
            <a:endParaRPr sz="1100" b="0" i="0" u="none" strike="noStrike" cap="none">
              <a:solidFill>
                <a:srgbClr val="000000"/>
              </a:solidFill>
              <a:latin typeface="Arial"/>
              <a:ea typeface="Arial"/>
              <a:cs typeface="Arial"/>
              <a:sym typeface="Arial"/>
            </a:endParaRPr>
          </a:p>
        </p:txBody>
      </p:sp>
      <p:sp>
        <p:nvSpPr>
          <p:cNvPr id="262" name="Google Shape;262;p16"/>
          <p:cNvSpPr/>
          <p:nvPr/>
        </p:nvSpPr>
        <p:spPr>
          <a:xfrm>
            <a:off x="1463040" y="4114800"/>
            <a:ext cx="3017520" cy="3108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5A6B6E"/>
                </a:solidFill>
                <a:latin typeface="Arial"/>
                <a:ea typeface="Arial"/>
                <a:cs typeface="Arial"/>
                <a:sym typeface="Arial"/>
              </a:rPr>
              <a:t>Unreliable under load, shared spectrum</a:t>
            </a:r>
            <a:endParaRPr sz="1100" b="0" i="0" u="none" strike="noStrike" cap="none">
              <a:solidFill>
                <a:srgbClr val="000000"/>
              </a:solidFill>
              <a:latin typeface="Arial"/>
              <a:ea typeface="Arial"/>
              <a:cs typeface="Arial"/>
              <a:sym typeface="Arial"/>
            </a:endParaRPr>
          </a:p>
        </p:txBody>
      </p:sp>
      <p:sp>
        <p:nvSpPr>
          <p:cNvPr id="263" name="Google Shape;263;p16"/>
          <p:cNvSpPr/>
          <p:nvPr/>
        </p:nvSpPr>
        <p:spPr>
          <a:xfrm>
            <a:off x="4754880" y="2377440"/>
            <a:ext cx="3931920" cy="457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1C8C99"/>
                </a:solidFill>
                <a:latin typeface="Arial"/>
                <a:ea typeface="Arial"/>
                <a:cs typeface="Arial"/>
                <a:sym typeface="Arial"/>
              </a:rPr>
              <a:t>[ IMAGE ]</a:t>
            </a:r>
            <a:endParaRPr sz="1600" b="0" i="0" u="none" strike="noStrike" cap="none">
              <a:solidFill>
                <a:srgbClr val="000000"/>
              </a:solidFill>
              <a:latin typeface="Arial"/>
              <a:ea typeface="Arial"/>
              <a:cs typeface="Arial"/>
              <a:sym typeface="Arial"/>
            </a:endParaRPr>
          </a:p>
        </p:txBody>
      </p:sp>
      <p:sp>
        <p:nvSpPr>
          <p:cNvPr id="264" name="Google Shape;264;p16"/>
          <p:cNvSpPr/>
          <p:nvPr/>
        </p:nvSpPr>
        <p:spPr>
          <a:xfrm>
            <a:off x="4754880" y="2834640"/>
            <a:ext cx="3931920" cy="36576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1" u="none" strike="noStrike" cap="none">
                <a:solidFill>
                  <a:srgbClr val="5A6B6E"/>
                </a:solidFill>
                <a:latin typeface="Arial"/>
                <a:ea typeface="Arial"/>
                <a:cs typeface="Arial"/>
                <a:sym typeface="Arial"/>
              </a:rPr>
              <a:t>Wi-Fi factory deployment</a:t>
            </a:r>
            <a:endParaRPr sz="1200" b="0" i="0" u="none" strike="noStrike" cap="none">
              <a:solidFill>
                <a:srgbClr val="000000"/>
              </a:solidFill>
              <a:latin typeface="Arial"/>
              <a:ea typeface="Arial"/>
              <a:cs typeface="Arial"/>
              <a:sym typeface="Arial"/>
            </a:endParaRPr>
          </a:p>
        </p:txBody>
      </p:sp>
      <p:pic>
        <p:nvPicPr>
          <p:cNvPr id="265" name="Google Shape;265;p16"/>
          <p:cNvPicPr preferRelativeResize="0"/>
          <p:nvPr/>
        </p:nvPicPr>
        <p:blipFill rotWithShape="1">
          <a:blip r:embed="rId3">
            <a:alphaModFix/>
          </a:blip>
          <a:srcRect/>
          <a:stretch/>
        </p:blipFill>
        <p:spPr>
          <a:xfrm>
            <a:off x="4341897" y="1142420"/>
            <a:ext cx="4497303" cy="325127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9"/>
        <p:cNvGrpSpPr/>
        <p:nvPr/>
      </p:nvGrpSpPr>
      <p:grpSpPr>
        <a:xfrm>
          <a:off x="0" y="0"/>
          <a:ext cx="0" cy="0"/>
          <a:chOff x="0" y="0"/>
          <a:chExt cx="0" cy="0"/>
        </a:xfrm>
      </p:grpSpPr>
      <p:sp>
        <p:nvSpPr>
          <p:cNvPr id="270" name="Google Shape;270;p17"/>
          <p:cNvSpPr/>
          <p:nvPr/>
        </p:nvSpPr>
        <p:spPr>
          <a:xfrm>
            <a:off x="411480" y="256032"/>
            <a:ext cx="8321040" cy="5029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300"/>
              <a:buFont typeface="Arial"/>
              <a:buNone/>
            </a:pPr>
            <a:r>
              <a:rPr lang="en" sz="2300" b="1" i="0" u="none" strike="noStrike" cap="none" dirty="0">
                <a:solidFill>
                  <a:srgbClr val="F2A900"/>
                </a:solidFill>
                <a:latin typeface="Calibri"/>
                <a:ea typeface="Calibri"/>
                <a:cs typeface="Calibri"/>
                <a:sym typeface="Calibri"/>
              </a:rPr>
              <a:t>  </a:t>
            </a:r>
            <a:r>
              <a:rPr lang="en" sz="2300" b="1" i="0" u="none" strike="noStrike" cap="none" dirty="0">
                <a:solidFill>
                  <a:srgbClr val="0F6E78"/>
                </a:solidFill>
                <a:latin typeface="Calibri"/>
                <a:ea typeface="Calibri"/>
                <a:cs typeface="Calibri"/>
                <a:sym typeface="Calibri"/>
              </a:rPr>
              <a:t>IEEE 802.15.4 / Zigbee</a:t>
            </a:r>
            <a:endParaRPr sz="2300" b="0" i="0" u="none" strike="noStrike" cap="none" dirty="0">
              <a:solidFill>
                <a:srgbClr val="000000"/>
              </a:solidFill>
              <a:latin typeface="Arial"/>
              <a:ea typeface="Arial"/>
              <a:cs typeface="Arial"/>
              <a:sym typeface="Arial"/>
            </a:endParaRPr>
          </a:p>
        </p:txBody>
      </p:sp>
      <p:sp>
        <p:nvSpPr>
          <p:cNvPr id="271" name="Google Shape;271;p17"/>
          <p:cNvSpPr/>
          <p:nvPr/>
        </p:nvSpPr>
        <p:spPr>
          <a:xfrm>
            <a:off x="411480" y="749808"/>
            <a:ext cx="8321040" cy="22860"/>
          </a:xfrm>
          <a:prstGeom prst="rect">
            <a:avLst/>
          </a:prstGeom>
          <a:solidFill>
            <a:srgbClr val="0F6E78"/>
          </a:solidFill>
          <a:ln w="12700" cap="flat" cmpd="sng">
            <a:solidFill>
              <a:srgbClr val="0F6E7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 name="Google Shape;272;p17"/>
          <p:cNvSpPr/>
          <p:nvPr/>
        </p:nvSpPr>
        <p:spPr>
          <a:xfrm>
            <a:off x="457200" y="1051560"/>
            <a:ext cx="3931920" cy="237744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100000"/>
              </a:lnSpc>
              <a:spcBef>
                <a:spcPts val="0"/>
              </a:spcBef>
              <a:spcAft>
                <a:spcPts val="0"/>
              </a:spcAft>
              <a:buClr>
                <a:srgbClr val="000000"/>
              </a:buClr>
              <a:buSzPts val="1500"/>
              <a:buFont typeface="Arial"/>
              <a:buChar char="•"/>
            </a:pPr>
            <a:r>
              <a:rPr lang="en" sz="1500" b="0" i="0" u="none" strike="noStrike" cap="none" dirty="0">
                <a:solidFill>
                  <a:srgbClr val="243B40"/>
                </a:solidFill>
                <a:latin typeface="Calibri"/>
                <a:ea typeface="Calibri"/>
                <a:cs typeface="Calibri"/>
                <a:sym typeface="Calibri"/>
              </a:rPr>
              <a:t>Low-power wireless WPAN standard</a:t>
            </a:r>
            <a:endParaRPr sz="15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1000"/>
              </a:spcBef>
              <a:spcAft>
                <a:spcPts val="0"/>
              </a:spcAft>
              <a:buClr>
                <a:srgbClr val="000000"/>
              </a:buClr>
              <a:buSzPts val="1500"/>
              <a:buFont typeface="Arial"/>
              <a:buChar char="•"/>
            </a:pPr>
            <a:r>
              <a:rPr lang="en" sz="1500" b="0" i="0" u="none" strike="noStrike" cap="none" dirty="0">
                <a:solidFill>
                  <a:srgbClr val="243B40"/>
                </a:solidFill>
                <a:latin typeface="Calibri"/>
                <a:ea typeface="Calibri"/>
                <a:cs typeface="Calibri"/>
                <a:sym typeface="Calibri"/>
              </a:rPr>
              <a:t>Runs at 2.4 GHz, up to 250 kbps</a:t>
            </a:r>
            <a:endParaRPr sz="15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1000"/>
              </a:spcBef>
              <a:spcAft>
                <a:spcPts val="0"/>
              </a:spcAft>
              <a:buClr>
                <a:srgbClr val="000000"/>
              </a:buClr>
              <a:buSzPts val="1500"/>
              <a:buFont typeface="Arial"/>
              <a:buChar char="•"/>
            </a:pPr>
            <a:r>
              <a:rPr lang="en" sz="1500" b="0" i="0" u="none" strike="noStrike" cap="none" dirty="0">
                <a:solidFill>
                  <a:srgbClr val="243B40"/>
                </a:solidFill>
                <a:latin typeface="Calibri"/>
                <a:ea typeface="Calibri"/>
                <a:cs typeface="Calibri"/>
                <a:sym typeface="Calibri"/>
              </a:rPr>
              <a:t>Three roles: Coordinator, Router, End Device</a:t>
            </a:r>
            <a:endParaRPr sz="15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1000"/>
              </a:spcBef>
              <a:spcAft>
                <a:spcPts val="0"/>
              </a:spcAft>
              <a:buClr>
                <a:srgbClr val="000000"/>
              </a:buClr>
              <a:buSzPts val="1500"/>
              <a:buFont typeface="Arial"/>
              <a:buChar char="•"/>
            </a:pPr>
            <a:r>
              <a:rPr lang="en" sz="1500" b="0" i="0" u="none" strike="noStrike" cap="none" dirty="0">
                <a:solidFill>
                  <a:srgbClr val="243B40"/>
                </a:solidFill>
                <a:latin typeface="Calibri"/>
                <a:ea typeface="Calibri"/>
                <a:cs typeface="Calibri"/>
                <a:sym typeface="Calibri"/>
              </a:rPr>
              <a:t>Supports mesh networking</a:t>
            </a:r>
            <a:endParaRPr sz="15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1000"/>
              </a:spcBef>
              <a:spcAft>
                <a:spcPts val="0"/>
              </a:spcAft>
              <a:buClr>
                <a:srgbClr val="000000"/>
              </a:buClr>
              <a:buSzPts val="1500"/>
              <a:buFont typeface="Arial"/>
              <a:buChar char="•"/>
            </a:pPr>
            <a:r>
              <a:rPr lang="en" sz="1500" b="0" i="0" u="none" strike="noStrike" cap="none" dirty="0">
                <a:solidFill>
                  <a:srgbClr val="243B40"/>
                </a:solidFill>
                <a:latin typeface="Calibri"/>
                <a:ea typeface="Calibri"/>
                <a:cs typeface="Calibri"/>
                <a:sym typeface="Calibri"/>
              </a:rPr>
              <a:t>Battery life of 2 to 5 years</a:t>
            </a:r>
            <a:endParaRPr sz="1500" b="0" i="0" u="none" strike="noStrike" cap="none" dirty="0">
              <a:solidFill>
                <a:srgbClr val="000000"/>
              </a:solidFill>
              <a:latin typeface="Arial"/>
              <a:ea typeface="Arial"/>
              <a:cs typeface="Arial"/>
              <a:sym typeface="Arial"/>
            </a:endParaRPr>
          </a:p>
        </p:txBody>
      </p:sp>
      <p:sp>
        <p:nvSpPr>
          <p:cNvPr id="273" name="Google Shape;273;p17"/>
          <p:cNvSpPr/>
          <p:nvPr/>
        </p:nvSpPr>
        <p:spPr>
          <a:xfrm>
            <a:off x="457200" y="3703320"/>
            <a:ext cx="914400" cy="310896"/>
          </a:xfrm>
          <a:prstGeom prst="roundRect">
            <a:avLst>
              <a:gd name="adj" fmla="val 50000"/>
            </a:avLst>
          </a:prstGeom>
          <a:solidFill>
            <a:srgbClr val="1C8C99"/>
          </a:solidFill>
          <a:ln w="12700" cap="flat" cmpd="sng">
            <a:solidFill>
              <a:srgbClr val="1C8C9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 name="Google Shape;274;p17"/>
          <p:cNvSpPr/>
          <p:nvPr/>
        </p:nvSpPr>
        <p:spPr>
          <a:xfrm>
            <a:off x="457200" y="3703320"/>
            <a:ext cx="914400" cy="31089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1" i="0" u="none" strike="noStrike" cap="none">
                <a:solidFill>
                  <a:srgbClr val="FFFFFF"/>
                </a:solidFill>
                <a:latin typeface="Arial"/>
                <a:ea typeface="Arial"/>
                <a:cs typeface="Arial"/>
                <a:sym typeface="Arial"/>
              </a:rPr>
              <a:t>PROS</a:t>
            </a:r>
            <a:endParaRPr sz="1100" b="0" i="0" u="none" strike="noStrike" cap="none">
              <a:solidFill>
                <a:srgbClr val="000000"/>
              </a:solidFill>
              <a:latin typeface="Arial"/>
              <a:ea typeface="Arial"/>
              <a:cs typeface="Arial"/>
              <a:sym typeface="Arial"/>
            </a:endParaRPr>
          </a:p>
        </p:txBody>
      </p:sp>
      <p:sp>
        <p:nvSpPr>
          <p:cNvPr id="275" name="Google Shape;275;p17"/>
          <p:cNvSpPr/>
          <p:nvPr/>
        </p:nvSpPr>
        <p:spPr>
          <a:xfrm>
            <a:off x="1463040" y="3703320"/>
            <a:ext cx="3017520" cy="3108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solidFill>
                  <a:srgbClr val="5A6B6E"/>
                </a:solidFill>
                <a:latin typeface="Arial"/>
                <a:ea typeface="Arial"/>
                <a:cs typeface="Arial"/>
                <a:sym typeface="Arial"/>
              </a:rPr>
              <a:t>Long battery life, low cost</a:t>
            </a:r>
            <a:r>
              <a:rPr lang="en" sz="1100" dirty="0">
                <a:solidFill>
                  <a:srgbClr val="5A6B6E"/>
                </a:solidFill>
              </a:rPr>
              <a:t>, low power consumption</a:t>
            </a:r>
            <a:endParaRPr sz="1100" b="0" i="0" u="none" strike="noStrike" cap="none" dirty="0">
              <a:solidFill>
                <a:srgbClr val="000000"/>
              </a:solidFill>
              <a:latin typeface="Arial"/>
              <a:ea typeface="Arial"/>
              <a:cs typeface="Arial"/>
              <a:sym typeface="Arial"/>
            </a:endParaRPr>
          </a:p>
        </p:txBody>
      </p:sp>
      <p:sp>
        <p:nvSpPr>
          <p:cNvPr id="276" name="Google Shape;276;p17"/>
          <p:cNvSpPr/>
          <p:nvPr/>
        </p:nvSpPr>
        <p:spPr>
          <a:xfrm>
            <a:off x="457200" y="4114800"/>
            <a:ext cx="914400" cy="310896"/>
          </a:xfrm>
          <a:prstGeom prst="roundRect">
            <a:avLst>
              <a:gd name="adj" fmla="val 50000"/>
            </a:avLst>
          </a:prstGeom>
          <a:solidFill>
            <a:srgbClr val="F2A900"/>
          </a:solidFill>
          <a:ln w="12700" cap="flat" cmpd="sng">
            <a:solidFill>
              <a:srgbClr val="F2A9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7" name="Google Shape;277;p17"/>
          <p:cNvSpPr/>
          <p:nvPr/>
        </p:nvSpPr>
        <p:spPr>
          <a:xfrm>
            <a:off x="457200" y="4114800"/>
            <a:ext cx="914400" cy="31089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1" i="0" u="none" strike="noStrike" cap="none">
                <a:solidFill>
                  <a:srgbClr val="FFFFFF"/>
                </a:solidFill>
                <a:latin typeface="Arial"/>
                <a:ea typeface="Arial"/>
                <a:cs typeface="Arial"/>
                <a:sym typeface="Arial"/>
              </a:rPr>
              <a:t>CONS</a:t>
            </a:r>
            <a:endParaRPr sz="1100" b="0" i="0" u="none" strike="noStrike" cap="none">
              <a:solidFill>
                <a:srgbClr val="000000"/>
              </a:solidFill>
              <a:latin typeface="Arial"/>
              <a:ea typeface="Arial"/>
              <a:cs typeface="Arial"/>
              <a:sym typeface="Arial"/>
            </a:endParaRPr>
          </a:p>
        </p:txBody>
      </p:sp>
      <p:sp>
        <p:nvSpPr>
          <p:cNvPr id="278" name="Google Shape;278;p17"/>
          <p:cNvSpPr/>
          <p:nvPr/>
        </p:nvSpPr>
        <p:spPr>
          <a:xfrm>
            <a:off x="1463040" y="4114800"/>
            <a:ext cx="3017520" cy="3108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5A6B6E"/>
                </a:solidFill>
                <a:latin typeface="Arial"/>
                <a:ea typeface="Arial"/>
                <a:cs typeface="Arial"/>
                <a:sym typeface="Arial"/>
              </a:rPr>
              <a:t>Low data rate, short range of 10 to 100 m</a:t>
            </a:r>
            <a:endParaRPr sz="1100" b="0" i="0" u="none" strike="noStrike" cap="none">
              <a:solidFill>
                <a:srgbClr val="000000"/>
              </a:solidFill>
              <a:latin typeface="Arial"/>
              <a:ea typeface="Arial"/>
              <a:cs typeface="Arial"/>
              <a:sym typeface="Arial"/>
            </a:endParaRPr>
          </a:p>
        </p:txBody>
      </p:sp>
      <p:sp>
        <p:nvSpPr>
          <p:cNvPr id="279" name="Google Shape;279;p17"/>
          <p:cNvSpPr/>
          <p:nvPr/>
        </p:nvSpPr>
        <p:spPr>
          <a:xfrm>
            <a:off x="4754880" y="2377440"/>
            <a:ext cx="3931920" cy="457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1C8C99"/>
                </a:solidFill>
                <a:latin typeface="Arial"/>
                <a:ea typeface="Arial"/>
                <a:cs typeface="Arial"/>
                <a:sym typeface="Arial"/>
              </a:rPr>
              <a:t>[ IMAGE ]</a:t>
            </a:r>
            <a:endParaRPr sz="1600" b="0" i="0" u="none" strike="noStrike" cap="none">
              <a:solidFill>
                <a:srgbClr val="000000"/>
              </a:solidFill>
              <a:latin typeface="Arial"/>
              <a:ea typeface="Arial"/>
              <a:cs typeface="Arial"/>
              <a:sym typeface="Arial"/>
            </a:endParaRPr>
          </a:p>
        </p:txBody>
      </p:sp>
      <p:sp>
        <p:nvSpPr>
          <p:cNvPr id="280" name="Google Shape;280;p17"/>
          <p:cNvSpPr/>
          <p:nvPr/>
        </p:nvSpPr>
        <p:spPr>
          <a:xfrm>
            <a:off x="4754880" y="2834640"/>
            <a:ext cx="3931920" cy="36576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1" u="none" strike="noStrike" cap="none">
                <a:solidFill>
                  <a:srgbClr val="5A6B6E"/>
                </a:solidFill>
                <a:latin typeface="Arial"/>
                <a:ea typeface="Arial"/>
                <a:cs typeface="Arial"/>
                <a:sym typeface="Arial"/>
              </a:rPr>
              <a:t>Zigbee mesh topology</a:t>
            </a:r>
            <a:endParaRPr sz="1200" b="0" i="0" u="none" strike="noStrike" cap="none">
              <a:solidFill>
                <a:srgbClr val="000000"/>
              </a:solidFill>
              <a:latin typeface="Arial"/>
              <a:ea typeface="Arial"/>
              <a:cs typeface="Arial"/>
              <a:sym typeface="Arial"/>
            </a:endParaRPr>
          </a:p>
        </p:txBody>
      </p:sp>
      <p:pic>
        <p:nvPicPr>
          <p:cNvPr id="281" name="Google Shape;281;p17"/>
          <p:cNvPicPr preferRelativeResize="0"/>
          <p:nvPr/>
        </p:nvPicPr>
        <p:blipFill rotWithShape="1">
          <a:blip r:embed="rId3">
            <a:alphaModFix/>
          </a:blip>
          <a:srcRect/>
          <a:stretch/>
        </p:blipFill>
        <p:spPr>
          <a:xfrm>
            <a:off x="4389120" y="809481"/>
            <a:ext cx="4222892" cy="2686680"/>
          </a:xfrm>
          <a:prstGeom prst="rect">
            <a:avLst/>
          </a:prstGeom>
          <a:noFill/>
          <a:ln>
            <a:noFill/>
          </a:ln>
        </p:spPr>
      </p:pic>
      <p:pic>
        <p:nvPicPr>
          <p:cNvPr id="282" name="Google Shape;282;p17"/>
          <p:cNvPicPr preferRelativeResize="0"/>
          <p:nvPr/>
        </p:nvPicPr>
        <p:blipFill rotWithShape="1">
          <a:blip r:embed="rId4">
            <a:alphaModFix/>
          </a:blip>
          <a:srcRect l="9315" r="6176" b="6204"/>
          <a:stretch/>
        </p:blipFill>
        <p:spPr>
          <a:xfrm>
            <a:off x="5014173" y="3496161"/>
            <a:ext cx="2142187" cy="159966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6"/>
        <p:cNvGrpSpPr/>
        <p:nvPr/>
      </p:nvGrpSpPr>
      <p:grpSpPr>
        <a:xfrm>
          <a:off x="0" y="0"/>
          <a:ext cx="0" cy="0"/>
          <a:chOff x="0" y="0"/>
          <a:chExt cx="0" cy="0"/>
        </a:xfrm>
      </p:grpSpPr>
      <p:sp>
        <p:nvSpPr>
          <p:cNvPr id="287" name="Google Shape;287;p18"/>
          <p:cNvSpPr/>
          <p:nvPr/>
        </p:nvSpPr>
        <p:spPr>
          <a:xfrm>
            <a:off x="411480" y="256032"/>
            <a:ext cx="8321040" cy="5029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300"/>
              <a:buFont typeface="Arial"/>
              <a:buNone/>
            </a:pPr>
            <a:r>
              <a:rPr lang="en" sz="2300" b="1" i="0" u="none" strike="noStrike" cap="none" dirty="0">
                <a:solidFill>
                  <a:srgbClr val="F2A900"/>
                </a:solidFill>
                <a:latin typeface="Calibri"/>
                <a:ea typeface="Calibri"/>
                <a:cs typeface="Calibri"/>
                <a:sym typeface="Calibri"/>
              </a:rPr>
              <a:t>  </a:t>
            </a:r>
            <a:r>
              <a:rPr lang="en" sz="2300" b="1" i="0" u="none" strike="noStrike" cap="none" dirty="0">
                <a:solidFill>
                  <a:srgbClr val="0F6E78"/>
                </a:solidFill>
                <a:latin typeface="Calibri"/>
                <a:ea typeface="Calibri"/>
                <a:cs typeface="Calibri"/>
                <a:sym typeface="Calibri"/>
              </a:rPr>
              <a:t>5G New Radio (NR)</a:t>
            </a:r>
            <a:endParaRPr sz="2300" b="0" i="0" u="none" strike="noStrike" cap="none" dirty="0">
              <a:solidFill>
                <a:srgbClr val="000000"/>
              </a:solidFill>
              <a:latin typeface="Arial"/>
              <a:ea typeface="Arial"/>
              <a:cs typeface="Arial"/>
              <a:sym typeface="Arial"/>
            </a:endParaRPr>
          </a:p>
        </p:txBody>
      </p:sp>
      <p:sp>
        <p:nvSpPr>
          <p:cNvPr id="288" name="Google Shape;288;p18"/>
          <p:cNvSpPr/>
          <p:nvPr/>
        </p:nvSpPr>
        <p:spPr>
          <a:xfrm>
            <a:off x="411480" y="749808"/>
            <a:ext cx="8321040" cy="22860"/>
          </a:xfrm>
          <a:prstGeom prst="rect">
            <a:avLst/>
          </a:prstGeom>
          <a:solidFill>
            <a:srgbClr val="0F6E78"/>
          </a:solidFill>
          <a:ln w="12700" cap="flat" cmpd="sng">
            <a:solidFill>
              <a:srgbClr val="0F6E7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 name="Google Shape;289;p18"/>
          <p:cNvSpPr/>
          <p:nvPr/>
        </p:nvSpPr>
        <p:spPr>
          <a:xfrm>
            <a:off x="349376" y="932284"/>
            <a:ext cx="3931920" cy="174274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100000"/>
              </a:lnSpc>
              <a:spcBef>
                <a:spcPts val="0"/>
              </a:spcBef>
              <a:spcAft>
                <a:spcPts val="0"/>
              </a:spcAft>
              <a:buClr>
                <a:srgbClr val="000000"/>
              </a:buClr>
              <a:buSzPts val="1500"/>
              <a:buFont typeface="Arial"/>
              <a:buChar char="•"/>
            </a:pPr>
            <a:r>
              <a:rPr lang="en" sz="1500" b="0" i="0" u="none" strike="noStrike" cap="none" dirty="0" err="1">
                <a:solidFill>
                  <a:srgbClr val="243B40"/>
                </a:solidFill>
                <a:latin typeface="Calibri"/>
                <a:ea typeface="Calibri"/>
                <a:cs typeface="Calibri"/>
                <a:sym typeface="Calibri"/>
              </a:rPr>
              <a:t>Standardised</a:t>
            </a:r>
            <a:r>
              <a:rPr lang="en" sz="1500" b="0" i="0" u="none" strike="noStrike" cap="none" dirty="0">
                <a:solidFill>
                  <a:srgbClr val="243B40"/>
                </a:solidFill>
                <a:latin typeface="Calibri"/>
                <a:ea typeface="Calibri"/>
                <a:cs typeface="Calibri"/>
                <a:sym typeface="Calibri"/>
              </a:rPr>
              <a:t> by 3GPP, uses licensed bands</a:t>
            </a:r>
            <a:endParaRPr sz="15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1000"/>
              </a:spcBef>
              <a:spcAft>
                <a:spcPts val="0"/>
              </a:spcAft>
              <a:buClr>
                <a:srgbClr val="000000"/>
              </a:buClr>
              <a:buSzPts val="1500"/>
              <a:buFont typeface="Arial"/>
              <a:buChar char="•"/>
            </a:pPr>
            <a:r>
              <a:rPr lang="en" sz="1500" b="0" i="0" u="none" strike="noStrike" cap="none" dirty="0">
                <a:solidFill>
                  <a:srgbClr val="243B40"/>
                </a:solidFill>
                <a:latin typeface="Calibri"/>
                <a:ea typeface="Calibri"/>
                <a:cs typeface="Calibri"/>
                <a:sym typeface="Calibri"/>
              </a:rPr>
              <a:t>Three classes: </a:t>
            </a:r>
            <a:r>
              <a:rPr lang="en" sz="1500" b="0" i="0" u="none" strike="noStrike" cap="none" dirty="0" err="1">
                <a:solidFill>
                  <a:srgbClr val="243B40"/>
                </a:solidFill>
                <a:latin typeface="Calibri"/>
                <a:ea typeface="Calibri"/>
                <a:cs typeface="Calibri"/>
                <a:sym typeface="Calibri"/>
              </a:rPr>
              <a:t>eMBB</a:t>
            </a:r>
            <a:r>
              <a:rPr lang="en" sz="1500" b="0" i="0" u="none" strike="noStrike" cap="none" dirty="0">
                <a:solidFill>
                  <a:srgbClr val="243B40"/>
                </a:solidFill>
                <a:latin typeface="Calibri"/>
                <a:ea typeface="Calibri"/>
                <a:cs typeface="Calibri"/>
                <a:sym typeface="Calibri"/>
              </a:rPr>
              <a:t>, </a:t>
            </a:r>
            <a:r>
              <a:rPr lang="en" sz="1500" b="0" i="0" u="none" strike="noStrike" cap="none" dirty="0" err="1">
                <a:solidFill>
                  <a:srgbClr val="243B40"/>
                </a:solidFill>
                <a:latin typeface="Calibri"/>
                <a:ea typeface="Calibri"/>
                <a:cs typeface="Calibri"/>
                <a:sym typeface="Calibri"/>
              </a:rPr>
              <a:t>mMTC</a:t>
            </a:r>
            <a:r>
              <a:rPr lang="en" sz="1500" b="0" i="0" u="none" strike="noStrike" cap="none" dirty="0">
                <a:solidFill>
                  <a:srgbClr val="243B40"/>
                </a:solidFill>
                <a:latin typeface="Calibri"/>
                <a:ea typeface="Calibri"/>
                <a:cs typeface="Calibri"/>
                <a:sym typeface="Calibri"/>
              </a:rPr>
              <a:t>, URLLC</a:t>
            </a:r>
            <a:endParaRPr sz="1500" b="0" i="0" u="none" strike="noStrike" cap="none" dirty="0">
              <a:solidFill>
                <a:srgbClr val="000000"/>
              </a:solidFill>
              <a:latin typeface="Arial"/>
              <a:ea typeface="Arial"/>
              <a:cs typeface="Arial"/>
              <a:sym typeface="Arial"/>
            </a:endParaRPr>
          </a:p>
        </p:txBody>
      </p:sp>
      <p:sp>
        <p:nvSpPr>
          <p:cNvPr id="290" name="Google Shape;290;p18"/>
          <p:cNvSpPr/>
          <p:nvPr/>
        </p:nvSpPr>
        <p:spPr>
          <a:xfrm>
            <a:off x="4102032" y="4177370"/>
            <a:ext cx="914400" cy="310896"/>
          </a:xfrm>
          <a:prstGeom prst="roundRect">
            <a:avLst>
              <a:gd name="adj" fmla="val 50000"/>
            </a:avLst>
          </a:prstGeom>
          <a:solidFill>
            <a:srgbClr val="1C8C99"/>
          </a:solidFill>
          <a:ln w="12700" cap="flat" cmpd="sng">
            <a:solidFill>
              <a:srgbClr val="1C8C9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 name="Google Shape;291;p18"/>
          <p:cNvSpPr/>
          <p:nvPr/>
        </p:nvSpPr>
        <p:spPr>
          <a:xfrm>
            <a:off x="4102032" y="4177370"/>
            <a:ext cx="914400" cy="31089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1" i="0" u="none" strike="noStrike" cap="none">
                <a:solidFill>
                  <a:srgbClr val="FFFFFF"/>
                </a:solidFill>
                <a:latin typeface="Arial"/>
                <a:ea typeface="Arial"/>
                <a:cs typeface="Arial"/>
                <a:sym typeface="Arial"/>
              </a:rPr>
              <a:t>PROS</a:t>
            </a:r>
            <a:endParaRPr sz="1100" b="0" i="0" u="none" strike="noStrike" cap="none">
              <a:solidFill>
                <a:srgbClr val="000000"/>
              </a:solidFill>
              <a:latin typeface="Arial"/>
              <a:ea typeface="Arial"/>
              <a:cs typeface="Arial"/>
              <a:sym typeface="Arial"/>
            </a:endParaRPr>
          </a:p>
        </p:txBody>
      </p:sp>
      <p:sp>
        <p:nvSpPr>
          <p:cNvPr id="292" name="Google Shape;292;p18"/>
          <p:cNvSpPr/>
          <p:nvPr/>
        </p:nvSpPr>
        <p:spPr>
          <a:xfrm>
            <a:off x="5035321" y="4232953"/>
            <a:ext cx="3017520" cy="3108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dirty="0">
                <a:solidFill>
                  <a:srgbClr val="5A6B6E"/>
                </a:solidFill>
                <a:latin typeface="Arial"/>
                <a:ea typeface="Arial"/>
                <a:cs typeface="Arial"/>
                <a:sym typeface="Arial"/>
              </a:rPr>
              <a:t>Licensed spectrum, flexible, one network enough for whole factory</a:t>
            </a:r>
            <a:endParaRPr sz="1100" b="0" i="0" u="none" strike="noStrike" cap="none" dirty="0">
              <a:solidFill>
                <a:srgbClr val="000000"/>
              </a:solidFill>
              <a:latin typeface="Arial"/>
              <a:ea typeface="Arial"/>
              <a:cs typeface="Arial"/>
              <a:sym typeface="Arial"/>
            </a:endParaRPr>
          </a:p>
        </p:txBody>
      </p:sp>
      <p:sp>
        <p:nvSpPr>
          <p:cNvPr id="293" name="Google Shape;293;p18"/>
          <p:cNvSpPr/>
          <p:nvPr/>
        </p:nvSpPr>
        <p:spPr>
          <a:xfrm>
            <a:off x="4102032" y="4588850"/>
            <a:ext cx="914400" cy="310896"/>
          </a:xfrm>
          <a:prstGeom prst="roundRect">
            <a:avLst>
              <a:gd name="adj" fmla="val 50000"/>
            </a:avLst>
          </a:prstGeom>
          <a:solidFill>
            <a:srgbClr val="F2A900"/>
          </a:solidFill>
          <a:ln w="12700" cap="flat" cmpd="sng">
            <a:solidFill>
              <a:srgbClr val="F2A9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 name="Google Shape;294;p18"/>
          <p:cNvSpPr/>
          <p:nvPr/>
        </p:nvSpPr>
        <p:spPr>
          <a:xfrm>
            <a:off x="4102032" y="4588850"/>
            <a:ext cx="914400" cy="31089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1" i="0" u="none" strike="noStrike" cap="none">
                <a:solidFill>
                  <a:srgbClr val="FFFFFF"/>
                </a:solidFill>
                <a:latin typeface="Arial"/>
                <a:ea typeface="Arial"/>
                <a:cs typeface="Arial"/>
                <a:sym typeface="Arial"/>
              </a:rPr>
              <a:t>CONS</a:t>
            </a:r>
            <a:endParaRPr sz="1100" b="0" i="0" u="none" strike="noStrike" cap="none">
              <a:solidFill>
                <a:srgbClr val="000000"/>
              </a:solidFill>
              <a:latin typeface="Arial"/>
              <a:ea typeface="Arial"/>
              <a:cs typeface="Arial"/>
              <a:sym typeface="Arial"/>
            </a:endParaRPr>
          </a:p>
        </p:txBody>
      </p:sp>
      <p:sp>
        <p:nvSpPr>
          <p:cNvPr id="295" name="Google Shape;295;p18"/>
          <p:cNvSpPr/>
          <p:nvPr/>
        </p:nvSpPr>
        <p:spPr>
          <a:xfrm>
            <a:off x="5016432" y="4599432"/>
            <a:ext cx="3017520" cy="3108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5A6B6E"/>
                </a:solidFill>
                <a:latin typeface="Arial"/>
                <a:ea typeface="Arial"/>
                <a:cs typeface="Arial"/>
                <a:sym typeface="Arial"/>
              </a:rPr>
              <a:t>Costly, complex, power-hungry</a:t>
            </a:r>
            <a:endParaRPr sz="1100" b="0" i="0" u="none" strike="noStrike" cap="none">
              <a:solidFill>
                <a:srgbClr val="000000"/>
              </a:solidFill>
              <a:latin typeface="Arial"/>
              <a:ea typeface="Arial"/>
              <a:cs typeface="Arial"/>
              <a:sym typeface="Arial"/>
            </a:endParaRPr>
          </a:p>
        </p:txBody>
      </p:sp>
      <p:sp>
        <p:nvSpPr>
          <p:cNvPr id="296" name="Google Shape;296;p18"/>
          <p:cNvSpPr/>
          <p:nvPr/>
        </p:nvSpPr>
        <p:spPr>
          <a:xfrm>
            <a:off x="4754880" y="2377440"/>
            <a:ext cx="3931920" cy="457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1C8C99"/>
                </a:solidFill>
                <a:latin typeface="Arial"/>
                <a:ea typeface="Arial"/>
                <a:cs typeface="Arial"/>
                <a:sym typeface="Arial"/>
              </a:rPr>
              <a:t>[ IMAGE ]</a:t>
            </a:r>
            <a:endParaRPr sz="1600" b="0" i="0" u="none" strike="noStrike" cap="none">
              <a:solidFill>
                <a:srgbClr val="000000"/>
              </a:solidFill>
              <a:latin typeface="Arial"/>
              <a:ea typeface="Arial"/>
              <a:cs typeface="Arial"/>
              <a:sym typeface="Arial"/>
            </a:endParaRPr>
          </a:p>
        </p:txBody>
      </p:sp>
      <p:sp>
        <p:nvSpPr>
          <p:cNvPr id="297" name="Google Shape;297;p18"/>
          <p:cNvSpPr/>
          <p:nvPr/>
        </p:nvSpPr>
        <p:spPr>
          <a:xfrm>
            <a:off x="4754880" y="2834640"/>
            <a:ext cx="3931920" cy="36576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1" u="none" strike="noStrike" cap="none">
                <a:solidFill>
                  <a:srgbClr val="5A6B6E"/>
                </a:solidFill>
                <a:latin typeface="Arial"/>
                <a:ea typeface="Arial"/>
                <a:cs typeface="Arial"/>
                <a:sym typeface="Arial"/>
              </a:rPr>
              <a:t>Private 5G campus network</a:t>
            </a:r>
            <a:endParaRPr sz="1200" b="0" i="0" u="none" strike="noStrike" cap="none">
              <a:solidFill>
                <a:srgbClr val="000000"/>
              </a:solidFill>
              <a:latin typeface="Arial"/>
              <a:ea typeface="Arial"/>
              <a:cs typeface="Arial"/>
              <a:sym typeface="Arial"/>
            </a:endParaRPr>
          </a:p>
        </p:txBody>
      </p:sp>
      <p:pic>
        <p:nvPicPr>
          <p:cNvPr id="298" name="Google Shape;298;p18"/>
          <p:cNvPicPr preferRelativeResize="0"/>
          <p:nvPr/>
        </p:nvPicPr>
        <p:blipFill rotWithShape="1">
          <a:blip r:embed="rId3">
            <a:alphaModFix/>
          </a:blip>
          <a:srcRect/>
          <a:stretch/>
        </p:blipFill>
        <p:spPr>
          <a:xfrm>
            <a:off x="4213905" y="1252728"/>
            <a:ext cx="4271344" cy="2553935"/>
          </a:xfrm>
          <a:prstGeom prst="rect">
            <a:avLst/>
          </a:prstGeom>
          <a:noFill/>
          <a:ln>
            <a:noFill/>
          </a:ln>
        </p:spPr>
      </p:pic>
      <p:pic>
        <p:nvPicPr>
          <p:cNvPr id="299" name="Google Shape;299;p18" descr="5G new radio fixed wireless access portfolio introduced | Electronics360"/>
          <p:cNvPicPr preferRelativeResize="0"/>
          <p:nvPr/>
        </p:nvPicPr>
        <p:blipFill rotWithShape="1">
          <a:blip r:embed="rId4">
            <a:alphaModFix/>
          </a:blip>
          <a:srcRect l="27411" t="7198" r="19975" b="4925"/>
          <a:stretch/>
        </p:blipFill>
        <p:spPr>
          <a:xfrm rot="-158101">
            <a:off x="769643" y="2345812"/>
            <a:ext cx="2697464" cy="248096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pic>
        <p:nvPicPr>
          <p:cNvPr id="6" name="Picture 5">
            <a:extLst>
              <a:ext uri="{FF2B5EF4-FFF2-40B4-BE49-F238E27FC236}">
                <a16:creationId xmlns:a16="http://schemas.microsoft.com/office/drawing/2014/main" id="{BC6E61A9-4A63-B5E1-6231-98D252ECFCD6}"/>
              </a:ext>
            </a:extLst>
          </p:cNvPr>
          <p:cNvPicPr>
            <a:picLocks noChangeAspect="1"/>
          </p:cNvPicPr>
          <p:nvPr/>
        </p:nvPicPr>
        <p:blipFill>
          <a:blip r:embed="rId3"/>
          <a:stretch>
            <a:fillRect/>
          </a:stretch>
        </p:blipFill>
        <p:spPr>
          <a:xfrm>
            <a:off x="0" y="0"/>
            <a:ext cx="8293608" cy="5143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47"/>
        <p:cNvGrpSpPr/>
        <p:nvPr/>
      </p:nvGrpSpPr>
      <p:grpSpPr>
        <a:xfrm>
          <a:off x="0" y="0"/>
          <a:ext cx="0" cy="0"/>
          <a:chOff x="0" y="0"/>
          <a:chExt cx="0" cy="0"/>
        </a:xfrm>
      </p:grpSpPr>
      <p:pic>
        <p:nvPicPr>
          <p:cNvPr id="348" name="Google Shape;348;p49"/>
          <p:cNvPicPr preferRelativeResize="0"/>
          <p:nvPr/>
        </p:nvPicPr>
        <p:blipFill rotWithShape="1">
          <a:blip r:embed="rId3">
            <a:alphaModFix/>
          </a:blip>
          <a:srcRect/>
          <a:stretch/>
        </p:blipFill>
        <p:spPr>
          <a:xfrm>
            <a:off x="5242560" y="1151533"/>
            <a:ext cx="3596640" cy="1344930"/>
          </a:xfrm>
          <a:prstGeom prst="rect">
            <a:avLst/>
          </a:prstGeom>
          <a:noFill/>
          <a:ln>
            <a:noFill/>
          </a:ln>
        </p:spPr>
      </p:pic>
      <p:pic>
        <p:nvPicPr>
          <p:cNvPr id="349" name="Google Shape;349;p49"/>
          <p:cNvPicPr preferRelativeResize="0"/>
          <p:nvPr/>
        </p:nvPicPr>
        <p:blipFill rotWithShape="1">
          <a:blip r:embed="rId4">
            <a:alphaModFix/>
          </a:blip>
          <a:srcRect/>
          <a:stretch/>
        </p:blipFill>
        <p:spPr>
          <a:xfrm>
            <a:off x="4957873" y="2613425"/>
            <a:ext cx="2107944" cy="1775637"/>
          </a:xfrm>
          <a:prstGeom prst="rect">
            <a:avLst/>
          </a:prstGeom>
          <a:noFill/>
          <a:ln>
            <a:noFill/>
          </a:ln>
        </p:spPr>
      </p:pic>
      <p:sp>
        <p:nvSpPr>
          <p:cNvPr id="350" name="Google Shape;350;p49"/>
          <p:cNvSpPr txBox="1"/>
          <p:nvPr/>
        </p:nvSpPr>
        <p:spPr>
          <a:xfrm>
            <a:off x="476092" y="520544"/>
            <a:ext cx="4375518" cy="418576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1" i="0" u="none" strike="noStrike" cap="none">
                <a:solidFill>
                  <a:srgbClr val="000000"/>
                </a:solidFill>
                <a:latin typeface="Arial"/>
                <a:ea typeface="Arial"/>
                <a:cs typeface="Arial"/>
                <a:sym typeface="Arial"/>
              </a:rPr>
              <a:t>Evaluation example</a:t>
            </a:r>
            <a:endParaRPr/>
          </a:p>
          <a:p>
            <a:pPr marL="0" marR="0" lvl="0" indent="0" algn="l" rtl="0">
              <a:lnSpc>
                <a:spcPct val="100000"/>
              </a:lnSpc>
              <a:spcBef>
                <a:spcPts val="0"/>
              </a:spcBef>
              <a:spcAft>
                <a:spcPts val="0"/>
              </a:spcAft>
              <a:buNone/>
            </a:pPr>
            <a:endParaRPr sz="14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 sz="1400" b="1" i="0" u="none" strike="noStrike" cap="none">
                <a:solidFill>
                  <a:srgbClr val="000000"/>
                </a:solidFill>
                <a:latin typeface="Arial"/>
                <a:ea typeface="Arial"/>
                <a:cs typeface="Arial"/>
                <a:sym typeface="Arial"/>
              </a:rPr>
              <a:t>Automated Production Cell Scenario</a:t>
            </a:r>
            <a:endParaRPr/>
          </a:p>
          <a:p>
            <a:pPr marL="0" marR="0" lvl="0" indent="0" algn="l" rtl="0">
              <a:lnSpc>
                <a:spcPct val="100000"/>
              </a:lnSpc>
              <a:spcBef>
                <a:spcPts val="0"/>
              </a:spcBef>
              <a:spcAft>
                <a:spcPts val="0"/>
              </a:spcAft>
              <a:buNone/>
            </a:pPr>
            <a:endParaRPr sz="14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 Industry 4.0 production cell has different communication needs.</a:t>
            </a:r>
            <a:endParaRPr/>
          </a:p>
          <a:p>
            <a:pPr marL="0" marR="0" lvl="0" indent="0" algn="l" rtl="0">
              <a:lnSpc>
                <a:spcPct val="100000"/>
              </a:lnSpc>
              <a:spcBef>
                <a:spcPts val="0"/>
              </a:spcBef>
              <a:spcAft>
                <a:spcPts val="0"/>
              </a:spcAft>
              <a:buNone/>
            </a:pPr>
            <a:br>
              <a:rPr lang="en" sz="1400" b="0" i="0" u="none" strike="noStrike" cap="none">
                <a:solidFill>
                  <a:srgbClr val="000000"/>
                </a:solidFill>
                <a:latin typeface="Arial"/>
                <a:ea typeface="Arial"/>
                <a:cs typeface="Arial"/>
                <a:sym typeface="Arial"/>
              </a:rPr>
            </a:br>
            <a:r>
              <a:rPr lang="en" sz="1400" b="0" i="0" u="none" strike="noStrike" cap="none">
                <a:solidFill>
                  <a:srgbClr val="000000"/>
                </a:solidFill>
                <a:latin typeface="Arial"/>
                <a:ea typeface="Arial"/>
                <a:cs typeface="Arial"/>
                <a:sym typeface="Arial"/>
              </a:rPr>
              <a:t>• 2 collaborative robots(cobots) require 1 ms latency and very high reliability.</a:t>
            </a:r>
            <a:endParaRPr/>
          </a:p>
          <a:p>
            <a:pPr marL="0" marR="0" lvl="0" indent="0" algn="l" rtl="0">
              <a:lnSpc>
                <a:spcPct val="100000"/>
              </a:lnSpc>
              <a:spcBef>
                <a:spcPts val="0"/>
              </a:spcBef>
              <a:spcAft>
                <a:spcPts val="0"/>
              </a:spcAft>
              <a:buNone/>
            </a:pPr>
            <a:br>
              <a:rPr lang="en" sz="1400" b="0" i="0" u="none" strike="noStrike" cap="none">
                <a:solidFill>
                  <a:srgbClr val="000000"/>
                </a:solidFill>
                <a:latin typeface="Arial"/>
                <a:ea typeface="Arial"/>
                <a:cs typeface="Arial"/>
                <a:sym typeface="Arial"/>
              </a:rPr>
            </a:br>
            <a:r>
              <a:rPr lang="en" sz="1400" b="0" i="0" u="none" strike="noStrike" cap="none">
                <a:solidFill>
                  <a:srgbClr val="000000"/>
                </a:solidFill>
                <a:latin typeface="Arial"/>
                <a:ea typeface="Arial"/>
                <a:cs typeface="Arial"/>
                <a:sym typeface="Arial"/>
              </a:rPr>
              <a:t>• Sensors send small data packets every 30 seconds.</a:t>
            </a:r>
            <a:endParaRPr/>
          </a:p>
          <a:p>
            <a:pPr marL="0" marR="0" lvl="0" indent="0" algn="l" rtl="0">
              <a:lnSpc>
                <a:spcPct val="100000"/>
              </a:lnSpc>
              <a:spcBef>
                <a:spcPts val="0"/>
              </a:spcBef>
              <a:spcAft>
                <a:spcPts val="0"/>
              </a:spcAft>
              <a:buNone/>
            </a:pPr>
            <a:br>
              <a:rPr lang="en" sz="1400" b="0" i="0" u="none" strike="noStrike" cap="none">
                <a:solidFill>
                  <a:srgbClr val="000000"/>
                </a:solidFill>
                <a:latin typeface="Arial"/>
                <a:ea typeface="Arial"/>
                <a:cs typeface="Arial"/>
                <a:sym typeface="Arial"/>
              </a:rPr>
            </a:br>
            <a:r>
              <a:rPr lang="en" sz="1400" b="0" i="0" u="none" strike="noStrike" cap="none">
                <a:solidFill>
                  <a:srgbClr val="000000"/>
                </a:solidFill>
                <a:latin typeface="Arial"/>
                <a:ea typeface="Arial"/>
                <a:cs typeface="Arial"/>
                <a:sym typeface="Arial"/>
              </a:rPr>
              <a:t>• AGVs need 10 Mbps video links with maximum 10 ms latency.</a:t>
            </a:r>
            <a:endParaRPr/>
          </a:p>
          <a:p>
            <a:pPr marL="0" marR="0" lvl="0" indent="0" algn="l" rtl="0">
              <a:lnSpc>
                <a:spcPct val="100000"/>
              </a:lnSpc>
              <a:spcBef>
                <a:spcPts val="0"/>
              </a:spcBef>
              <a:spcAft>
                <a:spcPts val="0"/>
              </a:spcAft>
              <a:buNone/>
            </a:pPr>
            <a:br>
              <a:rPr lang="en" sz="1400" b="0" i="0" u="none" strike="noStrike" cap="none">
                <a:solidFill>
                  <a:srgbClr val="000000"/>
                </a:solidFill>
                <a:latin typeface="Arial"/>
                <a:ea typeface="Arial"/>
                <a:cs typeface="Arial"/>
                <a:sym typeface="Arial"/>
              </a:rPr>
            </a:br>
            <a:r>
              <a:rPr lang="en" sz="1400" b="0" i="0" u="none" strike="noStrike" cap="none">
                <a:solidFill>
                  <a:srgbClr val="000000"/>
                </a:solidFill>
                <a:latin typeface="Arial"/>
                <a:ea typeface="Arial"/>
                <a:cs typeface="Arial"/>
                <a:sym typeface="Arial"/>
              </a:rPr>
              <a:t>• Machine vision station transfers images to an edge server in 0.5 s</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51" name="Google Shape;351;p49"/>
          <p:cNvPicPr preferRelativeResize="0"/>
          <p:nvPr/>
        </p:nvPicPr>
        <p:blipFill rotWithShape="1">
          <a:blip r:embed="rId5">
            <a:alphaModFix/>
          </a:blip>
          <a:srcRect/>
          <a:stretch/>
        </p:blipFill>
        <p:spPr>
          <a:xfrm>
            <a:off x="7065817" y="2613425"/>
            <a:ext cx="1773383" cy="1775637"/>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pic>
        <p:nvPicPr>
          <p:cNvPr id="356" name="Google Shape;356;p50"/>
          <p:cNvPicPr preferRelativeResize="0"/>
          <p:nvPr/>
        </p:nvPicPr>
        <p:blipFill rotWithShape="1">
          <a:blip r:embed="rId3">
            <a:alphaModFix/>
          </a:blip>
          <a:srcRect/>
          <a:stretch/>
        </p:blipFill>
        <p:spPr>
          <a:xfrm>
            <a:off x="521435" y="264496"/>
            <a:ext cx="7889533" cy="451910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51"/>
          <p:cNvSpPr txBox="1"/>
          <p:nvPr/>
        </p:nvSpPr>
        <p:spPr>
          <a:xfrm>
            <a:off x="294722" y="284561"/>
            <a:ext cx="8599895" cy="310854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 sz="1400" b="1" i="0" u="none" strike="noStrike" cap="none">
                <a:solidFill>
                  <a:srgbClr val="000000"/>
                </a:solidFill>
                <a:latin typeface="Arial"/>
                <a:ea typeface="Arial"/>
                <a:cs typeface="Arial"/>
                <a:sym typeface="Arial"/>
              </a:rPr>
              <a:t>Deployment Challenges in Industrial Environments</a:t>
            </a:r>
            <a:endParaRPr/>
          </a:p>
          <a:p>
            <a:pPr marL="0" marR="0" lvl="0" indent="0" algn="l" rtl="0">
              <a:lnSpc>
                <a:spcPct val="100000"/>
              </a:lnSpc>
              <a:spcBef>
                <a:spcPts val="0"/>
              </a:spcBef>
              <a:spcAft>
                <a:spcPts val="0"/>
              </a:spcAft>
              <a:buNone/>
            </a:pPr>
            <a:endParaRPr sz="1400" b="1"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 EMI from frequency converters, arc welders, and servo drives can disturb wireless communication</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 Metallic factory environments cause multipath fading and signal dead zones</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 Wi-Fi 6 and 5G handle multipath better than Zigbee because they use OFDM-based transmission</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 Wi-Fi, Zigbee, and Bluetooth can interfere because they share the 2.4 GHz band</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 Cybersecurity depends on correct configuration, authentication, encryption, and key management</a:t>
            </a:r>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r>
              <a:rPr lang="en" sz="1400" b="0" i="0" u="none" strike="noStrike" cap="none">
                <a:solidFill>
                  <a:srgbClr val="000000"/>
                </a:solidFill>
                <a:latin typeface="Arial"/>
                <a:ea typeface="Arial"/>
                <a:cs typeface="Arial"/>
                <a:sym typeface="Arial"/>
              </a:rPr>
              <a:t>• Indoor coverage is limited and must be carefully planned for Wi-Fi, Zigbee, and 5G mmWave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62" name="Google Shape;362;p51"/>
          <p:cNvPicPr preferRelativeResize="0"/>
          <p:nvPr/>
        </p:nvPicPr>
        <p:blipFill rotWithShape="1">
          <a:blip r:embed="rId3">
            <a:alphaModFix/>
          </a:blip>
          <a:srcRect/>
          <a:stretch/>
        </p:blipFill>
        <p:spPr>
          <a:xfrm>
            <a:off x="460977" y="3393104"/>
            <a:ext cx="8093575" cy="167766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20"/>
          <p:cNvSpPr/>
          <p:nvPr/>
        </p:nvSpPr>
        <p:spPr>
          <a:xfrm>
            <a:off x="540023" y="426839"/>
            <a:ext cx="6461671" cy="408533"/>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B2DBA"/>
              </a:buClr>
              <a:buSzPts val="2550"/>
              <a:buFont typeface="Comfortaa"/>
              <a:buNone/>
            </a:pPr>
            <a:r>
              <a:rPr lang="en" sz="2550" b="1" i="0" u="none" strike="noStrike" cap="none">
                <a:solidFill>
                  <a:srgbClr val="1B2DBA"/>
                </a:solidFill>
                <a:latin typeface="Comfortaa"/>
                <a:ea typeface="Comfortaa"/>
                <a:cs typeface="Comfortaa"/>
                <a:sym typeface="Comfortaa"/>
              </a:rPr>
              <a:t>No Single Standard Fits Everything</a:t>
            </a:r>
            <a:endParaRPr sz="2550" b="0" i="0" u="none" strike="noStrike" cap="none">
              <a:solidFill>
                <a:schemeClr val="dk1"/>
              </a:solidFill>
              <a:latin typeface="Calibri"/>
              <a:ea typeface="Calibri"/>
              <a:cs typeface="Calibri"/>
              <a:sym typeface="Calibri"/>
            </a:endParaRPr>
          </a:p>
        </p:txBody>
      </p:sp>
      <p:sp>
        <p:nvSpPr>
          <p:cNvPr id="315" name="Google Shape;315;p20"/>
          <p:cNvSpPr/>
          <p:nvPr/>
        </p:nvSpPr>
        <p:spPr>
          <a:xfrm>
            <a:off x="540023" y="1115690"/>
            <a:ext cx="8521154" cy="229716"/>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150"/>
              <a:buFont typeface="Raleway Medium"/>
              <a:buNone/>
            </a:pPr>
            <a:r>
              <a:rPr lang="en" sz="1150" b="0" i="0" u="none" strike="noStrike" cap="none">
                <a:solidFill>
                  <a:srgbClr val="000000"/>
                </a:solidFill>
                <a:latin typeface="Raleway Medium"/>
                <a:ea typeface="Raleway Medium"/>
                <a:cs typeface="Raleway Medium"/>
                <a:sym typeface="Raleway Medium"/>
              </a:rPr>
              <a:t>The core finding: </a:t>
            </a:r>
            <a:r>
              <a:rPr lang="en" sz="1150" b="1" i="0" u="none" strike="noStrike" cap="none">
                <a:solidFill>
                  <a:srgbClr val="000000"/>
                </a:solidFill>
                <a:latin typeface="Raleway Medium"/>
                <a:ea typeface="Raleway Medium"/>
                <a:cs typeface="Raleway Medium"/>
                <a:sym typeface="Raleway Medium"/>
              </a:rPr>
              <a:t>each standard excels in a different domain.</a:t>
            </a:r>
            <a:r>
              <a:rPr lang="en" sz="1150" b="0" i="0" u="none" strike="noStrike" cap="none">
                <a:solidFill>
                  <a:srgbClr val="000000"/>
                </a:solidFill>
                <a:latin typeface="Raleway Medium"/>
                <a:ea typeface="Raleway Medium"/>
                <a:cs typeface="Raleway Medium"/>
                <a:sym typeface="Raleway Medium"/>
              </a:rPr>
              <a:t> Smart factories require a hybrid wireless architecture.</a:t>
            </a:r>
            <a:endParaRPr sz="1150" b="0" i="0" u="none" strike="noStrike" cap="none">
              <a:solidFill>
                <a:schemeClr val="dk1"/>
              </a:solidFill>
              <a:latin typeface="Calibri"/>
              <a:ea typeface="Calibri"/>
              <a:cs typeface="Calibri"/>
              <a:sym typeface="Calibri"/>
            </a:endParaRPr>
          </a:p>
        </p:txBody>
      </p:sp>
      <p:sp>
        <p:nvSpPr>
          <p:cNvPr id="316" name="Google Shape;316;p20"/>
          <p:cNvSpPr/>
          <p:nvPr/>
        </p:nvSpPr>
        <p:spPr>
          <a:xfrm>
            <a:off x="540023" y="1503090"/>
            <a:ext cx="8063954" cy="2342629"/>
          </a:xfrm>
          <a:prstGeom prst="roundRect">
            <a:avLst>
              <a:gd name="adj" fmla="val 9417"/>
            </a:avLst>
          </a:prstGeom>
          <a:noFill/>
          <a:ln w="9525" cap="flat" cmpd="sng">
            <a:solidFill>
              <a:srgbClr val="000000">
                <a:alpha val="7843"/>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 name="Google Shape;317;p20"/>
          <p:cNvSpPr/>
          <p:nvPr/>
        </p:nvSpPr>
        <p:spPr>
          <a:xfrm>
            <a:off x="691976" y="1596703"/>
            <a:ext cx="2415927" cy="229716"/>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150"/>
              <a:buFont typeface="Raleway Medium"/>
              <a:buNone/>
            </a:pPr>
            <a:r>
              <a:rPr lang="en" sz="1150" b="1" i="0" u="none" strike="noStrike" cap="none">
                <a:solidFill>
                  <a:srgbClr val="000000"/>
                </a:solidFill>
                <a:latin typeface="Raleway Medium"/>
                <a:ea typeface="Raleway Medium"/>
                <a:cs typeface="Raleway Medium"/>
                <a:sym typeface="Raleway Medium"/>
              </a:rPr>
              <a:t>Standard</a:t>
            </a:r>
            <a:endParaRPr sz="1150" b="0" i="0" u="none" strike="noStrike" cap="none">
              <a:solidFill>
                <a:schemeClr val="dk1"/>
              </a:solidFill>
              <a:latin typeface="Calibri"/>
              <a:ea typeface="Calibri"/>
              <a:cs typeface="Calibri"/>
              <a:sym typeface="Calibri"/>
            </a:endParaRPr>
          </a:p>
        </p:txBody>
      </p:sp>
      <p:sp>
        <p:nvSpPr>
          <p:cNvPr id="318" name="Google Shape;318;p20"/>
          <p:cNvSpPr/>
          <p:nvPr/>
        </p:nvSpPr>
        <p:spPr>
          <a:xfrm>
            <a:off x="2949550" y="1596703"/>
            <a:ext cx="3702248" cy="229716"/>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150"/>
              <a:buFont typeface="Raleway Medium"/>
              <a:buNone/>
            </a:pPr>
            <a:r>
              <a:rPr lang="en" sz="1150" b="1" i="0" u="none" strike="noStrike" cap="none">
                <a:solidFill>
                  <a:srgbClr val="000000"/>
                </a:solidFill>
                <a:latin typeface="Raleway Medium"/>
                <a:ea typeface="Raleway Medium"/>
                <a:cs typeface="Raleway Medium"/>
                <a:sym typeface="Raleway Medium"/>
              </a:rPr>
              <a:t>Best Suited For</a:t>
            </a:r>
            <a:endParaRPr sz="1150" b="0" i="0" u="none" strike="noStrike" cap="none">
              <a:solidFill>
                <a:schemeClr val="dk1"/>
              </a:solidFill>
              <a:latin typeface="Calibri"/>
              <a:ea typeface="Calibri"/>
              <a:cs typeface="Calibri"/>
              <a:sym typeface="Calibri"/>
            </a:endParaRPr>
          </a:p>
        </p:txBody>
      </p:sp>
      <p:sp>
        <p:nvSpPr>
          <p:cNvPr id="319" name="Google Shape;319;p20"/>
          <p:cNvSpPr/>
          <p:nvPr/>
        </p:nvSpPr>
        <p:spPr>
          <a:xfrm>
            <a:off x="6493446" y="1596703"/>
            <a:ext cx="2415927" cy="229716"/>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150"/>
              <a:buFont typeface="Raleway Medium"/>
              <a:buNone/>
            </a:pPr>
            <a:r>
              <a:rPr lang="en" sz="1150" b="1" i="0" u="none" strike="noStrike" cap="none">
                <a:solidFill>
                  <a:srgbClr val="000000"/>
                </a:solidFill>
                <a:latin typeface="Raleway Medium"/>
                <a:ea typeface="Raleway Medium"/>
                <a:cs typeface="Raleway Medium"/>
                <a:sym typeface="Raleway Medium"/>
              </a:rPr>
              <a:t>Main Limitation</a:t>
            </a:r>
            <a:endParaRPr sz="1150" b="0" i="0" u="none" strike="noStrike" cap="none">
              <a:solidFill>
                <a:schemeClr val="dk1"/>
              </a:solidFill>
              <a:latin typeface="Calibri"/>
              <a:ea typeface="Calibri"/>
              <a:cs typeface="Calibri"/>
              <a:sym typeface="Calibri"/>
            </a:endParaRPr>
          </a:p>
        </p:txBody>
      </p:sp>
      <p:sp>
        <p:nvSpPr>
          <p:cNvPr id="320" name="Google Shape;320;p20"/>
          <p:cNvSpPr/>
          <p:nvPr/>
        </p:nvSpPr>
        <p:spPr>
          <a:xfrm>
            <a:off x="691976" y="2008882"/>
            <a:ext cx="2415927" cy="229716"/>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150"/>
              <a:buFont typeface="Raleway Medium"/>
              <a:buNone/>
            </a:pPr>
            <a:r>
              <a:rPr lang="en" sz="1150" b="1" i="0" u="none" strike="noStrike" cap="none">
                <a:solidFill>
                  <a:srgbClr val="000000"/>
                </a:solidFill>
                <a:latin typeface="Raleway Medium"/>
                <a:ea typeface="Raleway Medium"/>
                <a:cs typeface="Raleway Medium"/>
                <a:sym typeface="Raleway Medium"/>
              </a:rPr>
              <a:t>Wi-Fi 6/7</a:t>
            </a:r>
            <a:endParaRPr sz="1150" b="0" i="0" u="none" strike="noStrike" cap="none">
              <a:solidFill>
                <a:schemeClr val="dk1"/>
              </a:solidFill>
              <a:latin typeface="Calibri"/>
              <a:ea typeface="Calibri"/>
              <a:cs typeface="Calibri"/>
              <a:sym typeface="Calibri"/>
            </a:endParaRPr>
          </a:p>
        </p:txBody>
      </p:sp>
      <p:sp>
        <p:nvSpPr>
          <p:cNvPr id="321" name="Google Shape;321;p20"/>
          <p:cNvSpPr/>
          <p:nvPr/>
        </p:nvSpPr>
        <p:spPr>
          <a:xfrm>
            <a:off x="2949550" y="2008882"/>
            <a:ext cx="3245048" cy="459432"/>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150"/>
              <a:buFont typeface="Raleway Medium"/>
              <a:buNone/>
            </a:pPr>
            <a:r>
              <a:rPr lang="en" sz="1150" b="0" i="0" u="none" strike="noStrike" cap="none">
                <a:solidFill>
                  <a:srgbClr val="000000"/>
                </a:solidFill>
                <a:latin typeface="Raleway Medium"/>
                <a:ea typeface="Raleway Medium"/>
                <a:cs typeface="Raleway Medium"/>
                <a:sym typeface="Raleway Medium"/>
              </a:rPr>
              <a:t>High-bandwidth mobile tasks: AGVs, machine vision, video monitoring</a:t>
            </a:r>
            <a:endParaRPr sz="1150" b="0" i="0" u="none" strike="noStrike" cap="none">
              <a:solidFill>
                <a:schemeClr val="dk1"/>
              </a:solidFill>
              <a:latin typeface="Calibri"/>
              <a:ea typeface="Calibri"/>
              <a:cs typeface="Calibri"/>
              <a:sym typeface="Calibri"/>
            </a:endParaRPr>
          </a:p>
        </p:txBody>
      </p:sp>
      <p:sp>
        <p:nvSpPr>
          <p:cNvPr id="322" name="Google Shape;322;p20"/>
          <p:cNvSpPr/>
          <p:nvPr/>
        </p:nvSpPr>
        <p:spPr>
          <a:xfrm>
            <a:off x="6493446" y="2008882"/>
            <a:ext cx="1958727" cy="459432"/>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150"/>
              <a:buFont typeface="Raleway Medium"/>
              <a:buNone/>
            </a:pPr>
            <a:r>
              <a:rPr lang="en" sz="1150" b="0" i="0" u="none" strike="noStrike" cap="none">
                <a:solidFill>
                  <a:srgbClr val="000000"/>
                </a:solidFill>
                <a:latin typeface="Raleway Medium"/>
                <a:ea typeface="Raleway Medium"/>
                <a:cs typeface="Raleway Medium"/>
                <a:sym typeface="Raleway Medium"/>
              </a:rPr>
              <a:t>Shared spectrum, variable reliability</a:t>
            </a:r>
            <a:endParaRPr sz="1150" b="0" i="0" u="none" strike="noStrike" cap="none">
              <a:solidFill>
                <a:schemeClr val="dk1"/>
              </a:solidFill>
              <a:latin typeface="Calibri"/>
              <a:ea typeface="Calibri"/>
              <a:cs typeface="Calibri"/>
              <a:sym typeface="Calibri"/>
            </a:endParaRPr>
          </a:p>
        </p:txBody>
      </p:sp>
      <p:sp>
        <p:nvSpPr>
          <p:cNvPr id="323" name="Google Shape;323;p20"/>
          <p:cNvSpPr/>
          <p:nvPr/>
        </p:nvSpPr>
        <p:spPr>
          <a:xfrm>
            <a:off x="691976" y="2650778"/>
            <a:ext cx="2415927" cy="229716"/>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150"/>
              <a:buFont typeface="Raleway Medium"/>
              <a:buNone/>
            </a:pPr>
            <a:r>
              <a:rPr lang="en" sz="1150" b="1" i="0" u="none" strike="noStrike" cap="none">
                <a:solidFill>
                  <a:srgbClr val="000000"/>
                </a:solidFill>
                <a:latin typeface="Raleway Medium"/>
                <a:ea typeface="Raleway Medium"/>
                <a:cs typeface="Raleway Medium"/>
                <a:sym typeface="Raleway Medium"/>
              </a:rPr>
              <a:t>Zigbee</a:t>
            </a:r>
            <a:endParaRPr sz="1150" b="0" i="0" u="none" strike="noStrike" cap="none">
              <a:solidFill>
                <a:schemeClr val="dk1"/>
              </a:solidFill>
              <a:latin typeface="Calibri"/>
              <a:ea typeface="Calibri"/>
              <a:cs typeface="Calibri"/>
              <a:sym typeface="Calibri"/>
            </a:endParaRPr>
          </a:p>
        </p:txBody>
      </p:sp>
      <p:sp>
        <p:nvSpPr>
          <p:cNvPr id="324" name="Google Shape;324;p20"/>
          <p:cNvSpPr/>
          <p:nvPr/>
        </p:nvSpPr>
        <p:spPr>
          <a:xfrm>
            <a:off x="2949550" y="2650778"/>
            <a:ext cx="3245048" cy="459432"/>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150"/>
              <a:buFont typeface="Raleway Medium"/>
              <a:buNone/>
            </a:pPr>
            <a:r>
              <a:rPr lang="en" sz="1150" b="0" i="0" u="none" strike="noStrike" cap="none">
                <a:solidFill>
                  <a:srgbClr val="000000"/>
                </a:solidFill>
                <a:latin typeface="Raleway Medium"/>
                <a:ea typeface="Raleway Medium"/>
                <a:cs typeface="Raleway Medium"/>
                <a:sym typeface="Raleway Medium"/>
              </a:rPr>
              <a:t>Low-power sensors: environmental monitoring, asset tracking</a:t>
            </a:r>
            <a:endParaRPr sz="1150" b="0" i="0" u="none" strike="noStrike" cap="none">
              <a:solidFill>
                <a:schemeClr val="dk1"/>
              </a:solidFill>
              <a:latin typeface="Calibri"/>
              <a:ea typeface="Calibri"/>
              <a:cs typeface="Calibri"/>
              <a:sym typeface="Calibri"/>
            </a:endParaRPr>
          </a:p>
        </p:txBody>
      </p:sp>
      <p:sp>
        <p:nvSpPr>
          <p:cNvPr id="325" name="Google Shape;325;p20"/>
          <p:cNvSpPr/>
          <p:nvPr/>
        </p:nvSpPr>
        <p:spPr>
          <a:xfrm>
            <a:off x="6493446" y="2650778"/>
            <a:ext cx="2415927" cy="229716"/>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150"/>
              <a:buFont typeface="Raleway Medium"/>
              <a:buNone/>
            </a:pPr>
            <a:r>
              <a:rPr lang="en" sz="1150" b="0" i="0" u="none" strike="noStrike" cap="none">
                <a:solidFill>
                  <a:srgbClr val="000000"/>
                </a:solidFill>
                <a:latin typeface="Raleway Medium"/>
                <a:ea typeface="Raleway Medium"/>
                <a:cs typeface="Raleway Medium"/>
                <a:sym typeface="Raleway Medium"/>
              </a:rPr>
              <a:t>Low data rate</a:t>
            </a:r>
            <a:endParaRPr sz="1150" b="0" i="0" u="none" strike="noStrike" cap="none">
              <a:solidFill>
                <a:schemeClr val="dk1"/>
              </a:solidFill>
              <a:latin typeface="Calibri"/>
              <a:ea typeface="Calibri"/>
              <a:cs typeface="Calibri"/>
              <a:sym typeface="Calibri"/>
            </a:endParaRPr>
          </a:p>
        </p:txBody>
      </p:sp>
      <p:sp>
        <p:nvSpPr>
          <p:cNvPr id="326" name="Google Shape;326;p20"/>
          <p:cNvSpPr/>
          <p:nvPr/>
        </p:nvSpPr>
        <p:spPr>
          <a:xfrm>
            <a:off x="691976" y="3292673"/>
            <a:ext cx="2415927" cy="229716"/>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150"/>
              <a:buFont typeface="Raleway Medium"/>
              <a:buNone/>
            </a:pPr>
            <a:r>
              <a:rPr lang="en" sz="1150" b="1" i="0" u="none" strike="noStrike" cap="none">
                <a:solidFill>
                  <a:srgbClr val="000000"/>
                </a:solidFill>
                <a:latin typeface="Raleway Medium"/>
                <a:ea typeface="Raleway Medium"/>
                <a:cs typeface="Raleway Medium"/>
                <a:sym typeface="Raleway Medium"/>
              </a:rPr>
              <a:t>5G NR</a:t>
            </a:r>
            <a:endParaRPr sz="1150" b="0" i="0" u="none" strike="noStrike" cap="none">
              <a:solidFill>
                <a:schemeClr val="dk1"/>
              </a:solidFill>
              <a:latin typeface="Calibri"/>
              <a:ea typeface="Calibri"/>
              <a:cs typeface="Calibri"/>
              <a:sym typeface="Calibri"/>
            </a:endParaRPr>
          </a:p>
        </p:txBody>
      </p:sp>
      <p:sp>
        <p:nvSpPr>
          <p:cNvPr id="327" name="Google Shape;327;p20"/>
          <p:cNvSpPr/>
          <p:nvPr/>
        </p:nvSpPr>
        <p:spPr>
          <a:xfrm>
            <a:off x="2949550" y="3292673"/>
            <a:ext cx="3245048" cy="459432"/>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150"/>
              <a:buFont typeface="Raleway Medium"/>
              <a:buNone/>
            </a:pPr>
            <a:r>
              <a:rPr lang="en" sz="1150" b="0" i="0" u="none" strike="noStrike" cap="none">
                <a:solidFill>
                  <a:srgbClr val="000000"/>
                </a:solidFill>
                <a:latin typeface="Raleway Medium"/>
                <a:ea typeface="Raleway Medium"/>
                <a:cs typeface="Raleway Medium"/>
                <a:sym typeface="Raleway Medium"/>
              </a:rPr>
              <a:t>Real-time control via URLLC in private campus networks</a:t>
            </a:r>
            <a:endParaRPr sz="1150" b="0" i="0" u="none" strike="noStrike" cap="none">
              <a:solidFill>
                <a:schemeClr val="dk1"/>
              </a:solidFill>
              <a:latin typeface="Calibri"/>
              <a:ea typeface="Calibri"/>
              <a:cs typeface="Calibri"/>
              <a:sym typeface="Calibri"/>
            </a:endParaRPr>
          </a:p>
        </p:txBody>
      </p:sp>
      <p:sp>
        <p:nvSpPr>
          <p:cNvPr id="328" name="Google Shape;328;p20"/>
          <p:cNvSpPr/>
          <p:nvPr/>
        </p:nvSpPr>
        <p:spPr>
          <a:xfrm>
            <a:off x="6493446" y="3292673"/>
            <a:ext cx="2415927" cy="229716"/>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150"/>
              <a:buFont typeface="Raleway Medium"/>
              <a:buNone/>
            </a:pPr>
            <a:r>
              <a:rPr lang="en" sz="1150" b="0" i="0" u="none" strike="noStrike" cap="none">
                <a:solidFill>
                  <a:srgbClr val="000000"/>
                </a:solidFill>
                <a:latin typeface="Raleway Medium"/>
                <a:ea typeface="Raleway Medium"/>
                <a:cs typeface="Raleway Medium"/>
                <a:sym typeface="Raleway Medium"/>
              </a:rPr>
              <a:t>Higher cost &amp; complexity</a:t>
            </a:r>
            <a:endParaRPr sz="1150" b="0" i="0" u="none" strike="noStrike" cap="none">
              <a:solidFill>
                <a:schemeClr val="dk1"/>
              </a:solidFill>
              <a:latin typeface="Calibri"/>
              <a:ea typeface="Calibri"/>
              <a:cs typeface="Calibri"/>
              <a:sym typeface="Calibri"/>
            </a:endParaRPr>
          </a:p>
        </p:txBody>
      </p:sp>
      <p:sp>
        <p:nvSpPr>
          <p:cNvPr id="329" name="Google Shape;329;p20"/>
          <p:cNvSpPr/>
          <p:nvPr/>
        </p:nvSpPr>
        <p:spPr>
          <a:xfrm>
            <a:off x="540023" y="4003402"/>
            <a:ext cx="8063954" cy="555501"/>
          </a:xfrm>
          <a:prstGeom prst="roundRect">
            <a:avLst>
              <a:gd name="adj" fmla="val 39713"/>
            </a:avLst>
          </a:pr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30" name="Google Shape;330;p20" descr="preencoded.png"/>
          <p:cNvPicPr preferRelativeResize="0"/>
          <p:nvPr/>
        </p:nvPicPr>
        <p:blipFill rotWithShape="1">
          <a:blip r:embed="rId3">
            <a:alphaModFix/>
          </a:blip>
          <a:srcRect/>
          <a:stretch/>
        </p:blipFill>
        <p:spPr>
          <a:xfrm>
            <a:off x="687065" y="4210943"/>
            <a:ext cx="183803" cy="147042"/>
          </a:xfrm>
          <a:prstGeom prst="rect">
            <a:avLst/>
          </a:prstGeom>
          <a:noFill/>
          <a:ln>
            <a:noFill/>
          </a:ln>
        </p:spPr>
      </p:pic>
      <p:sp>
        <p:nvSpPr>
          <p:cNvPr id="331" name="Google Shape;331;p20"/>
          <p:cNvSpPr/>
          <p:nvPr/>
        </p:nvSpPr>
        <p:spPr>
          <a:xfrm>
            <a:off x="1017910" y="4166295"/>
            <a:ext cx="7896225" cy="229716"/>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150"/>
              <a:buFont typeface="Raleway Medium"/>
              <a:buNone/>
            </a:pPr>
            <a:r>
              <a:rPr lang="en" sz="1150" b="1" i="0" u="none" strike="noStrike" cap="none">
                <a:solidFill>
                  <a:srgbClr val="000000"/>
                </a:solidFill>
                <a:latin typeface="Raleway Medium"/>
                <a:ea typeface="Raleway Medium"/>
                <a:cs typeface="Raleway Medium"/>
                <a:sym typeface="Raleway Medium"/>
              </a:rPr>
              <a:t>Key Takeaway:</a:t>
            </a:r>
            <a:r>
              <a:rPr lang="en" sz="1150" b="0" i="0" u="none" strike="noStrike" cap="none">
                <a:solidFill>
                  <a:srgbClr val="000000"/>
                </a:solidFill>
                <a:latin typeface="Raleway Medium"/>
                <a:ea typeface="Raleway Medium"/>
                <a:cs typeface="Raleway Medium"/>
                <a:sym typeface="Raleway Medium"/>
              </a:rPr>
              <a:t> The optimal solution combines all three — matching each standard to its ideal use case.</a:t>
            </a:r>
            <a:endParaRPr sz="1150" b="0" i="0" u="none" strike="noStrike" cap="none">
              <a:solidFill>
                <a:schemeClr val="dk1"/>
              </a:solidFill>
              <a:latin typeface="Calibri"/>
              <a:ea typeface="Calibri"/>
              <a:cs typeface="Calibri"/>
              <a:sym typeface="Calibri"/>
            </a:endParaRPr>
          </a:p>
        </p:txBody>
      </p:sp>
      <p:pic>
        <p:nvPicPr>
          <p:cNvPr id="332" name="Google Shape;332;p20"/>
          <p:cNvPicPr preferRelativeResize="0"/>
          <p:nvPr/>
        </p:nvPicPr>
        <p:blipFill rotWithShape="1">
          <a:blip r:embed="rId4">
            <a:alphaModFix/>
          </a:blip>
          <a:srcRect/>
          <a:stretch/>
        </p:blipFill>
        <p:spPr>
          <a:xfrm>
            <a:off x="6966825" y="4734975"/>
            <a:ext cx="2177175" cy="40852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21"/>
          <p:cNvSpPr/>
          <p:nvPr/>
        </p:nvSpPr>
        <p:spPr>
          <a:xfrm>
            <a:off x="875109" y="452884"/>
            <a:ext cx="7672908" cy="334863"/>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B2DBA"/>
              </a:buClr>
              <a:buSzPts val="2100"/>
              <a:buFont typeface="Comfortaa"/>
              <a:buNone/>
            </a:pPr>
            <a:r>
              <a:rPr lang="en" sz="2100" b="1" i="0" u="none" strike="noStrike" cap="none">
                <a:solidFill>
                  <a:srgbClr val="1B2DBA"/>
                </a:solidFill>
                <a:latin typeface="Comfortaa"/>
                <a:ea typeface="Comfortaa"/>
                <a:cs typeface="Comfortaa"/>
                <a:sym typeface="Comfortaa"/>
              </a:rPr>
              <a:t>Future Direction: Toward Reliable Wireless Factories</a:t>
            </a:r>
            <a:endParaRPr sz="2100" b="0" i="0" u="none" strike="noStrike" cap="none">
              <a:solidFill>
                <a:schemeClr val="dk1"/>
              </a:solidFill>
              <a:latin typeface="Calibri"/>
              <a:ea typeface="Calibri"/>
              <a:cs typeface="Calibri"/>
              <a:sym typeface="Calibri"/>
            </a:endParaRPr>
          </a:p>
        </p:txBody>
      </p:sp>
      <p:pic>
        <p:nvPicPr>
          <p:cNvPr id="339" name="Google Shape;339;p21" descr="preencoded.png"/>
          <p:cNvPicPr preferRelativeResize="0"/>
          <p:nvPr/>
        </p:nvPicPr>
        <p:blipFill rotWithShape="1">
          <a:blip r:embed="rId3">
            <a:alphaModFix/>
          </a:blip>
          <a:srcRect/>
          <a:stretch/>
        </p:blipFill>
        <p:spPr>
          <a:xfrm>
            <a:off x="875109" y="1023262"/>
            <a:ext cx="3549848" cy="3549848"/>
          </a:xfrm>
          <a:prstGeom prst="rect">
            <a:avLst/>
          </a:prstGeom>
          <a:noFill/>
          <a:ln>
            <a:noFill/>
          </a:ln>
        </p:spPr>
      </p:pic>
      <p:sp>
        <p:nvSpPr>
          <p:cNvPr id="340" name="Google Shape;340;p21"/>
          <p:cNvSpPr/>
          <p:nvPr/>
        </p:nvSpPr>
        <p:spPr>
          <a:xfrm>
            <a:off x="4723805" y="1990874"/>
            <a:ext cx="2140669" cy="167432"/>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B2DBA"/>
              </a:buClr>
              <a:buSzPts val="1050"/>
              <a:buFont typeface="Comfortaa"/>
              <a:buNone/>
            </a:pPr>
            <a:r>
              <a:rPr lang="en" sz="1050" b="1" i="0" u="none" strike="noStrike" cap="none">
                <a:solidFill>
                  <a:srgbClr val="1B2DBA"/>
                </a:solidFill>
                <a:latin typeface="Comfortaa"/>
                <a:ea typeface="Comfortaa"/>
                <a:cs typeface="Comfortaa"/>
                <a:sym typeface="Comfortaa"/>
              </a:rPr>
              <a:t>Challenges Still to Solve</a:t>
            </a:r>
            <a:endParaRPr sz="1050" b="0" i="0" u="none" strike="noStrike" cap="none">
              <a:solidFill>
                <a:schemeClr val="dk1"/>
              </a:solidFill>
              <a:latin typeface="Calibri"/>
              <a:ea typeface="Calibri"/>
              <a:cs typeface="Calibri"/>
              <a:sym typeface="Calibri"/>
            </a:endParaRPr>
          </a:p>
        </p:txBody>
      </p:sp>
      <p:sp>
        <p:nvSpPr>
          <p:cNvPr id="341" name="Google Shape;341;p21"/>
          <p:cNvSpPr/>
          <p:nvPr/>
        </p:nvSpPr>
        <p:spPr>
          <a:xfrm>
            <a:off x="4723805" y="2252439"/>
            <a:ext cx="3549848" cy="785664"/>
          </a:xfrm>
          <a:prstGeom prst="rect">
            <a:avLst/>
          </a:prstGeom>
          <a:noFill/>
          <a:ln>
            <a:noFill/>
          </a:ln>
        </p:spPr>
        <p:txBody>
          <a:bodyPr spcFirstLastPara="1" wrap="square" lIns="0" tIns="0" rIns="0" bIns="0" anchor="t" anchorCtr="0">
            <a:noAutofit/>
          </a:bodyPr>
          <a:lstStyle/>
          <a:p>
            <a:pPr marL="342900" marR="0" lvl="0" indent="-342900" algn="l" rtl="0">
              <a:lnSpc>
                <a:spcPct val="119000"/>
              </a:lnSpc>
              <a:spcBef>
                <a:spcPts val="0"/>
              </a:spcBef>
              <a:spcAft>
                <a:spcPts val="0"/>
              </a:spcAft>
              <a:buClr>
                <a:srgbClr val="000000"/>
              </a:buClr>
              <a:buSzPts val="900"/>
              <a:buFont typeface="Raleway Medium"/>
              <a:buChar char="•"/>
            </a:pPr>
            <a:r>
              <a:rPr lang="en" sz="900" b="0" i="0" u="none" strike="noStrike" cap="none">
                <a:solidFill>
                  <a:srgbClr val="000000"/>
                </a:solidFill>
                <a:latin typeface="Raleway Medium"/>
                <a:ea typeface="Raleway Medium"/>
                <a:cs typeface="Raleway Medium"/>
                <a:sym typeface="Raleway Medium"/>
              </a:rPr>
              <a:t>EMI and metal reflections</a:t>
            </a:r>
            <a:endParaRPr sz="900" b="0" i="0" u="none" strike="noStrike" cap="none">
              <a:solidFill>
                <a:schemeClr val="dk1"/>
              </a:solidFill>
              <a:latin typeface="Calibri"/>
              <a:ea typeface="Calibri"/>
              <a:cs typeface="Calibri"/>
              <a:sym typeface="Calibri"/>
            </a:endParaRPr>
          </a:p>
          <a:p>
            <a:pPr marL="342900" marR="0" lvl="0" indent="-342900" algn="l" rtl="0">
              <a:lnSpc>
                <a:spcPct val="119000"/>
              </a:lnSpc>
              <a:spcBef>
                <a:spcPts val="0"/>
              </a:spcBef>
              <a:spcAft>
                <a:spcPts val="0"/>
              </a:spcAft>
              <a:buClr>
                <a:srgbClr val="000000"/>
              </a:buClr>
              <a:buSzPts val="900"/>
              <a:buFont typeface="Raleway Medium"/>
              <a:buChar char="•"/>
            </a:pPr>
            <a:r>
              <a:rPr lang="en" sz="900" b="0" i="0" u="none" strike="noStrike" cap="none">
                <a:solidFill>
                  <a:srgbClr val="000000"/>
                </a:solidFill>
                <a:latin typeface="Raleway Medium"/>
                <a:ea typeface="Raleway Medium"/>
                <a:cs typeface="Raleway Medium"/>
                <a:sym typeface="Raleway Medium"/>
              </a:rPr>
              <a:t>2.4 GHz band congestion</a:t>
            </a:r>
            <a:endParaRPr sz="900" b="0" i="0" u="none" strike="noStrike" cap="none">
              <a:solidFill>
                <a:schemeClr val="dk1"/>
              </a:solidFill>
              <a:latin typeface="Calibri"/>
              <a:ea typeface="Calibri"/>
              <a:cs typeface="Calibri"/>
              <a:sym typeface="Calibri"/>
            </a:endParaRPr>
          </a:p>
          <a:p>
            <a:pPr marL="342900" marR="0" lvl="0" indent="-342900" algn="l" rtl="0">
              <a:lnSpc>
                <a:spcPct val="119000"/>
              </a:lnSpc>
              <a:spcBef>
                <a:spcPts val="0"/>
              </a:spcBef>
              <a:spcAft>
                <a:spcPts val="0"/>
              </a:spcAft>
              <a:buClr>
                <a:srgbClr val="000000"/>
              </a:buClr>
              <a:buSzPts val="900"/>
              <a:buFont typeface="Raleway Medium"/>
              <a:buChar char="•"/>
            </a:pPr>
            <a:r>
              <a:rPr lang="en" sz="900" b="0" i="0" u="none" strike="noStrike" cap="none">
                <a:solidFill>
                  <a:srgbClr val="000000"/>
                </a:solidFill>
                <a:latin typeface="Raleway Medium"/>
                <a:ea typeface="Raleway Medium"/>
                <a:cs typeface="Raleway Medium"/>
                <a:sym typeface="Raleway Medium"/>
              </a:rPr>
              <a:t>Cybersecurity risks</a:t>
            </a:r>
            <a:endParaRPr sz="900" b="0" i="0" u="none" strike="noStrike" cap="none">
              <a:solidFill>
                <a:schemeClr val="dk1"/>
              </a:solidFill>
              <a:latin typeface="Calibri"/>
              <a:ea typeface="Calibri"/>
              <a:cs typeface="Calibri"/>
              <a:sym typeface="Calibri"/>
            </a:endParaRPr>
          </a:p>
          <a:p>
            <a:pPr marL="342900" marR="0" lvl="0" indent="-342900" algn="l" rtl="0">
              <a:lnSpc>
                <a:spcPct val="119000"/>
              </a:lnSpc>
              <a:spcBef>
                <a:spcPts val="0"/>
              </a:spcBef>
              <a:spcAft>
                <a:spcPts val="0"/>
              </a:spcAft>
              <a:buClr>
                <a:srgbClr val="000000"/>
              </a:buClr>
              <a:buSzPts val="900"/>
              <a:buFont typeface="Raleway Medium"/>
              <a:buChar char="•"/>
            </a:pPr>
            <a:r>
              <a:rPr lang="en" sz="900" b="0" i="0" u="none" strike="noStrike" cap="none">
                <a:solidFill>
                  <a:srgbClr val="000000"/>
                </a:solidFill>
                <a:latin typeface="Raleway Medium"/>
                <a:ea typeface="Raleway Medium"/>
                <a:cs typeface="Raleway Medium"/>
                <a:sym typeface="Raleway Medium"/>
              </a:rPr>
              <a:t>Deterministic timing gaps</a:t>
            </a:r>
            <a:endParaRPr sz="900" b="0" i="0" u="none" strike="noStrike" cap="none">
              <a:solidFill>
                <a:schemeClr val="dk1"/>
              </a:solidFill>
              <a:latin typeface="Calibri"/>
              <a:ea typeface="Calibri"/>
              <a:cs typeface="Calibri"/>
              <a:sym typeface="Calibri"/>
            </a:endParaRPr>
          </a:p>
        </p:txBody>
      </p:sp>
      <p:sp>
        <p:nvSpPr>
          <p:cNvPr id="342" name="Google Shape;342;p21"/>
          <p:cNvSpPr/>
          <p:nvPr/>
        </p:nvSpPr>
        <p:spPr>
          <a:xfrm>
            <a:off x="4723805" y="3122861"/>
            <a:ext cx="3549848" cy="515243"/>
          </a:xfrm>
          <a:prstGeom prst="rect">
            <a:avLst/>
          </a:prstGeom>
          <a:noFill/>
          <a:ln>
            <a:noFill/>
          </a:ln>
        </p:spPr>
        <p:txBody>
          <a:bodyPr spcFirstLastPara="1" wrap="square" lIns="0" tIns="0" rIns="0" bIns="0" anchor="t" anchorCtr="0">
            <a:noAutofit/>
          </a:bodyPr>
          <a:lstStyle/>
          <a:p>
            <a:pPr marL="0" marR="0" lvl="0" indent="0" algn="l" rtl="0">
              <a:lnSpc>
                <a:spcPct val="119000"/>
              </a:lnSpc>
              <a:spcBef>
                <a:spcPts val="0"/>
              </a:spcBef>
              <a:spcAft>
                <a:spcPts val="0"/>
              </a:spcAft>
              <a:buClr>
                <a:srgbClr val="000000"/>
              </a:buClr>
              <a:buSzPts val="900"/>
              <a:buFont typeface="Raleway Medium"/>
              <a:buNone/>
            </a:pPr>
            <a:r>
              <a:rPr lang="en" sz="900" b="0" i="0" u="none" strike="noStrike" cap="none">
                <a:solidFill>
                  <a:srgbClr val="000000"/>
                </a:solidFill>
                <a:latin typeface="Raleway Medium"/>
                <a:ea typeface="Raleway Medium"/>
                <a:cs typeface="Raleway Medium"/>
                <a:sym typeface="Raleway Medium"/>
              </a:rPr>
              <a:t>Wi-Fi 7, private 5G, and Wireless TSN are closing the gap with wired systems. </a:t>
            </a:r>
            <a:r>
              <a:rPr lang="en" sz="900" b="1" i="0" u="none" strike="noStrike" cap="none">
                <a:solidFill>
                  <a:srgbClr val="000000"/>
                </a:solidFill>
                <a:latin typeface="Raleway Medium"/>
                <a:ea typeface="Raleway Medium"/>
                <a:cs typeface="Raleway Medium"/>
                <a:sym typeface="Raleway Medium"/>
              </a:rPr>
              <a:t>Wireless won't replace every cable — but it will become central to flexible, mobile Industry 4.0 factories.</a:t>
            </a:r>
            <a:endParaRPr sz="900" b="0" i="0" u="none" strike="noStrike" cap="none">
              <a:solidFill>
                <a:schemeClr val="dk1"/>
              </a:solidFill>
              <a:latin typeface="Calibri"/>
              <a:ea typeface="Calibri"/>
              <a:cs typeface="Calibri"/>
              <a:sym typeface="Calibri"/>
            </a:endParaRPr>
          </a:p>
        </p:txBody>
      </p:sp>
      <p:pic>
        <p:nvPicPr>
          <p:cNvPr id="343" name="Google Shape;343;p21"/>
          <p:cNvPicPr preferRelativeResize="0"/>
          <p:nvPr/>
        </p:nvPicPr>
        <p:blipFill rotWithShape="1">
          <a:blip r:embed="rId4">
            <a:alphaModFix/>
          </a:blip>
          <a:srcRect/>
          <a:stretch/>
        </p:blipFill>
        <p:spPr>
          <a:xfrm>
            <a:off x="6966825" y="4808625"/>
            <a:ext cx="2177175" cy="3348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1"/>
        <p:cNvGrpSpPr/>
        <p:nvPr/>
      </p:nvGrpSpPr>
      <p:grpSpPr>
        <a:xfrm>
          <a:off x="0" y="0"/>
          <a:ext cx="0" cy="0"/>
          <a:chOff x="0" y="0"/>
          <a:chExt cx="0" cy="0"/>
        </a:xfrm>
      </p:grpSpPr>
      <p:sp>
        <p:nvSpPr>
          <p:cNvPr id="103" name="Google Shape;103;p1"/>
          <p:cNvSpPr/>
          <p:nvPr/>
        </p:nvSpPr>
        <p:spPr>
          <a:xfrm>
            <a:off x="3969023" y="1168400"/>
            <a:ext cx="998860" cy="290066"/>
          </a:xfrm>
          <a:prstGeom prst="roundRect">
            <a:avLst>
              <a:gd name="adj" fmla="val 63836"/>
            </a:avLst>
          </a:prstGeom>
          <a:solidFill>
            <a:srgbClr val="E6E6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1"/>
          <p:cNvSpPr/>
          <p:nvPr/>
        </p:nvSpPr>
        <p:spPr>
          <a:xfrm>
            <a:off x="4061594" y="1219200"/>
            <a:ext cx="1270918" cy="197495"/>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n" sz="950" b="0" i="0" u="none" strike="noStrike" cap="none">
                <a:solidFill>
                  <a:srgbClr val="000000"/>
                </a:solidFill>
                <a:latin typeface="Raleway Medium"/>
                <a:ea typeface="Raleway Medium"/>
                <a:cs typeface="Raleway Medium"/>
                <a:sym typeface="Raleway Medium"/>
              </a:rPr>
              <a:t>DISCUSSION</a:t>
            </a:r>
          </a:p>
        </p:txBody>
      </p:sp>
      <p:sp>
        <p:nvSpPr>
          <p:cNvPr id="105" name="Google Shape;105;p1"/>
          <p:cNvSpPr/>
          <p:nvPr/>
        </p:nvSpPr>
        <p:spPr>
          <a:xfrm>
            <a:off x="3975100" y="1905000"/>
            <a:ext cx="4724400" cy="88900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None/>
            </a:pPr>
            <a:r>
              <a:rPr lang="en" sz="3600" b="1" i="0" u="none" strike="noStrike" cap="none">
                <a:solidFill>
                  <a:srgbClr val="1B2DBA"/>
                </a:solidFill>
                <a:latin typeface="Comfortaa"/>
                <a:ea typeface="Comfortaa"/>
                <a:cs typeface="Comfortaa"/>
                <a:sym typeface="Comfortaa"/>
              </a:rPr>
              <a:t>Thank You</a:t>
            </a:r>
          </a:p>
        </p:txBody>
      </p:sp>
      <p:sp>
        <p:nvSpPr>
          <p:cNvPr id="106" name="Google Shape;106;p1"/>
          <p:cNvSpPr/>
          <p:nvPr/>
        </p:nvSpPr>
        <p:spPr>
          <a:xfrm>
            <a:off x="3975100" y="2819400"/>
            <a:ext cx="4572000" cy="889000"/>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None/>
            </a:pPr>
            <a:r>
              <a:rPr lang="en" sz="1600" b="0" i="0" u="none" strike="noStrike" cap="none">
                <a:solidFill>
                  <a:srgbClr val="595959"/>
                </a:solidFill>
                <a:latin typeface="Raleway Medium"/>
                <a:ea typeface="Raleway Medium"/>
                <a:cs typeface="Raleway Medium"/>
                <a:sym typeface="Raleway Medium"/>
              </a:rPr>
              <a:t>Questions and discussion welcome</a:t>
            </a:r>
          </a:p>
        </p:txBody>
      </p:sp>
      <p:pic>
        <p:nvPicPr>
          <p:cNvPr id="107" name="Google Shape;107;p1"/>
          <p:cNvPicPr preferRelativeResize="0"/>
          <p:nvPr/>
        </p:nvPicPr>
        <p:blipFill rotWithShape="1">
          <a:blip r:embed="rId3">
            <a:alphaModFix/>
          </a:blip>
          <a:srcRect/>
          <a:stretch/>
        </p:blipFill>
        <p:spPr>
          <a:xfrm>
            <a:off x="6966825" y="4337447"/>
            <a:ext cx="2177174" cy="806053"/>
          </a:xfrm>
          <a:prstGeom prst="rect">
            <a:avLst/>
          </a:prstGeom>
          <a:noFill/>
          <a:ln>
            <a:noFill/>
          </a:ln>
        </p:spPr>
      </p:pic>
      <p:sp>
        <p:nvSpPr>
          <p:cNvPr id="900" name="Band Base"/>
          <p:cNvSpPr/>
          <p:nvPr/>
        </p:nvSpPr>
        <p:spPr>
          <a:xfrm>
            <a:off x="0" y="0"/>
            <a:ext cx="3429000" cy="5143500"/>
          </a:xfrm>
          <a:prstGeom prst="rect">
            <a:avLst/>
          </a:prstGeom>
          <a:gradFill>
            <a:gsLst>
              <a:gs pos="0">
                <a:srgbClr val="2A3BCB"/>
              </a:gs>
              <a:gs pos="55000">
                <a:srgbClr val="1B2DBA"/>
              </a:gs>
              <a:gs pos="100000">
                <a:srgbClr val="0B1452"/>
              </a:gs>
            </a:gsLst>
            <a:lin ang="3600000" scaled="1"/>
          </a:gradFill>
          <a:ln>
            <a:noFill/>
          </a:ln>
        </p:spPr>
        <p:txBody>
          <a:bodyPr/>
          <a:lstStyle/>
          <a:p>
            <a:endParaRPr/>
          </a:p>
        </p:txBody>
      </p:sp>
      <p:sp>
        <p:nvSpPr>
          <p:cNvPr id="901" name="Ring"/>
          <p:cNvSpPr/>
          <p:nvPr/>
        </p:nvSpPr>
        <p:spPr>
          <a:xfrm>
            <a:off x="1270000" y="1778000"/>
            <a:ext cx="889000" cy="889000"/>
          </a:xfrm>
          <a:prstGeom prst="ellipse">
            <a:avLst/>
          </a:prstGeom>
          <a:noFill/>
          <a:ln w="19050">
            <a:solidFill>
              <a:srgbClr val="FFFFFF">
                <a:alpha val="30000"/>
              </a:srgbClr>
            </a:solidFill>
          </a:ln>
        </p:spPr>
        <p:txBody>
          <a:bodyPr/>
          <a:lstStyle/>
          <a:p>
            <a:endParaRPr/>
          </a:p>
        </p:txBody>
      </p:sp>
      <p:sp>
        <p:nvSpPr>
          <p:cNvPr id="902" name="Ring"/>
          <p:cNvSpPr/>
          <p:nvPr/>
        </p:nvSpPr>
        <p:spPr>
          <a:xfrm>
            <a:off x="927100" y="1435100"/>
            <a:ext cx="1574800" cy="1574800"/>
          </a:xfrm>
          <a:prstGeom prst="ellipse">
            <a:avLst/>
          </a:prstGeom>
          <a:noFill/>
          <a:ln w="19050">
            <a:solidFill>
              <a:srgbClr val="FFFFFF">
                <a:alpha val="22000"/>
              </a:srgbClr>
            </a:solidFill>
          </a:ln>
        </p:spPr>
        <p:txBody>
          <a:bodyPr/>
          <a:lstStyle/>
          <a:p>
            <a:endParaRPr/>
          </a:p>
        </p:txBody>
      </p:sp>
      <p:sp>
        <p:nvSpPr>
          <p:cNvPr id="903" name="Ring"/>
          <p:cNvSpPr/>
          <p:nvPr/>
        </p:nvSpPr>
        <p:spPr>
          <a:xfrm>
            <a:off x="571500" y="1079500"/>
            <a:ext cx="2286000" cy="2286000"/>
          </a:xfrm>
          <a:prstGeom prst="ellipse">
            <a:avLst/>
          </a:prstGeom>
          <a:noFill/>
          <a:ln w="19050">
            <a:solidFill>
              <a:srgbClr val="FFFFFF">
                <a:alpha val="15000"/>
              </a:srgbClr>
            </a:solidFill>
          </a:ln>
        </p:spPr>
        <p:txBody>
          <a:bodyPr/>
          <a:lstStyle/>
          <a:p>
            <a:endParaRPr/>
          </a:p>
        </p:txBody>
      </p:sp>
      <p:sp>
        <p:nvSpPr>
          <p:cNvPr id="904" name="Ring"/>
          <p:cNvSpPr/>
          <p:nvPr/>
        </p:nvSpPr>
        <p:spPr>
          <a:xfrm>
            <a:off x="190500" y="698500"/>
            <a:ext cx="3048000" cy="3048000"/>
          </a:xfrm>
          <a:prstGeom prst="ellipse">
            <a:avLst/>
          </a:prstGeom>
          <a:noFill/>
          <a:ln w="19050">
            <a:solidFill>
              <a:srgbClr val="FFFFFF">
                <a:alpha val="10000"/>
              </a:srgbClr>
            </a:solidFill>
          </a:ln>
        </p:spPr>
        <p:txBody>
          <a:bodyPr/>
          <a:lstStyle/>
          <a:p>
            <a:endParaRPr/>
          </a:p>
        </p:txBody>
      </p:sp>
      <p:sp>
        <p:nvSpPr>
          <p:cNvPr id="905" name="Node"/>
          <p:cNvSpPr/>
          <p:nvPr/>
        </p:nvSpPr>
        <p:spPr>
          <a:xfrm>
            <a:off x="1638300" y="2146300"/>
            <a:ext cx="152400" cy="152400"/>
          </a:xfrm>
          <a:prstGeom prst="ellipse">
            <a:avLst/>
          </a:prstGeom>
          <a:solidFill>
            <a:srgbClr val="FFFFFF">
              <a:alpha val="92000"/>
            </a:srgbClr>
          </a:solidFill>
          <a:ln>
            <a:noFill/>
          </a:ln>
        </p:spPr>
        <p:txBody>
          <a:bodyPr/>
          <a:lstStyle/>
          <a:p>
            <a:endParaRPr/>
          </a:p>
        </p:txBody>
      </p:sp>
      <p:sp>
        <p:nvSpPr>
          <p:cNvPr id="906" name="Dot"/>
          <p:cNvSpPr/>
          <p:nvPr/>
        </p:nvSpPr>
        <p:spPr>
          <a:xfrm>
            <a:off x="762000" y="3683000"/>
            <a:ext cx="101600" cy="101600"/>
          </a:xfrm>
          <a:prstGeom prst="ellipse">
            <a:avLst/>
          </a:prstGeom>
          <a:solidFill>
            <a:srgbClr val="FFFFFF">
              <a:alpha val="70000"/>
            </a:srgbClr>
          </a:solidFill>
          <a:ln>
            <a:noFill/>
          </a:ln>
        </p:spPr>
        <p:txBody>
          <a:bodyPr/>
          <a:lstStyle/>
          <a:p>
            <a:endParaRPr/>
          </a:p>
        </p:txBody>
      </p:sp>
      <p:sp>
        <p:nvSpPr>
          <p:cNvPr id="907" name="Dot"/>
          <p:cNvSpPr/>
          <p:nvPr/>
        </p:nvSpPr>
        <p:spPr>
          <a:xfrm>
            <a:off x="1778000" y="4191000"/>
            <a:ext cx="101600" cy="101600"/>
          </a:xfrm>
          <a:prstGeom prst="ellipse">
            <a:avLst/>
          </a:prstGeom>
          <a:solidFill>
            <a:srgbClr val="FFFFFF">
              <a:alpha val="70000"/>
            </a:srgbClr>
          </a:solidFill>
          <a:ln>
            <a:noFill/>
          </a:ln>
        </p:spPr>
        <p:txBody>
          <a:bodyPr/>
          <a:lstStyle/>
          <a:p>
            <a:endParaRPr/>
          </a:p>
        </p:txBody>
      </p:sp>
      <p:sp>
        <p:nvSpPr>
          <p:cNvPr id="908" name="Dot"/>
          <p:cNvSpPr/>
          <p:nvPr/>
        </p:nvSpPr>
        <p:spPr>
          <a:xfrm>
            <a:off x="2603500" y="4572000"/>
            <a:ext cx="101600" cy="101600"/>
          </a:xfrm>
          <a:prstGeom prst="ellipse">
            <a:avLst/>
          </a:prstGeom>
          <a:solidFill>
            <a:srgbClr val="FFFFFF">
              <a:alpha val="70000"/>
            </a:srgbClr>
          </a:solidFill>
          <a:ln>
            <a:noFill/>
          </a:ln>
        </p:spPr>
        <p:txBody>
          <a:bodyPr/>
          <a:lstStyle/>
          <a:p>
            <a:endParaRPr/>
          </a:p>
        </p:txBody>
      </p:sp>
      <p:cxnSp>
        <p:nvCxnSpPr>
          <p:cNvPr id="909" name="Link909"/>
          <p:cNvCxnSpPr/>
          <p:nvPr/>
        </p:nvCxnSpPr>
        <p:spPr>
          <a:xfrm>
            <a:off x="812800" y="3733800"/>
            <a:ext cx="1016000" cy="508000"/>
          </a:xfrm>
          <a:prstGeom prst="line">
            <a:avLst/>
          </a:prstGeom>
          <a:ln w="9525">
            <a:solidFill>
              <a:srgbClr val="FFFFFF">
                <a:alpha val="25000"/>
              </a:srgbClr>
            </a:solidFill>
          </a:ln>
        </p:spPr>
      </p:cxnSp>
      <p:cxnSp>
        <p:nvCxnSpPr>
          <p:cNvPr id="910" name="Link910"/>
          <p:cNvCxnSpPr/>
          <p:nvPr/>
        </p:nvCxnSpPr>
        <p:spPr>
          <a:xfrm>
            <a:off x="1828800" y="4241800"/>
            <a:ext cx="825500" cy="381000"/>
          </a:xfrm>
          <a:prstGeom prst="line">
            <a:avLst/>
          </a:prstGeom>
          <a:ln w="9525">
            <a:solidFill>
              <a:srgbClr val="FFFFFF">
                <a:alpha val="25000"/>
              </a:srgbClr>
            </a:solidFill>
          </a:ln>
        </p:spPr>
      </p:cxnSp>
    </p:spTree>
    <p:extLst>
      <p:ext uri="{BB962C8B-B14F-4D97-AF65-F5344CB8AC3E}">
        <p14:creationId xmlns:p14="http://schemas.microsoft.com/office/powerpoint/2010/main" val="3782094657"/>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56CE767-4A79-1546-A3AF-216F7DCDCF42}">
  <we:reference id="wa200010001" version="1.0.0.1" store="en-US" storeType="OMEX"/>
  <we:alternateReferences>
    <we:reference id="WA200010001" version="1.0.0.1" store="WA200010001" storeType="OMEX"/>
  </we:alternateReferences>
  <we:properties>
    <we:property name="claude.fileId" value="&quot;60cad7ae-2fc8-49b7-871c-05b8dcfce404&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607</TotalTime>
  <Words>1255</Words>
  <Application>Microsoft Macintosh PowerPoint</Application>
  <PresentationFormat>On-screen Show (16:9)</PresentationFormat>
  <Paragraphs>162</Paragraphs>
  <Slides>20</Slides>
  <Notes>20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20</vt:i4>
      </vt:variant>
    </vt:vector>
  </HeadingPairs>
  <TitlesOfParts>
    <vt:vector size="26" baseType="lpstr">
      <vt:lpstr>Calibri</vt:lpstr>
      <vt:lpstr>Comfortaa</vt:lpstr>
      <vt:lpstr>Raleway Medium</vt:lpstr>
      <vt:lpstr>Arial</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victor odaudu</cp:lastModifiedBy>
  <cp:revision>6</cp:revision>
  <dcterms:modified xsi:type="dcterms:W3CDTF">2026-06-16T18:17:44Z</dcterms:modified>
</cp:coreProperties>
</file>