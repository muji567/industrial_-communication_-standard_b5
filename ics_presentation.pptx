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2" r:id="rId2"/>
  </p:sldMasterIdLst>
  <p:notesMasterIdLst>
    <p:notesMasterId r:id="rId24"/>
  </p:notesMasterIdLst>
  <p:sldIdLst>
    <p:sldId id="281" r:id="rId3"/>
    <p:sldId id="256" r:id="rId4"/>
    <p:sldId id="257" r:id="rId5"/>
    <p:sldId id="259" r:id="rId6"/>
    <p:sldId id="260" r:id="rId7"/>
    <p:sldId id="261" r:id="rId8"/>
    <p:sldId id="262" r:id="rId9"/>
    <p:sldId id="263" r:id="rId10"/>
    <p:sldId id="264" r:id="rId11"/>
    <p:sldId id="265" r:id="rId12"/>
    <p:sldId id="266" r:id="rId13"/>
    <p:sldId id="267" r:id="rId14"/>
    <p:sldId id="268" r:id="rId15"/>
    <p:sldId id="276" r:id="rId16"/>
    <p:sldId id="272" r:id="rId17"/>
    <p:sldId id="273" r:id="rId18"/>
    <p:sldId id="274" r:id="rId19"/>
    <p:sldId id="275" r:id="rId20"/>
    <p:sldId id="270" r:id="rId21"/>
    <p:sldId id="271" r:id="rId22"/>
    <p:sldId id="282" r:id="rId23"/>
  </p:sldIdLst>
  <p:sldSz cx="9144000" cy="5143500" type="screen16x9"/>
  <p:notesSz cx="6858000" cy="9144000"/>
  <p:embeddedFontLst>
    <p:embeddedFont>
      <p:font typeface="Comfortaa" pitchFamily="2" charset="0"/>
      <p:regular r:id="rId25"/>
      <p:bold r:id="rId26"/>
    </p:embeddedFont>
    <p:embeddedFont>
      <p:font typeface="Raleway Medium" pitchFamily="2" charset="77"/>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4" roundtripDataSignature="AMtx7mgjTT7DyLVemM/LSUBMumVfjtNXz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C6BE81C-BBFD-4306-A97A-93FE6F449E8F}">
  <a:tblStyle styleId="{8C6BE81C-BBFD-4306-A97A-93FE6F449E8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5830F60D-B96F-4FD6-A1FE-4A902E60987B}"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347"/>
    <p:restoredTop sz="94637"/>
  </p:normalViewPr>
  <p:slideViewPr>
    <p:cSldViewPr snapToGrid="0">
      <p:cViewPr varScale="1">
        <p:scale>
          <a:sx n="166" d="100"/>
          <a:sy n="166" d="100"/>
        </p:scale>
        <p:origin x="192" y="71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2.fntdata"/><Relationship Id="rId3" Type="http://schemas.openxmlformats.org/officeDocument/2006/relationships/slide" Target="slides/slide1.xml"/><Relationship Id="rId21" Type="http://schemas.openxmlformats.org/officeDocument/2006/relationships/slide" Target="slides/slide19.xml"/><Relationship Id="rId34"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1.fnt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4.fntdata"/><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2: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0" name="Google Shape;110;p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11" name="Google Shape;111;p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4" name="Google Shape;244;p1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2" name="Google Shape;25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8" name="Google Shape;268;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5" name="Google Shape;285;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5" name="Google Shape;34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28600" algn="l" rtl="0">
              <a:lnSpc>
                <a:spcPct val="100000"/>
              </a:lnSpc>
              <a:spcBef>
                <a:spcPts val="0"/>
              </a:spcBef>
              <a:spcAft>
                <a:spcPts val="0"/>
              </a:spcAft>
              <a:buClr>
                <a:srgbClr val="000000"/>
              </a:buClr>
              <a:buSzPts val="11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p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4" name="Google Shape;354;p5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5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5" name="Google Shape;365;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20: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1" name="Google Shape;311;p20: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12" name="Google Shape;312;p20: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5" name="Google Shape;335;p2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36" name="Google Shape;336;p2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0" name="Google Shape;100;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lide master 1">
  <p:cSld name="Slide master 1">
    <p:spTree>
      <p:nvGrpSpPr>
        <p:cNvPr id="1"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
        <p:cNvGrpSpPr/>
        <p:nvPr/>
      </p:nvGrpSpPr>
      <p:grpSpPr>
        <a:xfrm>
          <a:off x="0" y="0"/>
          <a:ext cx="0" cy="0"/>
          <a:chOff x="0" y="0"/>
          <a:chExt cx="0" cy="0"/>
        </a:xfrm>
      </p:grpSpPr>
      <p:sp>
        <p:nvSpPr>
          <p:cNvPr id="11" name="Google Shape;11;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2"/>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9" name="Google Shape;19;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2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3" name="Google Shape;23;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6" name="Google Shape;26;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7" name="Google Shape;27;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6"/>
        <p:cNvGrpSpPr/>
        <p:nvPr/>
      </p:nvGrpSpPr>
      <p:grpSpPr>
        <a:xfrm>
          <a:off x="0" y="0"/>
          <a:ext cx="0" cy="0"/>
          <a:chOff x="0" y="0"/>
          <a:chExt cx="0" cy="0"/>
        </a:xfrm>
      </p:grpSpPr>
      <p:sp>
        <p:nvSpPr>
          <p:cNvPr id="57" name="Google Shape;57;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8" name="Google Shape;58;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9" name="Google Shape;59;p3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0"/>
        <p:cNvGrpSpPr/>
        <p:nvPr/>
      </p:nvGrpSpPr>
      <p:grpSpPr>
        <a:xfrm>
          <a:off x="0" y="0"/>
          <a:ext cx="0" cy="0"/>
          <a:chOff x="0" y="0"/>
          <a:chExt cx="0" cy="0"/>
        </a:xfrm>
      </p:grpSpPr>
      <p:sp>
        <p:nvSpPr>
          <p:cNvPr id="61" name="Google Shape;61;p39"/>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2" name="Google Shape;62;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3"/>
        <p:cNvGrpSpPr/>
        <p:nvPr/>
      </p:nvGrpSpPr>
      <p:grpSpPr>
        <a:xfrm>
          <a:off x="0" y="0"/>
          <a:ext cx="0" cy="0"/>
          <a:chOff x="0" y="0"/>
          <a:chExt cx="0" cy="0"/>
        </a:xfrm>
      </p:grpSpPr>
      <p:sp>
        <p:nvSpPr>
          <p:cNvPr id="64" name="Google Shape;64;p4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5" name="Google Shape;65;p4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6" name="Google Shape;66;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7"/>
        <p:cNvGrpSpPr/>
        <p:nvPr/>
      </p:nvGrpSpPr>
      <p:grpSpPr>
        <a:xfrm>
          <a:off x="0" y="0"/>
          <a:ext cx="0" cy="0"/>
          <a:chOff x="0" y="0"/>
          <a:chExt cx="0" cy="0"/>
        </a:xfrm>
      </p:grpSpPr>
      <p:sp>
        <p:nvSpPr>
          <p:cNvPr id="68" name="Google Shape;68;p4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9" name="Google Shape;69;p4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0" name="Google Shape;70;p4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1" name="Google Shape;71;p4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2"/>
        <p:cNvGrpSpPr/>
        <p:nvPr/>
      </p:nvGrpSpPr>
      <p:grpSpPr>
        <a:xfrm>
          <a:off x="0" y="0"/>
          <a:ext cx="0" cy="0"/>
          <a:chOff x="0" y="0"/>
          <a:chExt cx="0" cy="0"/>
        </a:xfrm>
      </p:grpSpPr>
      <p:sp>
        <p:nvSpPr>
          <p:cNvPr id="73" name="Google Shape;73;p4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4" name="Google Shape;74;p4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5"/>
        <p:cNvGrpSpPr/>
        <p:nvPr/>
      </p:nvGrpSpPr>
      <p:grpSpPr>
        <a:xfrm>
          <a:off x="0" y="0"/>
          <a:ext cx="0" cy="0"/>
          <a:chOff x="0" y="0"/>
          <a:chExt cx="0" cy="0"/>
        </a:xfrm>
      </p:grpSpPr>
      <p:sp>
        <p:nvSpPr>
          <p:cNvPr id="76" name="Google Shape;76;p4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7" name="Google Shape;77;p4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8" name="Google Shape;78;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9"/>
        <p:cNvGrpSpPr/>
        <p:nvPr/>
      </p:nvGrpSpPr>
      <p:grpSpPr>
        <a:xfrm>
          <a:off x="0" y="0"/>
          <a:ext cx="0" cy="0"/>
          <a:chOff x="0" y="0"/>
          <a:chExt cx="0" cy="0"/>
        </a:xfrm>
      </p:grpSpPr>
      <p:sp>
        <p:nvSpPr>
          <p:cNvPr id="80" name="Google Shape;80;p4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1" name="Google Shape;81;p4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2"/>
        <p:cNvGrpSpPr/>
        <p:nvPr/>
      </p:nvGrpSpPr>
      <p:grpSpPr>
        <a:xfrm>
          <a:off x="0" y="0"/>
          <a:ext cx="0" cy="0"/>
          <a:chOff x="0" y="0"/>
          <a:chExt cx="0" cy="0"/>
        </a:xfrm>
      </p:grpSpPr>
      <p:sp>
        <p:nvSpPr>
          <p:cNvPr id="83" name="Google Shape;83;p4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4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5" name="Google Shape;85;p4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6" name="Google Shape;86;p4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7" name="Google Shape;87;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8"/>
        <p:cNvGrpSpPr/>
        <p:nvPr/>
      </p:nvGrpSpPr>
      <p:grpSpPr>
        <a:xfrm>
          <a:off x="0" y="0"/>
          <a:ext cx="0" cy="0"/>
          <a:chOff x="0" y="0"/>
          <a:chExt cx="0" cy="0"/>
        </a:xfrm>
      </p:grpSpPr>
      <p:sp>
        <p:nvSpPr>
          <p:cNvPr id="89" name="Google Shape;89;p4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0" name="Google Shape;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1"/>
        <p:cNvGrpSpPr/>
        <p:nvPr/>
      </p:nvGrpSpPr>
      <p:grpSpPr>
        <a:xfrm>
          <a:off x="0" y="0"/>
          <a:ext cx="0" cy="0"/>
          <a:chOff x="0" y="0"/>
          <a:chExt cx="0" cy="0"/>
        </a:xfrm>
      </p:grpSpPr>
      <p:sp>
        <p:nvSpPr>
          <p:cNvPr id="92" name="Google Shape;92;p4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3" name="Google Shape;93;p4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4" name="Google Shape;94;p4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5"/>
        <p:cNvGrpSpPr/>
        <p:nvPr/>
      </p:nvGrpSpPr>
      <p:grpSpPr>
        <a:xfrm>
          <a:off x="0" y="0"/>
          <a:ext cx="0" cy="0"/>
          <a:chOff x="0" y="0"/>
          <a:chExt cx="0" cy="0"/>
        </a:xfrm>
      </p:grpSpPr>
      <p:sp>
        <p:nvSpPr>
          <p:cNvPr id="96" name="Google Shape;96;p4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2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2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2"/>
        <p:cNvGrpSpPr/>
        <p:nvPr/>
      </p:nvGrpSpPr>
      <p:grpSpPr>
        <a:xfrm>
          <a:off x="0" y="0"/>
          <a:ext cx="0" cy="0"/>
          <a:chOff x="0" y="0"/>
          <a:chExt cx="0" cy="0"/>
        </a:xfrm>
      </p:grpSpPr>
      <p:sp>
        <p:nvSpPr>
          <p:cNvPr id="53" name="Google Shape;53;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4" name="Google Shape;54;p3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5" name="Google Shape;55;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jp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5" name="Google Shape;105;p1"/>
          <p:cNvSpPr/>
          <p:nvPr/>
        </p:nvSpPr>
        <p:spPr>
          <a:xfrm>
            <a:off x="3975100" y="1524000"/>
            <a:ext cx="4724400" cy="9906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None/>
            </a:pPr>
            <a:r>
              <a:rPr lang="en" sz="2700" b="1" i="0" u="none" strike="noStrike" cap="none">
                <a:solidFill>
                  <a:srgbClr val="1B2DBA"/>
                </a:solidFill>
                <a:latin typeface="Comfortaa"/>
                <a:ea typeface="Comfortaa"/>
                <a:cs typeface="Comfortaa"/>
                <a:sym typeface="Comfortaa"/>
              </a:rPr>
              <a:t>Wireless Communication Standards in Industry</a:t>
            </a:r>
          </a:p>
        </p:txBody>
      </p:sp>
      <p:sp>
        <p:nvSpPr>
          <p:cNvPr id="106" name="Google Shape;106;p1"/>
          <p:cNvSpPr/>
          <p:nvPr/>
        </p:nvSpPr>
        <p:spPr>
          <a:xfrm>
            <a:off x="3975100" y="2603500"/>
            <a:ext cx="4572000" cy="8890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None/>
            </a:pPr>
            <a:r>
              <a:rPr lang="en" sz="1400" b="0" i="0" u="none" strike="noStrike" cap="none">
                <a:solidFill>
                  <a:srgbClr val="595959"/>
                </a:solidFill>
                <a:latin typeface="Raleway Medium"/>
                <a:ea typeface="Raleway Medium"/>
                <a:cs typeface="Raleway Medium"/>
                <a:sym typeface="Raleway Medium"/>
              </a:rPr>
              <a:t>Comparing wireless standards for flexible, mobile, and scalable Industry 4.0 automation</a:t>
            </a:r>
          </a:p>
        </p:txBody>
      </p:sp>
      <p:pic>
        <p:nvPicPr>
          <p:cNvPr id="107" name="Google Shape;107;p1"/>
          <p:cNvPicPr preferRelativeResize="0"/>
          <p:nvPr/>
        </p:nvPicPr>
        <p:blipFill rotWithShape="1">
          <a:blip r:embed="rId3">
            <a:alphaModFix/>
          </a:blip>
          <a:srcRect/>
          <a:stretch/>
        </p:blipFill>
        <p:spPr>
          <a:xfrm>
            <a:off x="6966825" y="4337447"/>
            <a:ext cx="2177174" cy="806053"/>
          </a:xfrm>
          <a:prstGeom prst="rect">
            <a:avLst/>
          </a:prstGeom>
          <a:noFill/>
          <a:ln>
            <a:noFill/>
          </a:ln>
        </p:spPr>
      </p:pic>
      <p:sp>
        <p:nvSpPr>
          <p:cNvPr id="900" name="Band Base"/>
          <p:cNvSpPr/>
          <p:nvPr/>
        </p:nvSpPr>
        <p:spPr>
          <a:xfrm>
            <a:off x="0" y="0"/>
            <a:ext cx="3429000" cy="5143500"/>
          </a:xfrm>
          <a:prstGeom prst="rect">
            <a:avLst/>
          </a:prstGeom>
          <a:gradFill>
            <a:gsLst>
              <a:gs pos="0">
                <a:srgbClr val="2A3BCB"/>
              </a:gs>
              <a:gs pos="55000">
                <a:srgbClr val="1B2DBA"/>
              </a:gs>
              <a:gs pos="100000">
                <a:srgbClr val="0B1452"/>
              </a:gs>
            </a:gsLst>
            <a:lin ang="3600000" scaled="1"/>
          </a:gradFill>
          <a:ln>
            <a:noFill/>
          </a:ln>
        </p:spPr>
        <p:txBody>
          <a:bodyPr/>
          <a:lstStyle/>
          <a:p>
            <a:endParaRPr/>
          </a:p>
        </p:txBody>
      </p:sp>
      <p:sp>
        <p:nvSpPr>
          <p:cNvPr id="901" name="Ring"/>
          <p:cNvSpPr/>
          <p:nvPr/>
        </p:nvSpPr>
        <p:spPr>
          <a:xfrm>
            <a:off x="1270000" y="1778000"/>
            <a:ext cx="889000" cy="889000"/>
          </a:xfrm>
          <a:prstGeom prst="ellipse">
            <a:avLst/>
          </a:prstGeom>
          <a:noFill/>
          <a:ln w="19050">
            <a:solidFill>
              <a:srgbClr val="FFFFFF">
                <a:alpha val="30000"/>
              </a:srgbClr>
            </a:solidFill>
          </a:ln>
        </p:spPr>
        <p:txBody>
          <a:bodyPr/>
          <a:lstStyle/>
          <a:p>
            <a:endParaRPr/>
          </a:p>
        </p:txBody>
      </p:sp>
      <p:sp>
        <p:nvSpPr>
          <p:cNvPr id="902" name="Ring"/>
          <p:cNvSpPr/>
          <p:nvPr/>
        </p:nvSpPr>
        <p:spPr>
          <a:xfrm>
            <a:off x="927100" y="1435100"/>
            <a:ext cx="1574800" cy="1574800"/>
          </a:xfrm>
          <a:prstGeom prst="ellipse">
            <a:avLst/>
          </a:prstGeom>
          <a:noFill/>
          <a:ln w="19050">
            <a:solidFill>
              <a:srgbClr val="FFFFFF">
                <a:alpha val="22000"/>
              </a:srgbClr>
            </a:solidFill>
          </a:ln>
        </p:spPr>
        <p:txBody>
          <a:bodyPr/>
          <a:lstStyle/>
          <a:p>
            <a:endParaRPr/>
          </a:p>
        </p:txBody>
      </p:sp>
      <p:sp>
        <p:nvSpPr>
          <p:cNvPr id="903" name="Ring"/>
          <p:cNvSpPr/>
          <p:nvPr/>
        </p:nvSpPr>
        <p:spPr>
          <a:xfrm>
            <a:off x="571500" y="1079500"/>
            <a:ext cx="2286000" cy="2286000"/>
          </a:xfrm>
          <a:prstGeom prst="ellipse">
            <a:avLst/>
          </a:prstGeom>
          <a:noFill/>
          <a:ln w="19050">
            <a:solidFill>
              <a:srgbClr val="FFFFFF">
                <a:alpha val="15000"/>
              </a:srgbClr>
            </a:solidFill>
          </a:ln>
        </p:spPr>
        <p:txBody>
          <a:bodyPr/>
          <a:lstStyle/>
          <a:p>
            <a:endParaRPr/>
          </a:p>
        </p:txBody>
      </p:sp>
      <p:sp>
        <p:nvSpPr>
          <p:cNvPr id="904" name="Ring"/>
          <p:cNvSpPr/>
          <p:nvPr/>
        </p:nvSpPr>
        <p:spPr>
          <a:xfrm>
            <a:off x="190500" y="698500"/>
            <a:ext cx="3048000" cy="3048000"/>
          </a:xfrm>
          <a:prstGeom prst="ellipse">
            <a:avLst/>
          </a:prstGeom>
          <a:noFill/>
          <a:ln w="19050">
            <a:solidFill>
              <a:srgbClr val="FFFFFF">
                <a:alpha val="10000"/>
              </a:srgbClr>
            </a:solidFill>
          </a:ln>
        </p:spPr>
        <p:txBody>
          <a:bodyPr/>
          <a:lstStyle/>
          <a:p>
            <a:endParaRPr/>
          </a:p>
        </p:txBody>
      </p:sp>
      <p:sp>
        <p:nvSpPr>
          <p:cNvPr id="905" name="Node"/>
          <p:cNvSpPr/>
          <p:nvPr/>
        </p:nvSpPr>
        <p:spPr>
          <a:xfrm>
            <a:off x="1638300" y="2146300"/>
            <a:ext cx="152400" cy="152400"/>
          </a:xfrm>
          <a:prstGeom prst="ellipse">
            <a:avLst/>
          </a:prstGeom>
          <a:solidFill>
            <a:srgbClr val="FFFFFF">
              <a:alpha val="92000"/>
            </a:srgbClr>
          </a:solidFill>
          <a:ln>
            <a:noFill/>
          </a:ln>
        </p:spPr>
        <p:txBody>
          <a:bodyPr/>
          <a:lstStyle/>
          <a:p>
            <a:endParaRPr/>
          </a:p>
        </p:txBody>
      </p:sp>
      <p:sp>
        <p:nvSpPr>
          <p:cNvPr id="906" name="Dot"/>
          <p:cNvSpPr/>
          <p:nvPr/>
        </p:nvSpPr>
        <p:spPr>
          <a:xfrm>
            <a:off x="762000" y="3683000"/>
            <a:ext cx="101600" cy="101600"/>
          </a:xfrm>
          <a:prstGeom prst="ellipse">
            <a:avLst/>
          </a:prstGeom>
          <a:solidFill>
            <a:srgbClr val="FFFFFF">
              <a:alpha val="70000"/>
            </a:srgbClr>
          </a:solidFill>
          <a:ln>
            <a:noFill/>
          </a:ln>
        </p:spPr>
        <p:txBody>
          <a:bodyPr/>
          <a:lstStyle/>
          <a:p>
            <a:endParaRPr/>
          </a:p>
        </p:txBody>
      </p:sp>
      <p:sp>
        <p:nvSpPr>
          <p:cNvPr id="907" name="Dot"/>
          <p:cNvSpPr/>
          <p:nvPr/>
        </p:nvSpPr>
        <p:spPr>
          <a:xfrm>
            <a:off x="1778000" y="4191000"/>
            <a:ext cx="101600" cy="101600"/>
          </a:xfrm>
          <a:prstGeom prst="ellipse">
            <a:avLst/>
          </a:prstGeom>
          <a:solidFill>
            <a:srgbClr val="FFFFFF">
              <a:alpha val="70000"/>
            </a:srgbClr>
          </a:solidFill>
          <a:ln>
            <a:noFill/>
          </a:ln>
        </p:spPr>
        <p:txBody>
          <a:bodyPr/>
          <a:lstStyle/>
          <a:p>
            <a:endParaRPr/>
          </a:p>
        </p:txBody>
      </p:sp>
      <p:sp>
        <p:nvSpPr>
          <p:cNvPr id="908" name="Dot"/>
          <p:cNvSpPr/>
          <p:nvPr/>
        </p:nvSpPr>
        <p:spPr>
          <a:xfrm>
            <a:off x="2603500" y="4572000"/>
            <a:ext cx="101600" cy="101600"/>
          </a:xfrm>
          <a:prstGeom prst="ellipse">
            <a:avLst/>
          </a:prstGeom>
          <a:solidFill>
            <a:srgbClr val="FFFFFF">
              <a:alpha val="70000"/>
            </a:srgbClr>
          </a:solidFill>
          <a:ln>
            <a:noFill/>
          </a:ln>
        </p:spPr>
        <p:txBody>
          <a:bodyPr/>
          <a:lstStyle/>
          <a:p>
            <a:endParaRPr/>
          </a:p>
        </p:txBody>
      </p:sp>
      <p:cxnSp>
        <p:nvCxnSpPr>
          <p:cNvPr id="909" name="Link909"/>
          <p:cNvCxnSpPr/>
          <p:nvPr/>
        </p:nvCxnSpPr>
        <p:spPr>
          <a:xfrm>
            <a:off x="812800" y="3733800"/>
            <a:ext cx="1016000" cy="508000"/>
          </a:xfrm>
          <a:prstGeom prst="line">
            <a:avLst/>
          </a:prstGeom>
          <a:ln w="9525">
            <a:solidFill>
              <a:srgbClr val="FFFFFF">
                <a:alpha val="25000"/>
              </a:srgbClr>
            </a:solidFill>
          </a:ln>
        </p:spPr>
      </p:cxnSp>
      <p:cxnSp>
        <p:nvCxnSpPr>
          <p:cNvPr id="910" name="Link910"/>
          <p:cNvCxnSpPr/>
          <p:nvPr/>
        </p:nvCxnSpPr>
        <p:spPr>
          <a:xfrm>
            <a:off x="1828800" y="4241800"/>
            <a:ext cx="825500" cy="381000"/>
          </a:xfrm>
          <a:prstGeom prst="line">
            <a:avLst/>
          </a:prstGeom>
          <a:ln w="9525">
            <a:solidFill>
              <a:srgbClr val="FFFFFF">
                <a:alpha val="25000"/>
              </a:srgbClr>
            </a:solidFill>
          </a:ln>
        </p:spPr>
      </p:cxnSp>
    </p:spTree>
    <p:extLst>
      <p:ext uri="{BB962C8B-B14F-4D97-AF65-F5344CB8AC3E}">
        <p14:creationId xmlns:p14="http://schemas.microsoft.com/office/powerpoint/2010/main" val="29247311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p1" descr="preencoded.png"/>
          <p:cNvPicPr preferRelativeResize="0"/>
          <p:nvPr/>
        </p:nvPicPr>
        <p:blipFill rotWithShape="1">
          <a:blip r:embed="rId3">
            <a:alphaModFix/>
          </a:blip>
          <a:srcRect/>
          <a:stretch/>
        </p:blipFill>
        <p:spPr>
          <a:xfrm>
            <a:off x="0" y="0"/>
            <a:ext cx="3429000" cy="5143500"/>
          </a:xfrm>
          <a:prstGeom prst="rect">
            <a:avLst/>
          </a:prstGeom>
          <a:noFill/>
          <a:ln>
            <a:noFill/>
          </a:ln>
        </p:spPr>
      </p:pic>
      <p:sp>
        <p:nvSpPr>
          <p:cNvPr id="103" name="Google Shape;103;p1"/>
          <p:cNvSpPr/>
          <p:nvPr/>
        </p:nvSpPr>
        <p:spPr>
          <a:xfrm>
            <a:off x="3969023" y="1110779"/>
            <a:ext cx="998860" cy="290066"/>
          </a:xfrm>
          <a:prstGeom prst="roundRect">
            <a:avLst>
              <a:gd name="adj" fmla="val 63836"/>
            </a:avLst>
          </a:prstGeom>
          <a:solidFill>
            <a:srgbClr val="E6E6E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
          <p:cNvSpPr/>
          <p:nvPr/>
        </p:nvSpPr>
        <p:spPr>
          <a:xfrm>
            <a:off x="4061594" y="1157064"/>
            <a:ext cx="1270918" cy="19749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950"/>
              <a:buFont typeface="Raleway Medium"/>
              <a:buNone/>
            </a:pPr>
            <a:r>
              <a:rPr lang="en" sz="950" b="0" i="0" u="none" strike="noStrike" cap="none">
                <a:solidFill>
                  <a:srgbClr val="000000"/>
                </a:solidFill>
                <a:latin typeface="Raleway Medium"/>
                <a:ea typeface="Raleway Medium"/>
                <a:cs typeface="Raleway Medium"/>
                <a:sym typeface="Raleway Medium"/>
              </a:rPr>
              <a:t>INDUSTRY 4.0</a:t>
            </a:r>
            <a:endParaRPr sz="950" b="0" i="0" u="none" strike="noStrike" cap="none">
              <a:solidFill>
                <a:schemeClr val="dk1"/>
              </a:solidFill>
              <a:latin typeface="Calibri"/>
              <a:ea typeface="Calibri"/>
              <a:cs typeface="Calibri"/>
              <a:sym typeface="Calibri"/>
            </a:endParaRPr>
          </a:p>
        </p:txBody>
      </p:sp>
      <p:sp>
        <p:nvSpPr>
          <p:cNvPr id="105" name="Google Shape;105;p1"/>
          <p:cNvSpPr/>
          <p:nvPr/>
        </p:nvSpPr>
        <p:spPr>
          <a:xfrm>
            <a:off x="3969023" y="1462534"/>
            <a:ext cx="4634954" cy="85725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700"/>
              <a:buFont typeface="Comfortaa"/>
              <a:buNone/>
            </a:pPr>
            <a:r>
              <a:rPr lang="en" sz="2700" b="1" i="0" u="none" strike="noStrike" cap="none">
                <a:solidFill>
                  <a:srgbClr val="1B2DBA"/>
                </a:solidFill>
                <a:latin typeface="Comfortaa"/>
                <a:ea typeface="Comfortaa"/>
                <a:cs typeface="Comfortaa"/>
                <a:sym typeface="Comfortaa"/>
              </a:rPr>
              <a:t>Why Wireless Matters in Industry 4.0</a:t>
            </a:r>
            <a:endParaRPr sz="2700" b="0" i="0" u="none" strike="noStrike" cap="none">
              <a:solidFill>
                <a:schemeClr val="dk1"/>
              </a:solidFill>
              <a:latin typeface="Calibri"/>
              <a:ea typeface="Calibri"/>
              <a:cs typeface="Calibri"/>
              <a:sym typeface="Calibri"/>
            </a:endParaRPr>
          </a:p>
        </p:txBody>
      </p:sp>
      <p:sp>
        <p:nvSpPr>
          <p:cNvPr id="106" name="Google Shape;106;p1"/>
          <p:cNvSpPr/>
          <p:nvPr/>
        </p:nvSpPr>
        <p:spPr>
          <a:xfrm>
            <a:off x="3969023" y="2551212"/>
            <a:ext cx="4634954" cy="148143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200"/>
              <a:buFont typeface="Raleway Medium"/>
              <a:buNone/>
            </a:pPr>
            <a:r>
              <a:rPr lang="en" sz="1200" b="0" i="0" u="none" strike="noStrike" cap="none">
                <a:solidFill>
                  <a:srgbClr val="000000"/>
                </a:solidFill>
                <a:latin typeface="Raleway Medium"/>
                <a:ea typeface="Raleway Medium"/>
                <a:cs typeface="Raleway Medium"/>
                <a:sym typeface="Raleway Medium"/>
              </a:rPr>
              <a:t>Industry 4.0 demands flexible, mobile, and scalable communication. Wired systems like PROFINET offer stable timing but are expensive to install and hard to reconfigure. Wireless enables AGVs, mobile sensors, and remote monitoring — but the real question is: </a:t>
            </a:r>
            <a:r>
              <a:rPr lang="en" sz="1200" b="1" i="0" u="none" strike="noStrike" cap="none">
                <a:solidFill>
                  <a:srgbClr val="000000"/>
                </a:solidFill>
                <a:latin typeface="Raleway Medium"/>
                <a:ea typeface="Raleway Medium"/>
                <a:cs typeface="Raleway Medium"/>
                <a:sym typeface="Raleway Medium"/>
              </a:rPr>
              <a:t>which wireless standard fits which industrial task?</a:t>
            </a:r>
            <a:endParaRPr sz="1200" b="0" i="0" u="none" strike="noStrike" cap="none">
              <a:solidFill>
                <a:schemeClr val="dk1"/>
              </a:solidFill>
              <a:latin typeface="Calibri"/>
              <a:ea typeface="Calibri"/>
              <a:cs typeface="Calibri"/>
              <a:sym typeface="Calibri"/>
            </a:endParaRPr>
          </a:p>
        </p:txBody>
      </p:sp>
      <p:pic>
        <p:nvPicPr>
          <p:cNvPr id="107" name="Google Shape;107;p1"/>
          <p:cNvPicPr preferRelativeResize="0"/>
          <p:nvPr/>
        </p:nvPicPr>
        <p:blipFill rotWithShape="1">
          <a:blip r:embed="rId4">
            <a:alphaModFix/>
          </a:blip>
          <a:srcRect/>
          <a:stretch/>
        </p:blipFill>
        <p:spPr>
          <a:xfrm>
            <a:off x="6966825" y="4337447"/>
            <a:ext cx="2177174" cy="80605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
          <p:cNvSpPr/>
          <p:nvPr/>
        </p:nvSpPr>
        <p:spPr>
          <a:xfrm>
            <a:off x="1318766" y="460325"/>
            <a:ext cx="490172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850"/>
              <a:buFont typeface="Comfortaa"/>
              <a:buNone/>
            </a:pPr>
            <a:r>
              <a:rPr lang="en" sz="1850" b="1" i="0" u="none" strike="noStrike" cap="none">
                <a:solidFill>
                  <a:srgbClr val="1B2DBA"/>
                </a:solidFill>
                <a:latin typeface="Comfortaa"/>
                <a:ea typeface="Comfortaa"/>
                <a:cs typeface="Comfortaa"/>
                <a:sym typeface="Comfortaa"/>
              </a:rPr>
              <a:t>The Industrial Wireless Environment</a:t>
            </a:r>
            <a:endParaRPr sz="1850" b="0" i="0" u="none" strike="noStrike" cap="none">
              <a:solidFill>
                <a:schemeClr val="dk1"/>
              </a:solidFill>
              <a:latin typeface="Calibri"/>
              <a:ea typeface="Calibri"/>
              <a:cs typeface="Calibri"/>
              <a:sym typeface="Calibri"/>
            </a:endParaRPr>
          </a:p>
        </p:txBody>
      </p:sp>
      <p:pic>
        <p:nvPicPr>
          <p:cNvPr id="114" name="Google Shape;114;p2" descr="preencoded.png"/>
          <p:cNvPicPr preferRelativeResize="0"/>
          <p:nvPr/>
        </p:nvPicPr>
        <p:blipFill rotWithShape="1">
          <a:blip r:embed="rId3">
            <a:alphaModFix/>
          </a:blip>
          <a:srcRect/>
          <a:stretch/>
        </p:blipFill>
        <p:spPr>
          <a:xfrm>
            <a:off x="1318766" y="946398"/>
            <a:ext cx="4138612" cy="2345159"/>
          </a:xfrm>
          <a:prstGeom prst="rect">
            <a:avLst/>
          </a:prstGeom>
          <a:noFill/>
          <a:ln>
            <a:noFill/>
          </a:ln>
        </p:spPr>
      </p:pic>
      <p:sp>
        <p:nvSpPr>
          <p:cNvPr id="115" name="Google Shape;115;p2"/>
          <p:cNvSpPr/>
          <p:nvPr/>
        </p:nvSpPr>
        <p:spPr>
          <a:xfrm>
            <a:off x="5720953" y="1580704"/>
            <a:ext cx="210896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Why Factories Are Hard on Wireless</a:t>
            </a:r>
            <a:endParaRPr sz="900" b="0" i="0" u="none" strike="noStrike" cap="none">
              <a:solidFill>
                <a:schemeClr val="dk1"/>
              </a:solidFill>
              <a:latin typeface="Calibri"/>
              <a:ea typeface="Calibri"/>
              <a:cs typeface="Calibri"/>
              <a:sym typeface="Calibri"/>
            </a:endParaRPr>
          </a:p>
        </p:txBody>
      </p:sp>
      <p:sp>
        <p:nvSpPr>
          <p:cNvPr id="116" name="Google Shape;116;p2"/>
          <p:cNvSpPr/>
          <p:nvPr/>
        </p:nvSpPr>
        <p:spPr>
          <a:xfrm>
            <a:off x="5720953" y="1948309"/>
            <a:ext cx="2108969" cy="716235"/>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Metal structures, motors, and moving machines create EMI, multipath fading, and unstable signal quality. Shared 2.4 GHz spectrum adds congestion; cybersecurity is critical.</a:t>
            </a:r>
            <a:endParaRPr sz="800" b="0" i="0" u="none" strike="noStrike" cap="none">
              <a:solidFill>
                <a:schemeClr val="dk1"/>
              </a:solidFill>
              <a:latin typeface="Calibri"/>
              <a:ea typeface="Calibri"/>
              <a:cs typeface="Calibri"/>
              <a:sym typeface="Calibri"/>
            </a:endParaRPr>
          </a:p>
        </p:txBody>
      </p:sp>
      <p:sp>
        <p:nvSpPr>
          <p:cNvPr id="117" name="Google Shape;117;p2"/>
          <p:cNvSpPr/>
          <p:nvPr/>
        </p:nvSpPr>
        <p:spPr>
          <a:xfrm>
            <a:off x="1318766" y="3482950"/>
            <a:ext cx="2621831"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Three Standards Under Evaluation</a:t>
            </a:r>
            <a:endParaRPr sz="900" b="0" i="0" u="none" strike="noStrike" cap="none">
              <a:solidFill>
                <a:schemeClr val="dk1"/>
              </a:solidFill>
              <a:latin typeface="Calibri"/>
              <a:ea typeface="Calibri"/>
              <a:cs typeface="Calibri"/>
              <a:sym typeface="Calibri"/>
            </a:endParaRPr>
          </a:p>
        </p:txBody>
      </p:sp>
      <p:pic>
        <p:nvPicPr>
          <p:cNvPr id="118" name="Google Shape;118;p2" descr="preencoded.png"/>
          <p:cNvPicPr preferRelativeResize="0"/>
          <p:nvPr/>
        </p:nvPicPr>
        <p:blipFill rotWithShape="1">
          <a:blip r:embed="rId4">
            <a:alphaModFix/>
          </a:blip>
          <a:srcRect/>
          <a:stretch/>
        </p:blipFill>
        <p:spPr>
          <a:xfrm>
            <a:off x="1304479" y="3739679"/>
            <a:ext cx="2134493" cy="718245"/>
          </a:xfrm>
          <a:prstGeom prst="rect">
            <a:avLst/>
          </a:prstGeom>
          <a:noFill/>
          <a:ln>
            <a:noFill/>
          </a:ln>
        </p:spPr>
      </p:pic>
      <p:sp>
        <p:nvSpPr>
          <p:cNvPr id="119" name="Google Shape;119;p2"/>
          <p:cNvSpPr/>
          <p:nvPr/>
        </p:nvSpPr>
        <p:spPr>
          <a:xfrm>
            <a:off x="1481956"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Wi-Fi / IEEE 802.11</a:t>
            </a:r>
            <a:endParaRPr sz="900" b="0" i="0" u="none" strike="noStrike" cap="none">
              <a:solidFill>
                <a:schemeClr val="dk1"/>
              </a:solidFill>
              <a:latin typeface="Calibri"/>
              <a:ea typeface="Calibri"/>
              <a:cs typeface="Calibri"/>
              <a:sym typeface="Calibri"/>
            </a:endParaRPr>
          </a:p>
        </p:txBody>
      </p:sp>
      <p:sp>
        <p:nvSpPr>
          <p:cNvPr id="120" name="Google Shape;120;p2"/>
          <p:cNvSpPr/>
          <p:nvPr/>
        </p:nvSpPr>
        <p:spPr>
          <a:xfrm>
            <a:off x="1481956" y="4051102"/>
            <a:ext cx="1836688" cy="286494"/>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High-bandwidth mobile communication</a:t>
            </a:r>
            <a:endParaRPr sz="800" b="0" i="0" u="none" strike="noStrike" cap="none">
              <a:solidFill>
                <a:schemeClr val="dk1"/>
              </a:solidFill>
              <a:latin typeface="Calibri"/>
              <a:ea typeface="Calibri"/>
              <a:cs typeface="Calibri"/>
              <a:sym typeface="Calibri"/>
            </a:endParaRPr>
          </a:p>
        </p:txBody>
      </p:sp>
      <p:pic>
        <p:nvPicPr>
          <p:cNvPr id="121" name="Google Shape;121;p2" descr="preencoded.png"/>
          <p:cNvPicPr preferRelativeResize="0"/>
          <p:nvPr/>
        </p:nvPicPr>
        <p:blipFill rotWithShape="1">
          <a:blip r:embed="rId4">
            <a:alphaModFix/>
          </a:blip>
          <a:srcRect/>
          <a:stretch/>
        </p:blipFill>
        <p:spPr>
          <a:xfrm>
            <a:off x="3497610" y="3739679"/>
            <a:ext cx="2134493" cy="718245"/>
          </a:xfrm>
          <a:prstGeom prst="rect">
            <a:avLst/>
          </a:prstGeom>
          <a:noFill/>
          <a:ln>
            <a:noFill/>
          </a:ln>
        </p:spPr>
      </p:pic>
      <p:sp>
        <p:nvSpPr>
          <p:cNvPr id="122" name="Google Shape;122;p2"/>
          <p:cNvSpPr/>
          <p:nvPr/>
        </p:nvSpPr>
        <p:spPr>
          <a:xfrm>
            <a:off x="3675087" y="3860006"/>
            <a:ext cx="1331268"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Zigbee / IEEE 802.15.4</a:t>
            </a:r>
            <a:endParaRPr sz="900" b="0" i="0" u="none" strike="noStrike" cap="none">
              <a:solidFill>
                <a:schemeClr val="dk1"/>
              </a:solidFill>
              <a:latin typeface="Calibri"/>
              <a:ea typeface="Calibri"/>
              <a:cs typeface="Calibri"/>
              <a:sym typeface="Calibri"/>
            </a:endParaRPr>
          </a:p>
        </p:txBody>
      </p:sp>
      <p:sp>
        <p:nvSpPr>
          <p:cNvPr id="123" name="Google Shape;123;p2"/>
          <p:cNvSpPr/>
          <p:nvPr/>
        </p:nvSpPr>
        <p:spPr>
          <a:xfrm>
            <a:off x="3675087"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Low-power sensor networks</a:t>
            </a:r>
            <a:endParaRPr sz="800" b="0" i="0" u="none" strike="noStrike" cap="none">
              <a:solidFill>
                <a:schemeClr val="dk1"/>
              </a:solidFill>
              <a:latin typeface="Calibri"/>
              <a:ea typeface="Calibri"/>
              <a:cs typeface="Calibri"/>
              <a:sym typeface="Calibri"/>
            </a:endParaRPr>
          </a:p>
        </p:txBody>
      </p:sp>
      <p:pic>
        <p:nvPicPr>
          <p:cNvPr id="124" name="Google Shape;124;p2" descr="preencoded.png"/>
          <p:cNvPicPr preferRelativeResize="0"/>
          <p:nvPr/>
        </p:nvPicPr>
        <p:blipFill rotWithShape="1">
          <a:blip r:embed="rId4">
            <a:alphaModFix/>
          </a:blip>
          <a:srcRect/>
          <a:stretch/>
        </p:blipFill>
        <p:spPr>
          <a:xfrm>
            <a:off x="5690741" y="3739679"/>
            <a:ext cx="2134493" cy="718245"/>
          </a:xfrm>
          <a:prstGeom prst="rect">
            <a:avLst/>
          </a:prstGeom>
          <a:noFill/>
          <a:ln>
            <a:noFill/>
          </a:ln>
        </p:spPr>
      </p:pic>
      <p:sp>
        <p:nvSpPr>
          <p:cNvPr id="125" name="Google Shape;125;p2"/>
          <p:cNvSpPr/>
          <p:nvPr/>
        </p:nvSpPr>
        <p:spPr>
          <a:xfrm>
            <a:off x="5868219"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5G New Radio</a:t>
            </a:r>
            <a:endParaRPr sz="900" b="0" i="0" u="none" strike="noStrike" cap="none">
              <a:solidFill>
                <a:schemeClr val="dk1"/>
              </a:solidFill>
              <a:latin typeface="Calibri"/>
              <a:ea typeface="Calibri"/>
              <a:cs typeface="Calibri"/>
              <a:sym typeface="Calibri"/>
            </a:endParaRPr>
          </a:p>
        </p:txBody>
      </p:sp>
      <p:sp>
        <p:nvSpPr>
          <p:cNvPr id="126" name="Google Shape;126;p2"/>
          <p:cNvSpPr/>
          <p:nvPr/>
        </p:nvSpPr>
        <p:spPr>
          <a:xfrm>
            <a:off x="5868219"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Real-time control &amp; private networks</a:t>
            </a:r>
            <a:endParaRPr sz="800" b="0" i="0" u="none" strike="noStrike" cap="none">
              <a:solidFill>
                <a:schemeClr val="dk1"/>
              </a:solidFill>
              <a:latin typeface="Calibri"/>
              <a:ea typeface="Calibri"/>
              <a:cs typeface="Calibri"/>
              <a:sym typeface="Calibri"/>
            </a:endParaRPr>
          </a:p>
        </p:txBody>
      </p:sp>
      <p:sp>
        <p:nvSpPr>
          <p:cNvPr id="127" name="Google Shape;127;p2"/>
          <p:cNvSpPr/>
          <p:nvPr/>
        </p:nvSpPr>
        <p:spPr>
          <a:xfrm>
            <a:off x="1318766" y="4539928"/>
            <a:ext cx="696366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Evaluated on latency, throughput, reliability, energy use, and deployment complexity.</a:t>
            </a:r>
            <a:endParaRPr sz="800" b="0" i="0" u="none" strike="noStrike" cap="none">
              <a:solidFill>
                <a:schemeClr val="dk1"/>
              </a:solidFill>
              <a:latin typeface="Calibri"/>
              <a:ea typeface="Calibri"/>
              <a:cs typeface="Calibri"/>
              <a:sym typeface="Calibri"/>
            </a:endParaRPr>
          </a:p>
        </p:txBody>
      </p:sp>
      <p:pic>
        <p:nvPicPr>
          <p:cNvPr id="128" name="Google Shape;128;p2"/>
          <p:cNvPicPr preferRelativeResize="0"/>
          <p:nvPr/>
        </p:nvPicPr>
        <p:blipFill rotWithShape="1">
          <a:blip r:embed="rId5">
            <a:alphaModFix/>
          </a:blip>
          <a:srcRect/>
          <a:stretch/>
        </p:blipFill>
        <p:spPr>
          <a:xfrm>
            <a:off x="6966825" y="4857000"/>
            <a:ext cx="2177175" cy="2865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9"/>
        <p:cNvGrpSpPr/>
        <p:nvPr/>
      </p:nvGrpSpPr>
      <p:grpSpPr>
        <a:xfrm>
          <a:off x="0" y="0"/>
          <a:ext cx="0" cy="0"/>
          <a:chOff x="0" y="0"/>
          <a:chExt cx="0" cy="0"/>
        </a:xfrm>
      </p:grpSpPr>
      <p:sp>
        <p:nvSpPr>
          <p:cNvPr id="140" name="Google Shape;140;p4"/>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Early Wireless Sensor Networks (WSN)</a:t>
            </a:r>
            <a:endParaRPr sz="2200" b="1" i="0" u="none" strike="noStrike" cap="none" dirty="0">
              <a:solidFill>
                <a:srgbClr val="1A56A0"/>
              </a:solidFill>
              <a:latin typeface="Arial"/>
              <a:ea typeface="Arial"/>
              <a:cs typeface="Arial"/>
              <a:sym typeface="Arial"/>
            </a:endParaRPr>
          </a:p>
        </p:txBody>
      </p:sp>
      <p:sp>
        <p:nvSpPr>
          <p:cNvPr id="141" name="Google Shape;141;p4"/>
          <p:cNvSpPr/>
          <p:nvPr/>
        </p:nvSpPr>
        <p:spPr>
          <a:xfrm>
            <a:off x="365760" y="900113"/>
            <a:ext cx="49500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4"/>
          <p:cNvSpPr/>
          <p:nvPr/>
        </p:nvSpPr>
        <p:spPr>
          <a:xfrm>
            <a:off x="365760" y="1080135"/>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4"/>
          <p:cNvSpPr txBox="1"/>
          <p:nvPr/>
        </p:nvSpPr>
        <p:spPr>
          <a:xfrm>
            <a:off x="365760" y="1080135"/>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Foundation</a:t>
            </a:r>
            <a:endParaRPr sz="1200" b="1" i="0" u="none" strike="noStrike" cap="none">
              <a:solidFill>
                <a:srgbClr val="FFFFFF"/>
              </a:solidFill>
              <a:latin typeface="Arial"/>
              <a:ea typeface="Arial"/>
              <a:cs typeface="Arial"/>
              <a:sym typeface="Arial"/>
            </a:endParaRPr>
          </a:p>
        </p:txBody>
      </p:sp>
      <p:sp>
        <p:nvSpPr>
          <p:cNvPr id="144" name="Google Shape;144;p4"/>
          <p:cNvSpPr/>
          <p:nvPr/>
        </p:nvSpPr>
        <p:spPr>
          <a:xfrm>
            <a:off x="1815760" y="1080135"/>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4"/>
          <p:cNvSpPr txBox="1"/>
          <p:nvPr/>
        </p:nvSpPr>
        <p:spPr>
          <a:xfrm>
            <a:off x="1998640" y="1080135"/>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WSN established the foundation of industrial wireless communication, based on IEEE 802.15.4 standards.</a:t>
            </a:r>
            <a:endParaRPr sz="1200" b="0" i="0" u="none" strike="noStrike" cap="none">
              <a:solidFill>
                <a:srgbClr val="444444"/>
              </a:solidFill>
              <a:latin typeface="Arial"/>
              <a:ea typeface="Arial"/>
              <a:cs typeface="Arial"/>
              <a:sym typeface="Arial"/>
            </a:endParaRPr>
          </a:p>
        </p:txBody>
      </p:sp>
      <p:sp>
        <p:nvSpPr>
          <p:cNvPr id="146" name="Google Shape;146;p4"/>
          <p:cNvSpPr/>
          <p:nvPr/>
        </p:nvSpPr>
        <p:spPr>
          <a:xfrm>
            <a:off x="365760" y="1980248"/>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p4"/>
          <p:cNvSpPr txBox="1"/>
          <p:nvPr/>
        </p:nvSpPr>
        <p:spPr>
          <a:xfrm>
            <a:off x="365760" y="1980248"/>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Main Goal</a:t>
            </a:r>
            <a:endParaRPr sz="1200" b="1" i="0" u="none" strike="noStrike" cap="none">
              <a:solidFill>
                <a:srgbClr val="FFFFFF"/>
              </a:solidFill>
              <a:latin typeface="Arial"/>
              <a:ea typeface="Arial"/>
              <a:cs typeface="Arial"/>
              <a:sym typeface="Arial"/>
            </a:endParaRPr>
          </a:p>
        </p:txBody>
      </p:sp>
      <p:sp>
        <p:nvSpPr>
          <p:cNvPr id="148" name="Google Shape;148;p4"/>
          <p:cNvSpPr/>
          <p:nvPr/>
        </p:nvSpPr>
        <p:spPr>
          <a:xfrm>
            <a:off x="1815760" y="1980248"/>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9" name="Google Shape;149;p4"/>
          <p:cNvSpPr txBox="1"/>
          <p:nvPr/>
        </p:nvSpPr>
        <p:spPr>
          <a:xfrm>
            <a:off x="1998640" y="1980248"/>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Collect and transmit data wirelessly with low power consumption, allowing devices to run on batteries for years.</a:t>
            </a:r>
            <a:endParaRPr sz="1200" b="0" i="0" u="none" strike="noStrike" cap="none">
              <a:solidFill>
                <a:srgbClr val="444444"/>
              </a:solidFill>
              <a:latin typeface="Arial"/>
              <a:ea typeface="Arial"/>
              <a:cs typeface="Arial"/>
              <a:sym typeface="Arial"/>
            </a:endParaRPr>
          </a:p>
        </p:txBody>
      </p:sp>
      <p:sp>
        <p:nvSpPr>
          <p:cNvPr id="150" name="Google Shape;150;p4"/>
          <p:cNvSpPr/>
          <p:nvPr/>
        </p:nvSpPr>
        <p:spPr>
          <a:xfrm>
            <a:off x="365760" y="2880360"/>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4"/>
          <p:cNvSpPr txBox="1"/>
          <p:nvPr/>
        </p:nvSpPr>
        <p:spPr>
          <a:xfrm>
            <a:off x="365760" y="2880360"/>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Key Challenges</a:t>
            </a:r>
            <a:endParaRPr sz="1200" b="1" i="0" u="none" strike="noStrike" cap="none">
              <a:solidFill>
                <a:srgbClr val="FFFFFF"/>
              </a:solidFill>
              <a:latin typeface="Arial"/>
              <a:ea typeface="Arial"/>
              <a:cs typeface="Arial"/>
              <a:sym typeface="Arial"/>
            </a:endParaRPr>
          </a:p>
        </p:txBody>
      </p:sp>
      <p:sp>
        <p:nvSpPr>
          <p:cNvPr id="152" name="Google Shape;152;p4"/>
          <p:cNvSpPr/>
          <p:nvPr/>
        </p:nvSpPr>
        <p:spPr>
          <a:xfrm>
            <a:off x="1815760" y="2880360"/>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3" name="Google Shape;153;p4"/>
          <p:cNvSpPr txBox="1"/>
          <p:nvPr/>
        </p:nvSpPr>
        <p:spPr>
          <a:xfrm>
            <a:off x="1998640" y="2880360"/>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Unstable delays, electromagnetic interference from machines, and signal loss in metallic factory environments.</a:t>
            </a:r>
            <a:endParaRPr sz="1200" b="0" i="0" u="none" strike="noStrike" cap="none">
              <a:solidFill>
                <a:srgbClr val="444444"/>
              </a:solidFill>
              <a:latin typeface="Arial"/>
              <a:ea typeface="Arial"/>
              <a:cs typeface="Arial"/>
              <a:sym typeface="Arial"/>
            </a:endParaRPr>
          </a:p>
        </p:txBody>
      </p:sp>
      <p:sp>
        <p:nvSpPr>
          <p:cNvPr id="154" name="Google Shape;154;p4"/>
          <p:cNvSpPr/>
          <p:nvPr/>
        </p:nvSpPr>
        <p:spPr>
          <a:xfrm>
            <a:off x="365760" y="3780473"/>
            <a:ext cx="14500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5" name="Google Shape;155;p4"/>
          <p:cNvSpPr txBox="1"/>
          <p:nvPr/>
        </p:nvSpPr>
        <p:spPr>
          <a:xfrm>
            <a:off x="365760" y="3780473"/>
            <a:ext cx="14500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Significance</a:t>
            </a:r>
            <a:endParaRPr sz="1200" b="1" i="0" u="none" strike="noStrike" cap="none">
              <a:solidFill>
                <a:srgbClr val="FFFFFF"/>
              </a:solidFill>
              <a:latin typeface="Arial"/>
              <a:ea typeface="Arial"/>
              <a:cs typeface="Arial"/>
              <a:sym typeface="Arial"/>
            </a:endParaRPr>
          </a:p>
        </p:txBody>
      </p:sp>
      <p:sp>
        <p:nvSpPr>
          <p:cNvPr id="156" name="Google Shape;156;p4"/>
          <p:cNvSpPr/>
          <p:nvPr/>
        </p:nvSpPr>
        <p:spPr>
          <a:xfrm>
            <a:off x="1815760" y="3780473"/>
            <a:ext cx="35000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p4"/>
          <p:cNvSpPr txBox="1"/>
          <p:nvPr/>
        </p:nvSpPr>
        <p:spPr>
          <a:xfrm>
            <a:off x="1998640" y="3780473"/>
            <a:ext cx="313424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Despite the challenges, WSN shaped the design principles still used in modern industrial wireless systems today.</a:t>
            </a:r>
            <a:endParaRPr sz="1200" b="0" i="0" u="none" strike="noStrike" cap="none">
              <a:solidFill>
                <a:srgbClr val="444444"/>
              </a:solidFill>
              <a:latin typeface="Arial"/>
              <a:ea typeface="Arial"/>
              <a:cs typeface="Arial"/>
              <a:sym typeface="Arial"/>
            </a:endParaRPr>
          </a:p>
        </p:txBody>
      </p:sp>
      <p:pic>
        <p:nvPicPr>
          <p:cNvPr id="158" name="Google Shape;158;p4" descr="image.jpg"/>
          <p:cNvPicPr preferRelativeResize="0"/>
          <p:nvPr/>
        </p:nvPicPr>
        <p:blipFill rotWithShape="1">
          <a:blip r:embed="rId3">
            <a:alphaModFix/>
          </a:blip>
          <a:srcRect/>
          <a:stretch/>
        </p:blipFill>
        <p:spPr>
          <a:xfrm>
            <a:off x="5150000" y="1769483"/>
            <a:ext cx="3628240" cy="2021303"/>
          </a:xfrm>
          <a:prstGeom prst="rect">
            <a:avLst/>
          </a:prstGeom>
          <a:noFill/>
          <a:ln>
            <a:noFill/>
          </a:ln>
        </p:spPr>
      </p:pic>
      <p:sp>
        <p:nvSpPr>
          <p:cNvPr id="159" name="Google Shape;159;p4"/>
          <p:cNvSpPr txBox="1"/>
          <p:nvPr/>
        </p:nvSpPr>
        <p:spPr>
          <a:xfrm>
            <a:off x="5150000" y="4530135"/>
            <a:ext cx="3628240" cy="45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Typical WSN architecture: sensor nodes relay data through the network to a base station and the internet.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p6"/>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Industrial Wi-Fi Evolution</a:t>
            </a:r>
            <a:endParaRPr sz="2200" b="1" i="0" u="none" strike="noStrike" cap="none" dirty="0">
              <a:solidFill>
                <a:srgbClr val="1A56A0"/>
              </a:solidFill>
              <a:latin typeface="Arial"/>
              <a:ea typeface="Arial"/>
              <a:cs typeface="Arial"/>
              <a:sym typeface="Arial"/>
            </a:endParaRPr>
          </a:p>
        </p:txBody>
      </p:sp>
      <p:sp>
        <p:nvSpPr>
          <p:cNvPr id="165" name="Google Shape;165;p6"/>
          <p:cNvSpPr/>
          <p:nvPr/>
        </p:nvSpPr>
        <p:spPr>
          <a:xfrm>
            <a:off x="365760" y="900113"/>
            <a:ext cx="49500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6"/>
          <p:cNvSpPr/>
          <p:nvPr/>
        </p:nvSpPr>
        <p:spPr>
          <a:xfrm>
            <a:off x="365760" y="1080135"/>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 name="Google Shape;167;p6"/>
          <p:cNvSpPr txBox="1"/>
          <p:nvPr/>
        </p:nvSpPr>
        <p:spPr>
          <a:xfrm>
            <a:off x="365760" y="1080135"/>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802.11b/g</a:t>
            </a:r>
            <a:endParaRPr sz="1300" b="1" i="0" u="none" strike="noStrike" cap="none">
              <a:solidFill>
                <a:srgbClr val="FFFFFF"/>
              </a:solidFill>
              <a:latin typeface="Arial"/>
              <a:ea typeface="Arial"/>
              <a:cs typeface="Arial"/>
              <a:sym typeface="Arial"/>
            </a:endParaRPr>
          </a:p>
        </p:txBody>
      </p:sp>
      <p:sp>
        <p:nvSpPr>
          <p:cNvPr id="168" name="Google Shape;168;p6"/>
          <p:cNvSpPr/>
          <p:nvPr/>
        </p:nvSpPr>
        <p:spPr>
          <a:xfrm>
            <a:off x="1815760" y="1080135"/>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9" name="Google Shape;169;p6"/>
          <p:cNvSpPr txBox="1"/>
          <p:nvPr/>
        </p:nvSpPr>
        <p:spPr>
          <a:xfrm>
            <a:off x="1998640" y="1080135"/>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High variable latency - not suitable for closed-loop industrial control.</a:t>
            </a:r>
            <a:endParaRPr sz="1200" b="0" i="0" u="none" strike="noStrike" cap="none">
              <a:solidFill>
                <a:srgbClr val="444444"/>
              </a:solidFill>
              <a:latin typeface="Arial"/>
              <a:ea typeface="Arial"/>
              <a:cs typeface="Arial"/>
              <a:sym typeface="Arial"/>
            </a:endParaRPr>
          </a:p>
        </p:txBody>
      </p:sp>
      <p:sp>
        <p:nvSpPr>
          <p:cNvPr id="170" name="Google Shape;170;p6"/>
          <p:cNvSpPr/>
          <p:nvPr/>
        </p:nvSpPr>
        <p:spPr>
          <a:xfrm>
            <a:off x="365760" y="1954530"/>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p6"/>
          <p:cNvSpPr txBox="1"/>
          <p:nvPr/>
        </p:nvSpPr>
        <p:spPr>
          <a:xfrm>
            <a:off x="365760" y="1954530"/>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802.11e</a:t>
            </a:r>
            <a:endParaRPr sz="1300" b="1" i="0" u="none" strike="noStrike" cap="none">
              <a:solidFill>
                <a:srgbClr val="FFFFFF"/>
              </a:solidFill>
              <a:latin typeface="Arial"/>
              <a:ea typeface="Arial"/>
              <a:cs typeface="Arial"/>
              <a:sym typeface="Arial"/>
            </a:endParaRPr>
          </a:p>
        </p:txBody>
      </p:sp>
      <p:sp>
        <p:nvSpPr>
          <p:cNvPr id="172" name="Google Shape;172;p6"/>
          <p:cNvSpPr/>
          <p:nvPr/>
        </p:nvSpPr>
        <p:spPr>
          <a:xfrm>
            <a:off x="1815760" y="1954530"/>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 name="Google Shape;173;p6"/>
          <p:cNvSpPr txBox="1"/>
          <p:nvPr/>
        </p:nvSpPr>
        <p:spPr>
          <a:xfrm>
            <a:off x="1998640" y="1954530"/>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QoS  introduced traffic prioritisation, improving reliability.</a:t>
            </a:r>
            <a:endParaRPr sz="1200" b="0" i="0" u="none" strike="noStrike" cap="none">
              <a:solidFill>
                <a:srgbClr val="444444"/>
              </a:solidFill>
              <a:latin typeface="Arial"/>
              <a:ea typeface="Arial"/>
              <a:cs typeface="Arial"/>
              <a:sym typeface="Arial"/>
            </a:endParaRPr>
          </a:p>
        </p:txBody>
      </p:sp>
      <p:sp>
        <p:nvSpPr>
          <p:cNvPr id="174" name="Google Shape;174;p6"/>
          <p:cNvSpPr/>
          <p:nvPr/>
        </p:nvSpPr>
        <p:spPr>
          <a:xfrm>
            <a:off x="365760" y="2828925"/>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5" name="Google Shape;175;p6"/>
          <p:cNvSpPr txBox="1"/>
          <p:nvPr/>
        </p:nvSpPr>
        <p:spPr>
          <a:xfrm>
            <a:off x="365760" y="2828925"/>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802.11n</a:t>
            </a:r>
            <a:endParaRPr sz="1300" b="1" i="0" u="none" strike="noStrike" cap="none">
              <a:solidFill>
                <a:srgbClr val="FFFFFF"/>
              </a:solidFill>
              <a:latin typeface="Arial"/>
              <a:ea typeface="Arial"/>
              <a:cs typeface="Arial"/>
              <a:sym typeface="Arial"/>
            </a:endParaRPr>
          </a:p>
        </p:txBody>
      </p:sp>
      <p:sp>
        <p:nvSpPr>
          <p:cNvPr id="176" name="Google Shape;176;p6"/>
          <p:cNvSpPr/>
          <p:nvPr/>
        </p:nvSpPr>
        <p:spPr>
          <a:xfrm>
            <a:off x="1815760" y="2828925"/>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 name="Google Shape;177;p6"/>
          <p:cNvSpPr txBox="1"/>
          <p:nvPr/>
        </p:nvSpPr>
        <p:spPr>
          <a:xfrm>
            <a:off x="1998640" y="2828925"/>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MIMO antennas enabled spatial multiplexing and increased data rates.</a:t>
            </a:r>
            <a:endParaRPr sz="1200" b="0" i="0" u="none" strike="noStrike" cap="none">
              <a:solidFill>
                <a:srgbClr val="444444"/>
              </a:solidFill>
              <a:latin typeface="Arial"/>
              <a:ea typeface="Arial"/>
              <a:cs typeface="Arial"/>
              <a:sym typeface="Arial"/>
            </a:endParaRPr>
          </a:p>
        </p:txBody>
      </p:sp>
      <p:sp>
        <p:nvSpPr>
          <p:cNvPr id="178" name="Google Shape;178;p6"/>
          <p:cNvSpPr/>
          <p:nvPr/>
        </p:nvSpPr>
        <p:spPr>
          <a:xfrm>
            <a:off x="365760" y="3703320"/>
            <a:ext cx="14500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9" name="Google Shape;179;p6"/>
          <p:cNvSpPr txBox="1"/>
          <p:nvPr/>
        </p:nvSpPr>
        <p:spPr>
          <a:xfrm>
            <a:off x="365760" y="3703320"/>
            <a:ext cx="14500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Wi-Fi 6</a:t>
            </a:r>
            <a:endParaRPr sz="1300" b="1" i="0" u="none" strike="noStrike" cap="none">
              <a:solidFill>
                <a:srgbClr val="FFFFFF"/>
              </a:solidFill>
              <a:latin typeface="Arial"/>
              <a:ea typeface="Arial"/>
              <a:cs typeface="Arial"/>
              <a:sym typeface="Arial"/>
            </a:endParaRPr>
          </a:p>
        </p:txBody>
      </p:sp>
      <p:sp>
        <p:nvSpPr>
          <p:cNvPr id="180" name="Google Shape;180;p6"/>
          <p:cNvSpPr/>
          <p:nvPr/>
        </p:nvSpPr>
        <p:spPr>
          <a:xfrm>
            <a:off x="1815760" y="3703320"/>
            <a:ext cx="35000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p6"/>
          <p:cNvSpPr txBox="1"/>
          <p:nvPr/>
        </p:nvSpPr>
        <p:spPr>
          <a:xfrm>
            <a:off x="1998640" y="3703320"/>
            <a:ext cx="322568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100" b="0" i="0" u="none" strike="noStrike" cap="none">
                <a:solidFill>
                  <a:srgbClr val="444444"/>
                </a:solidFill>
                <a:latin typeface="Arial"/>
                <a:ea typeface="Arial"/>
                <a:cs typeface="Arial"/>
                <a:sym typeface="Arial"/>
              </a:rPr>
              <a:t>OFDMA and TWT reduced latency to ~5 ms - suitable for high-bandwidth industrial applications.</a:t>
            </a:r>
            <a:endParaRPr sz="1200" b="0" i="0" u="none" strike="noStrike" cap="none">
              <a:solidFill>
                <a:srgbClr val="444444"/>
              </a:solidFill>
              <a:latin typeface="Arial"/>
              <a:ea typeface="Arial"/>
              <a:cs typeface="Arial"/>
              <a:sym typeface="Arial"/>
            </a:endParaRPr>
          </a:p>
        </p:txBody>
      </p:sp>
      <p:pic>
        <p:nvPicPr>
          <p:cNvPr id="182" name="Google Shape;182;p6" descr="image.jpg"/>
          <p:cNvPicPr preferRelativeResize="0"/>
          <p:nvPr/>
        </p:nvPicPr>
        <p:blipFill rotWithShape="1">
          <a:blip r:embed="rId3">
            <a:alphaModFix/>
          </a:blip>
          <a:srcRect/>
          <a:stretch/>
        </p:blipFill>
        <p:spPr>
          <a:xfrm>
            <a:off x="5150000" y="1961688"/>
            <a:ext cx="3628240" cy="1636894"/>
          </a:xfrm>
          <a:prstGeom prst="rect">
            <a:avLst/>
          </a:prstGeom>
          <a:noFill/>
          <a:ln>
            <a:noFill/>
          </a:ln>
        </p:spPr>
      </p:pic>
      <p:sp>
        <p:nvSpPr>
          <p:cNvPr id="183" name="Google Shape;183;p6"/>
          <p:cNvSpPr txBox="1"/>
          <p:nvPr/>
        </p:nvSpPr>
        <p:spPr>
          <a:xfrm>
            <a:off x="5150000" y="4530135"/>
            <a:ext cx="3628240" cy="45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Wireless connectivity links across an industrial network: routers, sensors, and IoT-enabled devices.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7"/>
        <p:cNvGrpSpPr/>
        <p:nvPr/>
      </p:nvGrpSpPr>
      <p:grpSpPr>
        <a:xfrm>
          <a:off x="0" y="0"/>
          <a:ext cx="0" cy="0"/>
          <a:chOff x="0" y="0"/>
          <a:chExt cx="0" cy="0"/>
        </a:xfrm>
      </p:grpSpPr>
      <p:sp>
        <p:nvSpPr>
          <p:cNvPr id="188" name="Google Shape;188;p8"/>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5G and the URLLC Paradigm</a:t>
            </a:r>
            <a:endParaRPr sz="2200" b="1" i="0" u="none" strike="noStrike" cap="none" dirty="0">
              <a:solidFill>
                <a:srgbClr val="1A56A0"/>
              </a:solidFill>
              <a:latin typeface="Arial"/>
              <a:ea typeface="Arial"/>
              <a:cs typeface="Arial"/>
              <a:sym typeface="Arial"/>
            </a:endParaRPr>
          </a:p>
        </p:txBody>
      </p:sp>
      <p:sp>
        <p:nvSpPr>
          <p:cNvPr id="189" name="Google Shape;189;p8"/>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0" name="Google Shape;190;p8"/>
          <p:cNvSpPr/>
          <p:nvPr/>
        </p:nvSpPr>
        <p:spPr>
          <a:xfrm>
            <a:off x="36576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8"/>
          <p:cNvSpPr txBox="1"/>
          <p:nvPr/>
        </p:nvSpPr>
        <p:spPr>
          <a:xfrm>
            <a:off x="36576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&lt; 1 ms</a:t>
            </a:r>
            <a:endParaRPr sz="2400" b="1" i="0" u="none" strike="noStrike" cap="none">
              <a:solidFill>
                <a:srgbClr val="FFFFFF"/>
              </a:solidFill>
              <a:latin typeface="Arial"/>
              <a:ea typeface="Arial"/>
              <a:cs typeface="Arial"/>
              <a:sym typeface="Arial"/>
            </a:endParaRPr>
          </a:p>
        </p:txBody>
      </p:sp>
      <p:sp>
        <p:nvSpPr>
          <p:cNvPr id="192" name="Google Shape;192;p8"/>
          <p:cNvSpPr txBox="1"/>
          <p:nvPr/>
        </p:nvSpPr>
        <p:spPr>
          <a:xfrm>
            <a:off x="36576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Latency for motion control</a:t>
            </a:r>
            <a:endParaRPr sz="1100" b="0" i="0" u="none" strike="noStrike" cap="none">
              <a:solidFill>
                <a:srgbClr val="FFFFFF"/>
              </a:solidFill>
              <a:latin typeface="Arial"/>
              <a:ea typeface="Arial"/>
              <a:cs typeface="Arial"/>
              <a:sym typeface="Arial"/>
            </a:endParaRPr>
          </a:p>
        </p:txBody>
      </p:sp>
      <p:sp>
        <p:nvSpPr>
          <p:cNvPr id="193" name="Google Shape;193;p8"/>
          <p:cNvSpPr/>
          <p:nvPr/>
        </p:nvSpPr>
        <p:spPr>
          <a:xfrm>
            <a:off x="329184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 name="Google Shape;194;p8"/>
          <p:cNvSpPr txBox="1"/>
          <p:nvPr/>
        </p:nvSpPr>
        <p:spPr>
          <a:xfrm>
            <a:off x="329184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99.9999%</a:t>
            </a:r>
            <a:endParaRPr sz="2400" b="1" i="0" u="none" strike="noStrike" cap="none">
              <a:solidFill>
                <a:srgbClr val="FFFFFF"/>
              </a:solidFill>
              <a:latin typeface="Arial"/>
              <a:ea typeface="Arial"/>
              <a:cs typeface="Arial"/>
              <a:sym typeface="Arial"/>
            </a:endParaRPr>
          </a:p>
        </p:txBody>
      </p:sp>
      <p:sp>
        <p:nvSpPr>
          <p:cNvPr id="195" name="Google Shape;195;p8"/>
          <p:cNvSpPr txBox="1"/>
          <p:nvPr/>
        </p:nvSpPr>
        <p:spPr>
          <a:xfrm>
            <a:off x="329184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Reliability (URLLC)</a:t>
            </a:r>
            <a:endParaRPr sz="1100" b="0" i="0" u="none" strike="noStrike" cap="none">
              <a:solidFill>
                <a:srgbClr val="FFFFFF"/>
              </a:solidFill>
              <a:latin typeface="Arial"/>
              <a:ea typeface="Arial"/>
              <a:cs typeface="Arial"/>
              <a:sym typeface="Arial"/>
            </a:endParaRPr>
          </a:p>
        </p:txBody>
      </p:sp>
      <p:sp>
        <p:nvSpPr>
          <p:cNvPr id="196" name="Google Shape;196;p8"/>
          <p:cNvSpPr/>
          <p:nvPr/>
        </p:nvSpPr>
        <p:spPr>
          <a:xfrm>
            <a:off x="621792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7" name="Google Shape;197;p8"/>
          <p:cNvSpPr txBox="1"/>
          <p:nvPr/>
        </p:nvSpPr>
        <p:spPr>
          <a:xfrm>
            <a:off x="621792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70%+</a:t>
            </a:r>
            <a:endParaRPr sz="2400" b="1" i="0" u="none" strike="noStrike" cap="none">
              <a:solidFill>
                <a:srgbClr val="FFFFFF"/>
              </a:solidFill>
              <a:latin typeface="Arial"/>
              <a:ea typeface="Arial"/>
              <a:cs typeface="Arial"/>
              <a:sym typeface="Arial"/>
            </a:endParaRPr>
          </a:p>
        </p:txBody>
      </p:sp>
      <p:sp>
        <p:nvSpPr>
          <p:cNvPr id="198" name="Google Shape;198;p8"/>
          <p:cNvSpPr txBox="1"/>
          <p:nvPr/>
        </p:nvSpPr>
        <p:spPr>
          <a:xfrm>
            <a:off x="621792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New private wireless spend on standalone 5G (2025)</a:t>
            </a:r>
            <a:endParaRPr sz="1100" b="0" i="0" u="none" strike="noStrike" cap="none">
              <a:solidFill>
                <a:srgbClr val="FFFFFF"/>
              </a:solidFill>
              <a:latin typeface="Arial"/>
              <a:ea typeface="Arial"/>
              <a:cs typeface="Arial"/>
              <a:sym typeface="Arial"/>
            </a:endParaRPr>
          </a:p>
        </p:txBody>
      </p:sp>
      <p:sp>
        <p:nvSpPr>
          <p:cNvPr id="199" name="Google Shape;199;p8"/>
          <p:cNvSpPr txBox="1"/>
          <p:nvPr/>
        </p:nvSpPr>
        <p:spPr>
          <a:xfrm>
            <a:off x="365760" y="2400000"/>
            <a:ext cx="8412480" cy="38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3GPP Roadmap</a:t>
            </a:r>
            <a:endParaRPr/>
          </a:p>
        </p:txBody>
      </p:sp>
      <p:sp>
        <p:nvSpPr>
          <p:cNvPr id="200" name="Google Shape;200;p8"/>
          <p:cNvSpPr txBox="1"/>
          <p:nvPr/>
        </p:nvSpPr>
        <p:spPr>
          <a:xfrm>
            <a:off x="365760" y="2850000"/>
            <a:ext cx="8412480" cy="200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1000"/>
              </a:spcAft>
              <a:buNone/>
            </a:pPr>
            <a:r>
              <a:rPr lang="en" sz="1300" b="0" i="0" u="none" strike="noStrike" cap="none">
                <a:solidFill>
                  <a:srgbClr val="333333"/>
                </a:solidFill>
                <a:latin typeface="Arial"/>
                <a:ea typeface="Arial"/>
                <a:cs typeface="Arial"/>
                <a:sym typeface="Arial"/>
              </a:rPr>
              <a:t>•  Release 15 (2018): air interface standardised.</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Release 16 (2020): mini-slot scheduling added for URLLC.</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Release 16 also defines 5G as a TSN bridge for end-to-end deterministic delivery.</a:t>
            </a:r>
            <a:endParaRPr/>
          </a:p>
          <a:p>
            <a:pPr marL="0" marR="0" lvl="0" indent="0" algn="l" rtl="0">
              <a:lnSpc>
                <a:spcPct val="100000"/>
              </a:lnSpc>
              <a:spcBef>
                <a:spcPts val="600"/>
              </a:spcBef>
              <a:spcAft>
                <a:spcPts val="1000"/>
              </a:spcAft>
              <a:buNone/>
            </a:pPr>
            <a:r>
              <a:rPr lang="en" sz="1300" b="0" i="0" u="none" strike="noStrike" cap="none">
                <a:solidFill>
                  <a:srgbClr val="333333"/>
                </a:solidFill>
                <a:latin typeface="Arial"/>
                <a:ea typeface="Arial"/>
                <a:cs typeface="Arial"/>
                <a:sym typeface="Arial"/>
              </a:rPr>
              <a:t>•  Many industries are now adopting private 5G networks for real-time control.</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56A0"/>
        </a:solidFill>
        <a:effectLst/>
      </p:bgPr>
    </p:bg>
    <p:spTree>
      <p:nvGrpSpPr>
        <p:cNvPr id="1" name="Shape 206"/>
        <p:cNvGrpSpPr/>
        <p:nvPr/>
      </p:nvGrpSpPr>
      <p:grpSpPr>
        <a:xfrm>
          <a:off x="0" y="0"/>
          <a:ext cx="0" cy="0"/>
          <a:chOff x="0" y="0"/>
          <a:chExt cx="0" cy="0"/>
        </a:xfrm>
      </p:grpSpPr>
      <p:sp>
        <p:nvSpPr>
          <p:cNvPr id="207" name="Google Shape;207;p10"/>
          <p:cNvSpPr txBox="1"/>
          <p:nvPr/>
        </p:nvSpPr>
        <p:spPr>
          <a:xfrm>
            <a:off x="731520" y="1285875"/>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Arial"/>
              <a:ea typeface="Arial"/>
              <a:cs typeface="Arial"/>
              <a:sym typeface="Arial"/>
            </a:endParaRPr>
          </a:p>
        </p:txBody>
      </p:sp>
      <p:sp>
        <p:nvSpPr>
          <p:cNvPr id="208" name="Google Shape;208;p10"/>
          <p:cNvSpPr txBox="1"/>
          <p:nvPr/>
        </p:nvSpPr>
        <p:spPr>
          <a:xfrm>
            <a:off x="731520" y="1800225"/>
            <a:ext cx="7680900" cy="102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3600"/>
              <a:buFont typeface="Arial"/>
              <a:buNone/>
            </a:pPr>
            <a:r>
              <a:rPr lang="en" sz="3600" b="1" i="0" u="none" strike="noStrike" cap="none">
                <a:solidFill>
                  <a:srgbClr val="FFFFFF"/>
                </a:solidFill>
                <a:latin typeface="Arial"/>
                <a:ea typeface="Arial"/>
                <a:cs typeface="Arial"/>
                <a:sym typeface="Arial"/>
              </a:rPr>
              <a:t>Emerging Trends</a:t>
            </a:r>
            <a:endParaRPr sz="3600" b="1" i="0" u="none" strike="noStrike" cap="none">
              <a:solidFill>
                <a:srgbClr val="FFFFFF"/>
              </a:solidFill>
              <a:latin typeface="Arial"/>
              <a:ea typeface="Arial"/>
              <a:cs typeface="Arial"/>
              <a:sym typeface="Arial"/>
            </a:endParaRPr>
          </a:p>
        </p:txBody>
      </p:sp>
      <p:sp>
        <p:nvSpPr>
          <p:cNvPr id="209" name="Google Shape;209;p10"/>
          <p:cNvSpPr txBox="1"/>
          <p:nvPr/>
        </p:nvSpPr>
        <p:spPr>
          <a:xfrm>
            <a:off x="731520" y="3086100"/>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BDD7EE"/>
                </a:solidFill>
                <a:latin typeface="Arial"/>
                <a:ea typeface="Arial"/>
                <a:cs typeface="Arial"/>
                <a:sym typeface="Arial"/>
              </a:rPr>
              <a:t>Wi-Fi 7  ·  Private 5G  ·  Wireless TSN  </a:t>
            </a:r>
            <a:endParaRPr sz="1400" b="0" i="0" u="none" strike="noStrike" cap="none">
              <a:solidFill>
                <a:srgbClr val="BDD7EE"/>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1"/>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Wi-Fi 7 — Multi-Link Operation (MLO)</a:t>
            </a:r>
            <a:endParaRPr sz="2200" b="1" i="0" u="none" strike="noStrike" cap="none" dirty="0">
              <a:solidFill>
                <a:srgbClr val="1A56A0"/>
              </a:solidFill>
              <a:latin typeface="Arial"/>
              <a:ea typeface="Arial"/>
              <a:cs typeface="Arial"/>
              <a:sym typeface="Arial"/>
            </a:endParaRPr>
          </a:p>
        </p:txBody>
      </p:sp>
      <p:sp>
        <p:nvSpPr>
          <p:cNvPr id="215" name="Google Shape;215;p11"/>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11"/>
          <p:cNvSpPr/>
          <p:nvPr/>
        </p:nvSpPr>
        <p:spPr>
          <a:xfrm>
            <a:off x="36576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7" name="Google Shape;217;p11"/>
          <p:cNvSpPr txBox="1"/>
          <p:nvPr/>
        </p:nvSpPr>
        <p:spPr>
          <a:xfrm>
            <a:off x="36576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2.4 GHz</a:t>
            </a:r>
            <a:endParaRPr sz="1600" b="1" i="0" u="none" strike="noStrike" cap="none">
              <a:solidFill>
                <a:srgbClr val="FFFFFF"/>
              </a:solidFill>
              <a:latin typeface="Arial"/>
              <a:ea typeface="Arial"/>
              <a:cs typeface="Arial"/>
              <a:sym typeface="Arial"/>
            </a:endParaRPr>
          </a:p>
        </p:txBody>
      </p:sp>
      <p:sp>
        <p:nvSpPr>
          <p:cNvPr id="218" name="Google Shape;218;p11"/>
          <p:cNvSpPr/>
          <p:nvPr/>
        </p:nvSpPr>
        <p:spPr>
          <a:xfrm>
            <a:off x="329184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9" name="Google Shape;219;p11"/>
          <p:cNvSpPr txBox="1"/>
          <p:nvPr/>
        </p:nvSpPr>
        <p:spPr>
          <a:xfrm>
            <a:off x="329184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5 GHz</a:t>
            </a:r>
            <a:endParaRPr sz="1600" b="1" i="0" u="none" strike="noStrike" cap="none">
              <a:solidFill>
                <a:srgbClr val="FFFFFF"/>
              </a:solidFill>
              <a:latin typeface="Arial"/>
              <a:ea typeface="Arial"/>
              <a:cs typeface="Arial"/>
              <a:sym typeface="Arial"/>
            </a:endParaRPr>
          </a:p>
        </p:txBody>
      </p:sp>
      <p:sp>
        <p:nvSpPr>
          <p:cNvPr id="220" name="Google Shape;220;p11"/>
          <p:cNvSpPr/>
          <p:nvPr/>
        </p:nvSpPr>
        <p:spPr>
          <a:xfrm>
            <a:off x="6217920" y="1131570"/>
            <a:ext cx="2469000" cy="65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11"/>
          <p:cNvSpPr txBox="1"/>
          <p:nvPr/>
        </p:nvSpPr>
        <p:spPr>
          <a:xfrm>
            <a:off x="6217920" y="1131570"/>
            <a:ext cx="2469000" cy="65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6 GHz</a:t>
            </a:r>
            <a:endParaRPr sz="1600" b="1" i="0" u="none" strike="noStrike" cap="none">
              <a:solidFill>
                <a:srgbClr val="FFFFFF"/>
              </a:solidFill>
              <a:latin typeface="Arial"/>
              <a:ea typeface="Arial"/>
              <a:cs typeface="Arial"/>
              <a:sym typeface="Arial"/>
            </a:endParaRPr>
          </a:p>
        </p:txBody>
      </p:sp>
      <p:sp>
        <p:nvSpPr>
          <p:cNvPr id="222" name="Google Shape;222;p11"/>
          <p:cNvSpPr txBox="1"/>
          <p:nvPr/>
        </p:nvSpPr>
        <p:spPr>
          <a:xfrm>
            <a:off x="365760" y="1831570"/>
            <a:ext cx="8412600" cy="411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All three frequency bands used simultaneously</a:t>
            </a:r>
            <a:endParaRPr sz="1200" b="0" i="1" u="none" strike="noStrike" cap="none">
              <a:solidFill>
                <a:srgbClr val="666666"/>
              </a:solidFill>
              <a:latin typeface="Arial"/>
              <a:ea typeface="Arial"/>
              <a:cs typeface="Arial"/>
              <a:sym typeface="Arial"/>
            </a:endParaRPr>
          </a:p>
        </p:txBody>
      </p:sp>
      <p:sp>
        <p:nvSpPr>
          <p:cNvPr id="223" name="Google Shape;223;p11"/>
          <p:cNvSpPr txBox="1"/>
          <p:nvPr/>
        </p:nvSpPr>
        <p:spPr>
          <a:xfrm>
            <a:off x="548640" y="2293170"/>
            <a:ext cx="8046600" cy="5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200" b="0" i="0" u="none" strike="noStrike" cap="none">
                <a:solidFill>
                  <a:srgbClr val="444444"/>
                </a:solidFill>
                <a:latin typeface="Arial"/>
                <a:ea typeface="Arial"/>
                <a:cs typeface="Arial"/>
                <a:sym typeface="Arial"/>
              </a:rPr>
              <a:t>•  MLO provides packet-level diversity — a dropped packet on one band is recovered on another without retransmission delay.</a:t>
            </a:r>
            <a:endParaRPr sz="1300" b="0" i="0" u="none" strike="noStrike" cap="none">
              <a:solidFill>
                <a:srgbClr val="444444"/>
              </a:solidFill>
              <a:latin typeface="Arial"/>
              <a:ea typeface="Arial"/>
              <a:cs typeface="Arial"/>
              <a:sym typeface="Arial"/>
            </a:endParaRPr>
          </a:p>
        </p:txBody>
      </p:sp>
      <p:sp>
        <p:nvSpPr>
          <p:cNvPr id="224" name="Google Shape;224;p11"/>
          <p:cNvSpPr txBox="1"/>
          <p:nvPr/>
        </p:nvSpPr>
        <p:spPr>
          <a:xfrm>
            <a:off x="548640" y="2793170"/>
            <a:ext cx="8046600" cy="5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200" b="0" i="0" u="none" strike="noStrike" cap="none">
                <a:solidFill>
                  <a:srgbClr val="444444"/>
                </a:solidFill>
                <a:latin typeface="Arial"/>
                <a:ea typeface="Arial"/>
                <a:cs typeface="Arial"/>
                <a:sym typeface="Arial"/>
              </a:rPr>
              <a:t>•  IEEE 802.11be (Wi-Fi 7) is finalised. Draft 1.0 of Wi-Fi 8 (802.11bn) completed August 2025.</a:t>
            </a:r>
            <a:endParaRPr sz="1300" b="0" i="0" u="none" strike="noStrike" cap="none">
              <a:solidFill>
                <a:srgbClr val="444444"/>
              </a:solidFill>
              <a:latin typeface="Arial"/>
              <a:ea typeface="Arial"/>
              <a:cs typeface="Arial"/>
              <a:sym typeface="Arial"/>
            </a:endParaRPr>
          </a:p>
        </p:txBody>
      </p:sp>
      <p:pic>
        <p:nvPicPr>
          <p:cNvPr id="225" name="Google Shape;225;p11" descr="image.jpg"/>
          <p:cNvPicPr preferRelativeResize="0"/>
          <p:nvPr/>
        </p:nvPicPr>
        <p:blipFill rotWithShape="1">
          <a:blip r:embed="rId3">
            <a:alphaModFix/>
          </a:blip>
          <a:srcRect/>
          <a:stretch/>
        </p:blipFill>
        <p:spPr>
          <a:xfrm>
            <a:off x="2493576" y="3353170"/>
            <a:ext cx="4156847" cy="1340330"/>
          </a:xfrm>
          <a:prstGeom prst="rect">
            <a:avLst/>
          </a:prstGeom>
          <a:noFill/>
          <a:ln>
            <a:noFill/>
          </a:ln>
        </p:spPr>
      </p:pic>
      <p:sp>
        <p:nvSpPr>
          <p:cNvPr id="226" name="Google Shape;226;p11"/>
          <p:cNvSpPr txBox="1"/>
          <p:nvPr/>
        </p:nvSpPr>
        <p:spPr>
          <a:xfrm>
            <a:off x="365760" y="4723500"/>
            <a:ext cx="8412480" cy="38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 sz="1100" b="0" i="1" u="none" strike="noStrike" cap="none">
                <a:solidFill>
                  <a:srgbClr val="666666"/>
                </a:solidFill>
                <a:latin typeface="Arial"/>
                <a:ea typeface="Arial"/>
                <a:cs typeface="Arial"/>
                <a:sym typeface="Arial"/>
              </a:rPr>
              <a:t>Wi-Fi 6 uses 2.4/5 GHz bands, while Wi-Fi 7 adds the 6 GHz band for simultaneous multi-link operation.</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0"/>
        <p:cNvGrpSpPr/>
        <p:nvPr/>
      </p:nvGrpSpPr>
      <p:grpSpPr>
        <a:xfrm>
          <a:off x="0" y="0"/>
          <a:ext cx="0" cy="0"/>
          <a:chOff x="0" y="0"/>
          <a:chExt cx="0" cy="0"/>
        </a:xfrm>
      </p:grpSpPr>
      <p:sp>
        <p:nvSpPr>
          <p:cNvPr id="231" name="Google Shape;231;p13"/>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dirty="0">
                <a:solidFill>
                  <a:srgbClr val="1A56A0"/>
                </a:solidFill>
                <a:latin typeface="Arial"/>
                <a:ea typeface="Arial"/>
                <a:cs typeface="Arial"/>
                <a:sym typeface="Arial"/>
              </a:rPr>
              <a:t> Private 5G &amp; Wireless Time-Sensitive Networking</a:t>
            </a:r>
            <a:endParaRPr sz="2200" b="1" i="0" u="none" strike="noStrike" cap="none" dirty="0">
              <a:solidFill>
                <a:srgbClr val="1A56A0"/>
              </a:solidFill>
              <a:latin typeface="Arial"/>
              <a:ea typeface="Arial"/>
              <a:cs typeface="Arial"/>
              <a:sym typeface="Arial"/>
            </a:endParaRPr>
          </a:p>
        </p:txBody>
      </p:sp>
      <p:sp>
        <p:nvSpPr>
          <p:cNvPr id="232" name="Google Shape;232;p13"/>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3" name="Google Shape;233;p13"/>
          <p:cNvSpPr txBox="1"/>
          <p:nvPr/>
        </p:nvSpPr>
        <p:spPr>
          <a:xfrm>
            <a:off x="267885" y="1675413"/>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Companies build and manage their own 5G network instead of using public infrastructure.</a:t>
            </a:r>
            <a:endParaRPr sz="1300" b="0" i="0" u="none" strike="noStrike" cap="none">
              <a:solidFill>
                <a:srgbClr val="444444"/>
              </a:solidFill>
              <a:latin typeface="Arial"/>
              <a:ea typeface="Arial"/>
              <a:cs typeface="Arial"/>
              <a:sym typeface="Arial"/>
            </a:endParaRPr>
          </a:p>
        </p:txBody>
      </p:sp>
      <p:sp>
        <p:nvSpPr>
          <p:cNvPr id="234" name="Google Shape;234;p13"/>
          <p:cNvSpPr txBox="1"/>
          <p:nvPr/>
        </p:nvSpPr>
        <p:spPr>
          <a:xfrm>
            <a:off x="267810" y="2145413"/>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Full control over security, service levels, and spectrum allocation.</a:t>
            </a:r>
            <a:endParaRPr sz="1300" b="0" i="0" u="none" strike="noStrike" cap="none">
              <a:solidFill>
                <a:srgbClr val="444444"/>
              </a:solidFill>
              <a:latin typeface="Arial"/>
              <a:ea typeface="Arial"/>
              <a:cs typeface="Arial"/>
              <a:sym typeface="Arial"/>
            </a:endParaRPr>
          </a:p>
        </p:txBody>
      </p:sp>
      <p:sp>
        <p:nvSpPr>
          <p:cNvPr id="235" name="Google Shape;235;p13"/>
          <p:cNvSpPr txBox="1"/>
          <p:nvPr/>
        </p:nvSpPr>
        <p:spPr>
          <a:xfrm>
            <a:off x="267735" y="2571750"/>
            <a:ext cx="4106100" cy="470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Optimised for deterministic, high-density industrial environments such as factories.</a:t>
            </a:r>
            <a:endParaRPr sz="1300" b="0" i="0" u="none" strike="noStrike" cap="none">
              <a:solidFill>
                <a:srgbClr val="444444"/>
              </a:solidFill>
              <a:latin typeface="Arial"/>
              <a:ea typeface="Arial"/>
              <a:cs typeface="Arial"/>
              <a:sym typeface="Arial"/>
            </a:endParaRPr>
          </a:p>
        </p:txBody>
      </p:sp>
      <p:sp>
        <p:nvSpPr>
          <p:cNvPr id="236" name="Google Shape;236;p13"/>
          <p:cNvSpPr txBox="1"/>
          <p:nvPr/>
        </p:nvSpPr>
        <p:spPr>
          <a:xfrm>
            <a:off x="365760" y="3840000"/>
            <a:ext cx="4106240" cy="47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444444"/>
              </a:solidFill>
              <a:latin typeface="Arial"/>
              <a:ea typeface="Arial"/>
              <a:cs typeface="Arial"/>
              <a:sym typeface="Arial"/>
            </a:endParaRPr>
          </a:p>
        </p:txBody>
      </p:sp>
      <p:sp>
        <p:nvSpPr>
          <p:cNvPr id="237" name="Google Shape;237;p13"/>
          <p:cNvSpPr txBox="1"/>
          <p:nvPr/>
        </p:nvSpPr>
        <p:spPr>
          <a:xfrm>
            <a:off x="365760" y="1150000"/>
            <a:ext cx="4106240" cy="42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Private 5G Campus Networks</a:t>
            </a:r>
            <a:endParaRPr/>
          </a:p>
        </p:txBody>
      </p:sp>
      <p:sp>
        <p:nvSpPr>
          <p:cNvPr id="238" name="Google Shape;238;p13"/>
          <p:cNvSpPr txBox="1"/>
          <p:nvPr/>
        </p:nvSpPr>
        <p:spPr>
          <a:xfrm>
            <a:off x="4672000" y="1150000"/>
            <a:ext cx="4106240" cy="420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600" b="1" i="0" u="none" strike="noStrike" cap="none">
                <a:solidFill>
                  <a:srgbClr val="1A56A0"/>
                </a:solidFill>
                <a:latin typeface="Arial"/>
                <a:ea typeface="Arial"/>
                <a:cs typeface="Arial"/>
                <a:sym typeface="Arial"/>
              </a:rPr>
              <a:t>Wireless Time-Sensitive Networking (TSN)</a:t>
            </a:r>
            <a:endParaRPr/>
          </a:p>
        </p:txBody>
      </p:sp>
      <p:sp>
        <p:nvSpPr>
          <p:cNvPr id="239" name="Google Shape;239;p13"/>
          <p:cNvSpPr txBox="1"/>
          <p:nvPr/>
        </p:nvSpPr>
        <p:spPr>
          <a:xfrm>
            <a:off x="4672000" y="1620000"/>
            <a:ext cx="4106240" cy="70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TSN ensures data arrives at the exact required time - critical for real-time control.</a:t>
            </a:r>
            <a:endParaRPr sz="1000" b="0" i="0" u="none" strike="noStrike" cap="none">
              <a:solidFill>
                <a:srgbClr val="444444"/>
              </a:solidFill>
              <a:latin typeface="Arial"/>
              <a:ea typeface="Arial"/>
              <a:cs typeface="Arial"/>
              <a:sym typeface="Arial"/>
            </a:endParaRPr>
          </a:p>
        </p:txBody>
      </p:sp>
      <p:sp>
        <p:nvSpPr>
          <p:cNvPr id="240" name="Google Shape;240;p13"/>
          <p:cNvSpPr txBox="1"/>
          <p:nvPr/>
        </p:nvSpPr>
        <p:spPr>
          <a:xfrm>
            <a:off x="4672075" y="2145425"/>
            <a:ext cx="4106100" cy="699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Closes the "last mile" gap: wireless now matches wired PROFINET and EtherCAT guarantees.</a:t>
            </a:r>
            <a:endParaRPr sz="1000" b="0" i="0" u="none" strike="noStrike" cap="none">
              <a:solidFill>
                <a:srgbClr val="444444"/>
              </a:solidFill>
              <a:latin typeface="Arial"/>
              <a:ea typeface="Arial"/>
              <a:cs typeface="Arial"/>
              <a:sym typeface="Arial"/>
            </a:endParaRPr>
          </a:p>
        </p:txBody>
      </p:sp>
      <p:sp>
        <p:nvSpPr>
          <p:cNvPr id="241" name="Google Shape;241;p13"/>
          <p:cNvSpPr txBox="1"/>
          <p:nvPr/>
        </p:nvSpPr>
        <p:spPr>
          <a:xfrm>
            <a:off x="4672075" y="2615525"/>
            <a:ext cx="4106100" cy="699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000" b="0" i="0" u="none" strike="noStrike" cap="none">
                <a:solidFill>
                  <a:srgbClr val="444444"/>
                </a:solidFill>
                <a:latin typeface="Arial"/>
                <a:ea typeface="Arial"/>
                <a:cs typeface="Arial"/>
                <a:sym typeface="Arial"/>
              </a:rPr>
              <a:t>•  A single TSN scheduler can drive both wired and wireless robot axes at the same time.</a:t>
            </a:r>
            <a:endParaRPr sz="1000" b="0" i="0" u="none" strike="noStrike" cap="none">
              <a:solidFill>
                <a:srgbClr val="444444"/>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rgbClr val="00717D"/>
            </a:gs>
            <a:gs pos="83000">
              <a:srgbClr val="A8C7FA"/>
            </a:gs>
            <a:gs pos="100000">
              <a:srgbClr val="C5D9FB"/>
            </a:gs>
          </a:gsLst>
          <a:lin ang="5400000" scaled="0"/>
        </a:gradFill>
        <a:effectLst/>
      </p:bgPr>
    </p:bg>
    <p:spTree>
      <p:nvGrpSpPr>
        <p:cNvPr id="1" name="Shape 245"/>
        <p:cNvGrpSpPr/>
        <p:nvPr/>
      </p:nvGrpSpPr>
      <p:grpSpPr>
        <a:xfrm>
          <a:off x="0" y="0"/>
          <a:ext cx="0" cy="0"/>
          <a:chOff x="0" y="0"/>
          <a:chExt cx="0" cy="0"/>
        </a:xfrm>
      </p:grpSpPr>
      <p:sp>
        <p:nvSpPr>
          <p:cNvPr id="246" name="Google Shape;246;p15"/>
          <p:cNvSpPr/>
          <p:nvPr/>
        </p:nvSpPr>
        <p:spPr>
          <a:xfrm>
            <a:off x="0" y="1805940"/>
            <a:ext cx="9144000" cy="178308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7" name="Google Shape;247;p15"/>
          <p:cNvSpPr/>
          <p:nvPr/>
        </p:nvSpPr>
        <p:spPr>
          <a:xfrm>
            <a:off x="731520" y="1828800"/>
            <a:ext cx="7680960" cy="41148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sp>
        <p:nvSpPr>
          <p:cNvPr id="248" name="Google Shape;248;p15"/>
          <p:cNvSpPr/>
          <p:nvPr/>
        </p:nvSpPr>
        <p:spPr>
          <a:xfrm>
            <a:off x="731520" y="2240280"/>
            <a:ext cx="7680960" cy="9144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 sz="3200" b="1" i="0" u="none" strike="noStrike" cap="none">
                <a:solidFill>
                  <a:srgbClr val="FFFFFF"/>
                </a:solidFill>
                <a:latin typeface="Arial"/>
                <a:ea typeface="Arial"/>
                <a:cs typeface="Arial"/>
                <a:sym typeface="Arial"/>
              </a:rPr>
              <a:t>Wireless Standards: Architecture and Protocol Stack</a:t>
            </a:r>
            <a:endParaRPr sz="3200" b="0" i="0" u="none" strike="noStrike" cap="none">
              <a:solidFill>
                <a:srgbClr val="000000"/>
              </a:solidFill>
              <a:latin typeface="Arial"/>
              <a:ea typeface="Arial"/>
              <a:cs typeface="Arial"/>
              <a:sym typeface="Arial"/>
            </a:endParaRPr>
          </a:p>
        </p:txBody>
      </p:sp>
      <p:sp>
        <p:nvSpPr>
          <p:cNvPr id="249" name="Google Shape;249;p15"/>
          <p:cNvSpPr/>
          <p:nvPr/>
        </p:nvSpPr>
        <p:spPr>
          <a:xfrm>
            <a:off x="731520" y="3653307"/>
            <a:ext cx="768096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0F6E78"/>
                </a:solidFill>
                <a:latin typeface="Arial"/>
                <a:ea typeface="Arial"/>
                <a:cs typeface="Arial"/>
                <a:sym typeface="Arial"/>
              </a:rPr>
              <a:t>Wi-Fi (802.11)   ·   Zigbee (802.15.4)   ·   5G New Radio</a:t>
            </a:r>
            <a:endParaRPr sz="15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3"/>
        <p:cNvGrpSpPr/>
        <p:nvPr/>
      </p:nvGrpSpPr>
      <p:grpSpPr>
        <a:xfrm>
          <a:off x="0" y="0"/>
          <a:ext cx="0" cy="0"/>
          <a:chOff x="0" y="0"/>
          <a:chExt cx="0" cy="0"/>
        </a:xfrm>
      </p:grpSpPr>
      <p:sp>
        <p:nvSpPr>
          <p:cNvPr id="254" name="Google Shape;254;p16"/>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802.11 (Wi-Fi)</a:t>
            </a:r>
            <a:endParaRPr sz="2300" b="0" i="0" u="none" strike="noStrike" cap="none" dirty="0">
              <a:solidFill>
                <a:srgbClr val="000000"/>
              </a:solidFill>
              <a:latin typeface="Arial"/>
              <a:ea typeface="Arial"/>
              <a:cs typeface="Arial"/>
              <a:sym typeface="Arial"/>
            </a:endParaRPr>
          </a:p>
        </p:txBody>
      </p:sp>
      <p:sp>
        <p:nvSpPr>
          <p:cNvPr id="255" name="Google Shape;255;p16"/>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6" name="Google Shape;256;p16"/>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Operates on 2.4, 5 and 6 GHz bands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CSMA/CA for channel access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Wi-Fi 6 adds OFDMA and TWT</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802.11r enables fast roaming for AGVs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Throughput up to 9.6 Gbps</a:t>
            </a:r>
            <a:endParaRPr sz="1500" b="0" i="0" u="none" strike="noStrike" cap="none">
              <a:solidFill>
                <a:srgbClr val="000000"/>
              </a:solidFill>
              <a:latin typeface="Arial"/>
              <a:ea typeface="Arial"/>
              <a:cs typeface="Arial"/>
              <a:sym typeface="Arial"/>
            </a:endParaRPr>
          </a:p>
        </p:txBody>
      </p:sp>
      <p:sp>
        <p:nvSpPr>
          <p:cNvPr id="257" name="Google Shape;257;p16"/>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8" name="Google Shape;258;p16"/>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59" name="Google Shape;259;p16"/>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High speed, huge ecosystem, native TCP/IP</a:t>
            </a:r>
            <a:endParaRPr sz="1100" b="0" i="0" u="none" strike="noStrike" cap="none">
              <a:solidFill>
                <a:srgbClr val="000000"/>
              </a:solidFill>
              <a:latin typeface="Arial"/>
              <a:ea typeface="Arial"/>
              <a:cs typeface="Arial"/>
              <a:sym typeface="Arial"/>
            </a:endParaRPr>
          </a:p>
        </p:txBody>
      </p:sp>
      <p:sp>
        <p:nvSpPr>
          <p:cNvPr id="260" name="Google Shape;260;p16"/>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1" name="Google Shape;261;p16"/>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62" name="Google Shape;262;p16"/>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Unreliable under load, shared spectrum</a:t>
            </a:r>
            <a:endParaRPr sz="1100" b="0" i="0" u="none" strike="noStrike" cap="none">
              <a:solidFill>
                <a:srgbClr val="000000"/>
              </a:solidFill>
              <a:latin typeface="Arial"/>
              <a:ea typeface="Arial"/>
              <a:cs typeface="Arial"/>
              <a:sym typeface="Arial"/>
            </a:endParaRPr>
          </a:p>
        </p:txBody>
      </p:sp>
      <p:sp>
        <p:nvSpPr>
          <p:cNvPr id="263" name="Google Shape;263;p16"/>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64" name="Google Shape;264;p16"/>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Wi-Fi factory deployment</a:t>
            </a:r>
            <a:endParaRPr sz="1200" b="0" i="0" u="none" strike="noStrike" cap="none">
              <a:solidFill>
                <a:srgbClr val="000000"/>
              </a:solidFill>
              <a:latin typeface="Arial"/>
              <a:ea typeface="Arial"/>
              <a:cs typeface="Arial"/>
              <a:sym typeface="Arial"/>
            </a:endParaRPr>
          </a:p>
        </p:txBody>
      </p:sp>
      <p:pic>
        <p:nvPicPr>
          <p:cNvPr id="265" name="Google Shape;265;p16"/>
          <p:cNvPicPr preferRelativeResize="0"/>
          <p:nvPr/>
        </p:nvPicPr>
        <p:blipFill rotWithShape="1">
          <a:blip r:embed="rId3">
            <a:alphaModFix/>
          </a:blip>
          <a:srcRect/>
          <a:stretch/>
        </p:blipFill>
        <p:spPr>
          <a:xfrm>
            <a:off x="4341897" y="1142420"/>
            <a:ext cx="4497303" cy="325127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9"/>
        <p:cNvGrpSpPr/>
        <p:nvPr/>
      </p:nvGrpSpPr>
      <p:grpSpPr>
        <a:xfrm>
          <a:off x="0" y="0"/>
          <a:ext cx="0" cy="0"/>
          <a:chOff x="0" y="0"/>
          <a:chExt cx="0" cy="0"/>
        </a:xfrm>
      </p:grpSpPr>
      <p:sp>
        <p:nvSpPr>
          <p:cNvPr id="270" name="Google Shape;270;p17"/>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802.15.4 / Zigbee</a:t>
            </a:r>
            <a:endParaRPr sz="2300" b="0" i="0" u="none" strike="noStrike" cap="none" dirty="0">
              <a:solidFill>
                <a:srgbClr val="000000"/>
              </a:solidFill>
              <a:latin typeface="Arial"/>
              <a:ea typeface="Arial"/>
              <a:cs typeface="Arial"/>
              <a:sym typeface="Arial"/>
            </a:endParaRPr>
          </a:p>
        </p:txBody>
      </p:sp>
      <p:sp>
        <p:nvSpPr>
          <p:cNvPr id="271" name="Google Shape;271;p17"/>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2" name="Google Shape;272;p17"/>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Low-power wireless WPAN standard</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Runs at 2.4 GHz, up to 250 kbps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Three roles: Coordinator, Router, End Device</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Supports star, tree and mesh topologies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Battery life of 2 to 5 years</a:t>
            </a:r>
            <a:endParaRPr sz="1500" b="0" i="0" u="none" strike="noStrike" cap="none">
              <a:solidFill>
                <a:srgbClr val="000000"/>
              </a:solidFill>
              <a:latin typeface="Arial"/>
              <a:ea typeface="Arial"/>
              <a:cs typeface="Arial"/>
              <a:sym typeface="Arial"/>
            </a:endParaRPr>
          </a:p>
        </p:txBody>
      </p:sp>
      <p:sp>
        <p:nvSpPr>
          <p:cNvPr id="273" name="Google Shape;273;p17"/>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4" name="Google Shape;274;p17"/>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75" name="Google Shape;275;p17"/>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Long battery life, low cost, self-healing mesh</a:t>
            </a:r>
            <a:endParaRPr sz="1100" b="0" i="0" u="none" strike="noStrike" cap="none">
              <a:solidFill>
                <a:srgbClr val="000000"/>
              </a:solidFill>
              <a:latin typeface="Arial"/>
              <a:ea typeface="Arial"/>
              <a:cs typeface="Arial"/>
              <a:sym typeface="Arial"/>
            </a:endParaRPr>
          </a:p>
        </p:txBody>
      </p:sp>
      <p:sp>
        <p:nvSpPr>
          <p:cNvPr id="276" name="Google Shape;276;p17"/>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7" name="Google Shape;277;p17"/>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78" name="Google Shape;278;p17"/>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Low data rate, short range of 10 to 100 m</a:t>
            </a:r>
            <a:endParaRPr sz="1100" b="0" i="0" u="none" strike="noStrike" cap="none">
              <a:solidFill>
                <a:srgbClr val="000000"/>
              </a:solidFill>
              <a:latin typeface="Arial"/>
              <a:ea typeface="Arial"/>
              <a:cs typeface="Arial"/>
              <a:sym typeface="Arial"/>
            </a:endParaRPr>
          </a:p>
        </p:txBody>
      </p:sp>
      <p:sp>
        <p:nvSpPr>
          <p:cNvPr id="279" name="Google Shape;279;p17"/>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80" name="Google Shape;280;p17"/>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Zigbee mesh topology</a:t>
            </a:r>
            <a:endParaRPr sz="1200" b="0" i="0" u="none" strike="noStrike" cap="none">
              <a:solidFill>
                <a:srgbClr val="000000"/>
              </a:solidFill>
              <a:latin typeface="Arial"/>
              <a:ea typeface="Arial"/>
              <a:cs typeface="Arial"/>
              <a:sym typeface="Arial"/>
            </a:endParaRPr>
          </a:p>
        </p:txBody>
      </p:sp>
      <p:pic>
        <p:nvPicPr>
          <p:cNvPr id="281" name="Google Shape;281;p17"/>
          <p:cNvPicPr preferRelativeResize="0"/>
          <p:nvPr/>
        </p:nvPicPr>
        <p:blipFill rotWithShape="1">
          <a:blip r:embed="rId3">
            <a:alphaModFix/>
          </a:blip>
          <a:srcRect/>
          <a:stretch/>
        </p:blipFill>
        <p:spPr>
          <a:xfrm>
            <a:off x="4389120" y="809481"/>
            <a:ext cx="4222892" cy="2686680"/>
          </a:xfrm>
          <a:prstGeom prst="rect">
            <a:avLst/>
          </a:prstGeom>
          <a:noFill/>
          <a:ln>
            <a:noFill/>
          </a:ln>
        </p:spPr>
      </p:pic>
      <p:pic>
        <p:nvPicPr>
          <p:cNvPr id="282" name="Google Shape;282;p17"/>
          <p:cNvPicPr preferRelativeResize="0"/>
          <p:nvPr/>
        </p:nvPicPr>
        <p:blipFill rotWithShape="1">
          <a:blip r:embed="rId4">
            <a:alphaModFix/>
          </a:blip>
          <a:srcRect l="9315" r="6176" b="6204"/>
          <a:stretch/>
        </p:blipFill>
        <p:spPr>
          <a:xfrm>
            <a:off x="5014173" y="3496161"/>
            <a:ext cx="2142187" cy="15996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6"/>
        <p:cNvGrpSpPr/>
        <p:nvPr/>
      </p:nvGrpSpPr>
      <p:grpSpPr>
        <a:xfrm>
          <a:off x="0" y="0"/>
          <a:ext cx="0" cy="0"/>
          <a:chOff x="0" y="0"/>
          <a:chExt cx="0" cy="0"/>
        </a:xfrm>
      </p:grpSpPr>
      <p:sp>
        <p:nvSpPr>
          <p:cNvPr id="287" name="Google Shape;287;p18"/>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5G New Radio (NR)</a:t>
            </a:r>
            <a:endParaRPr sz="2300" b="0" i="0" u="none" strike="noStrike" cap="none" dirty="0">
              <a:solidFill>
                <a:srgbClr val="000000"/>
              </a:solidFill>
              <a:latin typeface="Arial"/>
              <a:ea typeface="Arial"/>
              <a:cs typeface="Arial"/>
              <a:sym typeface="Arial"/>
            </a:endParaRPr>
          </a:p>
        </p:txBody>
      </p:sp>
      <p:sp>
        <p:nvSpPr>
          <p:cNvPr id="288" name="Google Shape;288;p18"/>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9" name="Google Shape;289;p18"/>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Standardised by 3GPP, uses licensed bands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Three classes: eMBB, mMTC, URLLC</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URLLC reaches under 1 ms at 99.999%</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Private campus networks kept on site</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Acts as a TSN bridge from Release 16</a:t>
            </a:r>
            <a:endParaRPr sz="1500" b="0" i="0" u="none" strike="noStrike" cap="none">
              <a:solidFill>
                <a:srgbClr val="000000"/>
              </a:solidFill>
              <a:latin typeface="Arial"/>
              <a:ea typeface="Arial"/>
              <a:cs typeface="Arial"/>
              <a:sym typeface="Arial"/>
            </a:endParaRPr>
          </a:p>
        </p:txBody>
      </p:sp>
      <p:sp>
        <p:nvSpPr>
          <p:cNvPr id="290" name="Google Shape;290;p18"/>
          <p:cNvSpPr/>
          <p:nvPr/>
        </p:nvSpPr>
        <p:spPr>
          <a:xfrm>
            <a:off x="4102032" y="417737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1" name="Google Shape;291;p18"/>
          <p:cNvSpPr/>
          <p:nvPr/>
        </p:nvSpPr>
        <p:spPr>
          <a:xfrm>
            <a:off x="4102032" y="417737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292" name="Google Shape;292;p18"/>
          <p:cNvSpPr/>
          <p:nvPr/>
        </p:nvSpPr>
        <p:spPr>
          <a:xfrm>
            <a:off x="5035321" y="4232953"/>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Licensed spectrum, deterministic, private networks</a:t>
            </a:r>
            <a:endParaRPr sz="1100" b="0" i="0" u="none" strike="noStrike" cap="none">
              <a:solidFill>
                <a:srgbClr val="000000"/>
              </a:solidFill>
              <a:latin typeface="Arial"/>
              <a:ea typeface="Arial"/>
              <a:cs typeface="Arial"/>
              <a:sym typeface="Arial"/>
            </a:endParaRPr>
          </a:p>
        </p:txBody>
      </p:sp>
      <p:sp>
        <p:nvSpPr>
          <p:cNvPr id="293" name="Google Shape;293;p18"/>
          <p:cNvSpPr/>
          <p:nvPr/>
        </p:nvSpPr>
        <p:spPr>
          <a:xfrm>
            <a:off x="4102032" y="458885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4" name="Google Shape;294;p18"/>
          <p:cNvSpPr/>
          <p:nvPr/>
        </p:nvSpPr>
        <p:spPr>
          <a:xfrm>
            <a:off x="4102032" y="458885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295" name="Google Shape;295;p18"/>
          <p:cNvSpPr/>
          <p:nvPr/>
        </p:nvSpPr>
        <p:spPr>
          <a:xfrm>
            <a:off x="5016432" y="4599432"/>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Costly, complex, power-hungry</a:t>
            </a:r>
            <a:endParaRPr sz="1100" b="0" i="0" u="none" strike="noStrike" cap="none">
              <a:solidFill>
                <a:srgbClr val="000000"/>
              </a:solidFill>
              <a:latin typeface="Arial"/>
              <a:ea typeface="Arial"/>
              <a:cs typeface="Arial"/>
              <a:sym typeface="Arial"/>
            </a:endParaRPr>
          </a:p>
        </p:txBody>
      </p:sp>
      <p:sp>
        <p:nvSpPr>
          <p:cNvPr id="296" name="Google Shape;296;p18"/>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297" name="Google Shape;297;p18"/>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Private 5G campus network</a:t>
            </a:r>
            <a:endParaRPr sz="1200" b="0" i="0" u="none" strike="noStrike" cap="none">
              <a:solidFill>
                <a:srgbClr val="000000"/>
              </a:solidFill>
              <a:latin typeface="Arial"/>
              <a:ea typeface="Arial"/>
              <a:cs typeface="Arial"/>
              <a:sym typeface="Arial"/>
            </a:endParaRPr>
          </a:p>
        </p:txBody>
      </p:sp>
      <p:pic>
        <p:nvPicPr>
          <p:cNvPr id="298" name="Google Shape;298;p18"/>
          <p:cNvPicPr preferRelativeResize="0"/>
          <p:nvPr/>
        </p:nvPicPr>
        <p:blipFill rotWithShape="1">
          <a:blip r:embed="rId3">
            <a:alphaModFix/>
          </a:blip>
          <a:srcRect/>
          <a:stretch/>
        </p:blipFill>
        <p:spPr>
          <a:xfrm>
            <a:off x="4348376" y="1382332"/>
            <a:ext cx="4271344" cy="2553935"/>
          </a:xfrm>
          <a:prstGeom prst="rect">
            <a:avLst/>
          </a:prstGeom>
          <a:noFill/>
          <a:ln>
            <a:noFill/>
          </a:ln>
        </p:spPr>
      </p:pic>
      <p:pic>
        <p:nvPicPr>
          <p:cNvPr id="299" name="Google Shape;299;p18" descr="5G new radio fixed wireless access portfolio introduced | Electronics360"/>
          <p:cNvPicPr preferRelativeResize="0"/>
          <p:nvPr/>
        </p:nvPicPr>
        <p:blipFill rotWithShape="1">
          <a:blip r:embed="rId4">
            <a:alphaModFix/>
          </a:blip>
          <a:srcRect l="27411" t="7198" r="19975" b="4925"/>
          <a:stretch/>
        </p:blipFill>
        <p:spPr>
          <a:xfrm rot="-158101">
            <a:off x="976344" y="3087595"/>
            <a:ext cx="2201523" cy="189008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pic>
        <p:nvPicPr>
          <p:cNvPr id="6" name="Picture 5">
            <a:extLst>
              <a:ext uri="{FF2B5EF4-FFF2-40B4-BE49-F238E27FC236}">
                <a16:creationId xmlns:a16="http://schemas.microsoft.com/office/drawing/2014/main" id="{BC6E61A9-4A63-B5E1-6231-98D252ECFCD6}"/>
              </a:ext>
            </a:extLst>
          </p:cNvPr>
          <p:cNvPicPr>
            <a:picLocks noChangeAspect="1"/>
          </p:cNvPicPr>
          <p:nvPr/>
        </p:nvPicPr>
        <p:blipFill>
          <a:blip r:embed="rId3"/>
          <a:stretch>
            <a:fillRect/>
          </a:stretch>
        </p:blipFill>
        <p:spPr>
          <a:xfrm>
            <a:off x="0" y="0"/>
            <a:ext cx="8293608"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pic>
        <p:nvPicPr>
          <p:cNvPr id="348" name="Google Shape;348;p49"/>
          <p:cNvPicPr preferRelativeResize="0"/>
          <p:nvPr/>
        </p:nvPicPr>
        <p:blipFill rotWithShape="1">
          <a:blip r:embed="rId3">
            <a:alphaModFix/>
          </a:blip>
          <a:srcRect/>
          <a:stretch/>
        </p:blipFill>
        <p:spPr>
          <a:xfrm>
            <a:off x="5242560" y="1151533"/>
            <a:ext cx="3596640" cy="1344930"/>
          </a:xfrm>
          <a:prstGeom prst="rect">
            <a:avLst/>
          </a:prstGeom>
          <a:noFill/>
          <a:ln>
            <a:noFill/>
          </a:ln>
        </p:spPr>
      </p:pic>
      <p:pic>
        <p:nvPicPr>
          <p:cNvPr id="349" name="Google Shape;349;p49"/>
          <p:cNvPicPr preferRelativeResize="0"/>
          <p:nvPr/>
        </p:nvPicPr>
        <p:blipFill rotWithShape="1">
          <a:blip r:embed="rId4">
            <a:alphaModFix/>
          </a:blip>
          <a:srcRect/>
          <a:stretch/>
        </p:blipFill>
        <p:spPr>
          <a:xfrm>
            <a:off x="4957873" y="2613425"/>
            <a:ext cx="2107944" cy="1775637"/>
          </a:xfrm>
          <a:prstGeom prst="rect">
            <a:avLst/>
          </a:prstGeom>
          <a:noFill/>
          <a:ln>
            <a:noFill/>
          </a:ln>
        </p:spPr>
      </p:pic>
      <p:sp>
        <p:nvSpPr>
          <p:cNvPr id="350" name="Google Shape;350;p49"/>
          <p:cNvSpPr txBox="1"/>
          <p:nvPr/>
        </p:nvSpPr>
        <p:spPr>
          <a:xfrm>
            <a:off x="476092" y="520544"/>
            <a:ext cx="4375518" cy="418576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Evaluation example</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Automated Production Cell Scenario</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Industry 4.0 production cell has different communication needs.</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2 collaborative robots(cobots) require 1 ms latency and very high reliability.</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Sensors send small data packets every 30 seconds.</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AGVs need 10 Mbps video links with maximum 10 ms latency.</a:t>
            </a:r>
            <a:endParaRPr/>
          </a:p>
          <a:p>
            <a:pPr marL="0" marR="0" lvl="0" indent="0" algn="l" rtl="0">
              <a:lnSpc>
                <a:spcPct val="100000"/>
              </a:lnSpc>
              <a:spcBef>
                <a:spcPts val="0"/>
              </a:spcBef>
              <a:spcAft>
                <a:spcPts val="0"/>
              </a:spcAft>
              <a:buNone/>
            </a:pPr>
            <a:br>
              <a:rPr lang="en" sz="1400" b="0" i="0" u="none" strike="noStrike" cap="none">
                <a:solidFill>
                  <a:srgbClr val="000000"/>
                </a:solidFill>
                <a:latin typeface="Arial"/>
                <a:ea typeface="Arial"/>
                <a:cs typeface="Arial"/>
                <a:sym typeface="Arial"/>
              </a:rPr>
            </a:br>
            <a:r>
              <a:rPr lang="en" sz="1400" b="0" i="0" u="none" strike="noStrike" cap="none">
                <a:solidFill>
                  <a:srgbClr val="000000"/>
                </a:solidFill>
                <a:latin typeface="Arial"/>
                <a:ea typeface="Arial"/>
                <a:cs typeface="Arial"/>
                <a:sym typeface="Arial"/>
              </a:rPr>
              <a:t>• Machine vision station transfers images to an edge server in 0.5 s</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51" name="Google Shape;351;p49"/>
          <p:cNvPicPr preferRelativeResize="0"/>
          <p:nvPr/>
        </p:nvPicPr>
        <p:blipFill rotWithShape="1">
          <a:blip r:embed="rId5">
            <a:alphaModFix/>
          </a:blip>
          <a:srcRect/>
          <a:stretch/>
        </p:blipFill>
        <p:spPr>
          <a:xfrm>
            <a:off x="7065817" y="2613425"/>
            <a:ext cx="1773383" cy="177563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pic>
        <p:nvPicPr>
          <p:cNvPr id="356" name="Google Shape;356;p50"/>
          <p:cNvPicPr preferRelativeResize="0"/>
          <p:nvPr/>
        </p:nvPicPr>
        <p:blipFill rotWithShape="1">
          <a:blip r:embed="rId3">
            <a:alphaModFix/>
          </a:blip>
          <a:srcRect/>
          <a:stretch/>
        </p:blipFill>
        <p:spPr>
          <a:xfrm>
            <a:off x="521435" y="264496"/>
            <a:ext cx="7889533" cy="45191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51"/>
          <p:cNvSpPr txBox="1"/>
          <p:nvPr/>
        </p:nvSpPr>
        <p:spPr>
          <a:xfrm>
            <a:off x="294722" y="284561"/>
            <a:ext cx="8599895" cy="31085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Deployment Challenges in Industrial Environments</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EMI from frequency converters, arc welders, and servo drives can disturb wireless communication</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Metallic factory environments cause multipath fading and signal dead zones</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6 and 5G handle multipath better than Zigbee because they use OFDM-based transmission</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Zigbee, and Bluetooth can interfere because they share the 2.4 GHz band</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Cybersecurity depends on correct configuration, authentication, encryption, and key management</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Indoor coverage is limited and must be carefully planned for Wi-Fi, Zigbee, and 5G mmWave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62" name="Google Shape;362;p51"/>
          <p:cNvPicPr preferRelativeResize="0"/>
          <p:nvPr/>
        </p:nvPicPr>
        <p:blipFill rotWithShape="1">
          <a:blip r:embed="rId3">
            <a:alphaModFix/>
          </a:blip>
          <a:srcRect/>
          <a:stretch/>
        </p:blipFill>
        <p:spPr>
          <a:xfrm>
            <a:off x="460977" y="3393104"/>
            <a:ext cx="8093575" cy="167766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52"/>
          <p:cNvSpPr txBox="1"/>
          <p:nvPr/>
        </p:nvSpPr>
        <p:spPr>
          <a:xfrm>
            <a:off x="604562" y="491207"/>
            <a:ext cx="7987775" cy="431506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368" name="Google Shape;368;p52"/>
          <p:cNvSpPr txBox="1"/>
          <p:nvPr/>
        </p:nvSpPr>
        <p:spPr>
          <a:xfrm>
            <a:off x="628542" y="237543"/>
            <a:ext cx="7963795" cy="2893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00000"/>
                </a:solidFill>
                <a:latin typeface="Arial"/>
                <a:ea typeface="Arial"/>
                <a:cs typeface="Arial"/>
                <a:sym typeface="Arial"/>
              </a:rPr>
              <a:t>Pros and Cons Summary</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5G URLLC provides the best performance for critical real-time control because it offers ultra-low latency, high reliability, licensed spectrum, and TSN support. However, it has high deployment costs, requires complex infrastructure, and consumes more energy.</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 Wi-Fi 6 is suitable for AGVs and machine vision because it provides high throughput and has a mature ecosystem, but it is non-deterministic and operates in shared spectrum.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 sz="1400" b="0" i="0" u="none" strike="noStrike" cap="none">
                <a:solidFill>
                  <a:srgbClr val="000000"/>
                </a:solidFill>
                <a:latin typeface="Arial"/>
                <a:ea typeface="Arial"/>
                <a:cs typeface="Arial"/>
                <a:sym typeface="Arial"/>
              </a:rPr>
              <a:t>Zigbee is the best option for low-power sensor networks because it is inexpensive, energy-efficient, and supports mesh networking, but it has limited throughput, higher latency, and security depends strongly on proper key management.</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graphicFrame>
        <p:nvGraphicFramePr>
          <p:cNvPr id="369" name="Google Shape;369;p52"/>
          <p:cNvGraphicFramePr/>
          <p:nvPr/>
        </p:nvGraphicFramePr>
        <p:xfrm>
          <a:off x="628542" y="3384307"/>
          <a:ext cx="7963750" cy="1432600"/>
        </p:xfrm>
        <a:graphic>
          <a:graphicData uri="http://schemas.openxmlformats.org/drawingml/2006/table">
            <a:tbl>
              <a:tblPr>
                <a:noFill/>
                <a:tableStyleId>{5830F60D-B96F-4FD6-A1FE-4A902E60987B}</a:tableStyleId>
              </a:tblPr>
              <a:tblGrid>
                <a:gridCol w="1592750">
                  <a:extLst>
                    <a:ext uri="{9D8B030D-6E8A-4147-A177-3AD203B41FA5}">
                      <a16:colId xmlns:a16="http://schemas.microsoft.com/office/drawing/2014/main" val="20000"/>
                    </a:ext>
                  </a:extLst>
                </a:gridCol>
                <a:gridCol w="1592750">
                  <a:extLst>
                    <a:ext uri="{9D8B030D-6E8A-4147-A177-3AD203B41FA5}">
                      <a16:colId xmlns:a16="http://schemas.microsoft.com/office/drawing/2014/main" val="20001"/>
                    </a:ext>
                  </a:extLst>
                </a:gridCol>
                <a:gridCol w="1592750">
                  <a:extLst>
                    <a:ext uri="{9D8B030D-6E8A-4147-A177-3AD203B41FA5}">
                      <a16:colId xmlns:a16="http://schemas.microsoft.com/office/drawing/2014/main" val="20002"/>
                    </a:ext>
                  </a:extLst>
                </a:gridCol>
                <a:gridCol w="1592750">
                  <a:extLst>
                    <a:ext uri="{9D8B030D-6E8A-4147-A177-3AD203B41FA5}">
                      <a16:colId xmlns:a16="http://schemas.microsoft.com/office/drawing/2014/main" val="20003"/>
                    </a:ext>
                  </a:extLst>
                </a:gridCol>
                <a:gridCol w="1592750">
                  <a:extLst>
                    <a:ext uri="{9D8B030D-6E8A-4147-A177-3AD203B41FA5}">
                      <a16:colId xmlns:a16="http://schemas.microsoft.com/office/drawing/2014/main" val="20004"/>
                    </a:ext>
                  </a:extLst>
                </a:gridCol>
              </a:tblGrid>
              <a:tr h="270650">
                <a:tc>
                  <a:txBody>
                    <a:bodyPr/>
                    <a:lstStyle/>
                    <a:p>
                      <a:pPr marL="0" marR="0" lvl="0" indent="0" algn="l" rtl="0">
                        <a:lnSpc>
                          <a:spcPct val="100000"/>
                        </a:lnSpc>
                        <a:spcBef>
                          <a:spcPts val="0"/>
                        </a:spcBef>
                        <a:spcAft>
                          <a:spcPts val="0"/>
                        </a:spcAft>
                        <a:buNone/>
                      </a:pPr>
                      <a:r>
                        <a:rPr lang="en" sz="1400" u="none" strike="noStrike" cap="none"/>
                        <a:t>Technology</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Latency</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Throughput</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Energy Use</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Best Use</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70650">
                <a:tc>
                  <a:txBody>
                    <a:bodyPr/>
                    <a:lstStyle/>
                    <a:p>
                      <a:pPr marL="0" marR="0" lvl="0" indent="0" algn="l" rtl="0">
                        <a:lnSpc>
                          <a:spcPct val="100000"/>
                        </a:lnSpc>
                        <a:spcBef>
                          <a:spcPts val="0"/>
                        </a:spcBef>
                        <a:spcAft>
                          <a:spcPts val="0"/>
                        </a:spcAft>
                        <a:buNone/>
                      </a:pPr>
                      <a:r>
                        <a:rPr lang="en" sz="1400" u="none" strike="noStrike" cap="none"/>
                        <a:t>5G URLLC</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~1 ms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Very high</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High</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Cobots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60100">
                <a:tc>
                  <a:txBody>
                    <a:bodyPr/>
                    <a:lstStyle/>
                    <a:p>
                      <a:pPr marL="0" marR="0" lvl="0" indent="0" algn="l" rtl="0">
                        <a:lnSpc>
                          <a:spcPct val="100000"/>
                        </a:lnSpc>
                        <a:spcBef>
                          <a:spcPts val="0"/>
                        </a:spcBef>
                        <a:spcAft>
                          <a:spcPts val="0"/>
                        </a:spcAft>
                        <a:buNone/>
                      </a:pPr>
                      <a:r>
                        <a:rPr lang="en" sz="1400" u="none" strike="noStrike" cap="none"/>
                        <a:t>Wi-Fi 6</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2 to 5 ms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Multi-Gbps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Medium</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AGVs and machine vision</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270650">
                <a:tc>
                  <a:txBody>
                    <a:bodyPr/>
                    <a:lstStyle/>
                    <a:p>
                      <a:pPr marL="0" marR="0" lvl="0" indent="0" algn="l" rtl="0">
                        <a:lnSpc>
                          <a:spcPct val="100000"/>
                        </a:lnSpc>
                        <a:spcBef>
                          <a:spcPts val="0"/>
                        </a:spcBef>
                        <a:spcAft>
                          <a:spcPts val="0"/>
                        </a:spcAft>
                        <a:buNone/>
                      </a:pPr>
                      <a:r>
                        <a:rPr lang="en" sz="1400" u="none" strike="noStrike" cap="none"/>
                        <a:t>Zigbee</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15 to 30 ms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250 kbps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Very low</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 sz="1400" u="none" strike="noStrike" cap="none"/>
                        <a:t>Sensors</a:t>
                      </a:r>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20"/>
          <p:cNvSpPr/>
          <p:nvPr/>
        </p:nvSpPr>
        <p:spPr>
          <a:xfrm>
            <a:off x="540023" y="426839"/>
            <a:ext cx="6461671" cy="40853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550"/>
              <a:buFont typeface="Comfortaa"/>
              <a:buNone/>
            </a:pPr>
            <a:r>
              <a:rPr lang="en" sz="2550" b="1" i="0" u="none" strike="noStrike" cap="none">
                <a:solidFill>
                  <a:srgbClr val="1B2DBA"/>
                </a:solidFill>
                <a:latin typeface="Comfortaa"/>
                <a:ea typeface="Comfortaa"/>
                <a:cs typeface="Comfortaa"/>
                <a:sym typeface="Comfortaa"/>
              </a:rPr>
              <a:t>No Single Standard Fits Everything</a:t>
            </a:r>
            <a:endParaRPr sz="2550" b="0" i="0" u="none" strike="noStrike" cap="none">
              <a:solidFill>
                <a:schemeClr val="dk1"/>
              </a:solidFill>
              <a:latin typeface="Calibri"/>
              <a:ea typeface="Calibri"/>
              <a:cs typeface="Calibri"/>
              <a:sym typeface="Calibri"/>
            </a:endParaRPr>
          </a:p>
        </p:txBody>
      </p:sp>
      <p:sp>
        <p:nvSpPr>
          <p:cNvPr id="315" name="Google Shape;315;p20"/>
          <p:cNvSpPr/>
          <p:nvPr/>
        </p:nvSpPr>
        <p:spPr>
          <a:xfrm>
            <a:off x="540023" y="1115690"/>
            <a:ext cx="8521154"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The core finding: </a:t>
            </a:r>
            <a:r>
              <a:rPr lang="en" sz="1150" b="1" i="0" u="none" strike="noStrike" cap="none">
                <a:solidFill>
                  <a:srgbClr val="000000"/>
                </a:solidFill>
                <a:latin typeface="Raleway Medium"/>
                <a:ea typeface="Raleway Medium"/>
                <a:cs typeface="Raleway Medium"/>
                <a:sym typeface="Raleway Medium"/>
              </a:rPr>
              <a:t>each standard excels in a different domain.</a:t>
            </a:r>
            <a:r>
              <a:rPr lang="en" sz="1150" b="0" i="0" u="none" strike="noStrike" cap="none">
                <a:solidFill>
                  <a:srgbClr val="000000"/>
                </a:solidFill>
                <a:latin typeface="Raleway Medium"/>
                <a:ea typeface="Raleway Medium"/>
                <a:cs typeface="Raleway Medium"/>
                <a:sym typeface="Raleway Medium"/>
              </a:rPr>
              <a:t> Smart factories require a hybrid wireless architecture.</a:t>
            </a:r>
            <a:endParaRPr sz="1150" b="0" i="0" u="none" strike="noStrike" cap="none">
              <a:solidFill>
                <a:schemeClr val="dk1"/>
              </a:solidFill>
              <a:latin typeface="Calibri"/>
              <a:ea typeface="Calibri"/>
              <a:cs typeface="Calibri"/>
              <a:sym typeface="Calibri"/>
            </a:endParaRPr>
          </a:p>
        </p:txBody>
      </p:sp>
      <p:sp>
        <p:nvSpPr>
          <p:cNvPr id="316" name="Google Shape;316;p20"/>
          <p:cNvSpPr/>
          <p:nvPr/>
        </p:nvSpPr>
        <p:spPr>
          <a:xfrm>
            <a:off x="540023" y="1503090"/>
            <a:ext cx="8063954" cy="2342629"/>
          </a:xfrm>
          <a:prstGeom prst="roundRect">
            <a:avLst>
              <a:gd name="adj" fmla="val 9417"/>
            </a:avLst>
          </a:prstGeom>
          <a:noFill/>
          <a:ln w="9525" cap="flat" cmpd="sng">
            <a:solidFill>
              <a:srgbClr val="000000">
                <a:alpha val="7843"/>
              </a:srgbClr>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7" name="Google Shape;317;p20"/>
          <p:cNvSpPr/>
          <p:nvPr/>
        </p:nvSpPr>
        <p:spPr>
          <a:xfrm>
            <a:off x="69197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Standard</a:t>
            </a:r>
            <a:endParaRPr sz="1150" b="0" i="0" u="none" strike="noStrike" cap="none">
              <a:solidFill>
                <a:schemeClr val="dk1"/>
              </a:solidFill>
              <a:latin typeface="Calibri"/>
              <a:ea typeface="Calibri"/>
              <a:cs typeface="Calibri"/>
              <a:sym typeface="Calibri"/>
            </a:endParaRPr>
          </a:p>
        </p:txBody>
      </p:sp>
      <p:sp>
        <p:nvSpPr>
          <p:cNvPr id="318" name="Google Shape;318;p20"/>
          <p:cNvSpPr/>
          <p:nvPr/>
        </p:nvSpPr>
        <p:spPr>
          <a:xfrm>
            <a:off x="2949550" y="1596703"/>
            <a:ext cx="3702248"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Best Suited For</a:t>
            </a:r>
            <a:endParaRPr sz="1150" b="0" i="0" u="none" strike="noStrike" cap="none">
              <a:solidFill>
                <a:schemeClr val="dk1"/>
              </a:solidFill>
              <a:latin typeface="Calibri"/>
              <a:ea typeface="Calibri"/>
              <a:cs typeface="Calibri"/>
              <a:sym typeface="Calibri"/>
            </a:endParaRPr>
          </a:p>
        </p:txBody>
      </p:sp>
      <p:sp>
        <p:nvSpPr>
          <p:cNvPr id="319" name="Google Shape;319;p20"/>
          <p:cNvSpPr/>
          <p:nvPr/>
        </p:nvSpPr>
        <p:spPr>
          <a:xfrm>
            <a:off x="649344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Main Limitation</a:t>
            </a:r>
            <a:endParaRPr sz="1150" b="0" i="0" u="none" strike="noStrike" cap="none">
              <a:solidFill>
                <a:schemeClr val="dk1"/>
              </a:solidFill>
              <a:latin typeface="Calibri"/>
              <a:ea typeface="Calibri"/>
              <a:cs typeface="Calibri"/>
              <a:sym typeface="Calibri"/>
            </a:endParaRPr>
          </a:p>
        </p:txBody>
      </p:sp>
      <p:sp>
        <p:nvSpPr>
          <p:cNvPr id="320" name="Google Shape;320;p20"/>
          <p:cNvSpPr/>
          <p:nvPr/>
        </p:nvSpPr>
        <p:spPr>
          <a:xfrm>
            <a:off x="691976" y="2008882"/>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Wi-Fi 6/7</a:t>
            </a:r>
            <a:endParaRPr sz="1150" b="0" i="0" u="none" strike="noStrike" cap="none">
              <a:solidFill>
                <a:schemeClr val="dk1"/>
              </a:solidFill>
              <a:latin typeface="Calibri"/>
              <a:ea typeface="Calibri"/>
              <a:cs typeface="Calibri"/>
              <a:sym typeface="Calibri"/>
            </a:endParaRPr>
          </a:p>
        </p:txBody>
      </p:sp>
      <p:sp>
        <p:nvSpPr>
          <p:cNvPr id="321" name="Google Shape;321;p20"/>
          <p:cNvSpPr/>
          <p:nvPr/>
        </p:nvSpPr>
        <p:spPr>
          <a:xfrm>
            <a:off x="2949550" y="2008882"/>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High-bandwidth mobile tasks: AGVs, machine vision, video monitoring</a:t>
            </a:r>
            <a:endParaRPr sz="1150" b="0" i="0" u="none" strike="noStrike" cap="none">
              <a:solidFill>
                <a:schemeClr val="dk1"/>
              </a:solidFill>
              <a:latin typeface="Calibri"/>
              <a:ea typeface="Calibri"/>
              <a:cs typeface="Calibri"/>
              <a:sym typeface="Calibri"/>
            </a:endParaRPr>
          </a:p>
        </p:txBody>
      </p:sp>
      <p:sp>
        <p:nvSpPr>
          <p:cNvPr id="322" name="Google Shape;322;p20"/>
          <p:cNvSpPr/>
          <p:nvPr/>
        </p:nvSpPr>
        <p:spPr>
          <a:xfrm>
            <a:off x="6493446" y="2008882"/>
            <a:ext cx="1958727"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Shared spectrum, variable reliability</a:t>
            </a:r>
            <a:endParaRPr sz="1150" b="0" i="0" u="none" strike="noStrike" cap="none">
              <a:solidFill>
                <a:schemeClr val="dk1"/>
              </a:solidFill>
              <a:latin typeface="Calibri"/>
              <a:ea typeface="Calibri"/>
              <a:cs typeface="Calibri"/>
              <a:sym typeface="Calibri"/>
            </a:endParaRPr>
          </a:p>
        </p:txBody>
      </p:sp>
      <p:sp>
        <p:nvSpPr>
          <p:cNvPr id="323" name="Google Shape;323;p20"/>
          <p:cNvSpPr/>
          <p:nvPr/>
        </p:nvSpPr>
        <p:spPr>
          <a:xfrm>
            <a:off x="69197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Zigbee</a:t>
            </a:r>
            <a:endParaRPr sz="1150" b="0" i="0" u="none" strike="noStrike" cap="none">
              <a:solidFill>
                <a:schemeClr val="dk1"/>
              </a:solidFill>
              <a:latin typeface="Calibri"/>
              <a:ea typeface="Calibri"/>
              <a:cs typeface="Calibri"/>
              <a:sym typeface="Calibri"/>
            </a:endParaRPr>
          </a:p>
        </p:txBody>
      </p:sp>
      <p:sp>
        <p:nvSpPr>
          <p:cNvPr id="324" name="Google Shape;324;p20"/>
          <p:cNvSpPr/>
          <p:nvPr/>
        </p:nvSpPr>
        <p:spPr>
          <a:xfrm>
            <a:off x="2949550" y="2650778"/>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Low-power sensors: environmental monitoring, asset tracking</a:t>
            </a:r>
            <a:endParaRPr sz="1150" b="0" i="0" u="none" strike="noStrike" cap="none">
              <a:solidFill>
                <a:schemeClr val="dk1"/>
              </a:solidFill>
              <a:latin typeface="Calibri"/>
              <a:ea typeface="Calibri"/>
              <a:cs typeface="Calibri"/>
              <a:sym typeface="Calibri"/>
            </a:endParaRPr>
          </a:p>
        </p:txBody>
      </p:sp>
      <p:sp>
        <p:nvSpPr>
          <p:cNvPr id="325" name="Google Shape;325;p20"/>
          <p:cNvSpPr/>
          <p:nvPr/>
        </p:nvSpPr>
        <p:spPr>
          <a:xfrm>
            <a:off x="649344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 data rate</a:t>
            </a:r>
            <a:endParaRPr sz="1150" b="0" i="0" u="none" strike="noStrike" cap="none">
              <a:solidFill>
                <a:schemeClr val="dk1"/>
              </a:solidFill>
              <a:latin typeface="Calibri"/>
              <a:ea typeface="Calibri"/>
              <a:cs typeface="Calibri"/>
              <a:sym typeface="Calibri"/>
            </a:endParaRPr>
          </a:p>
        </p:txBody>
      </p:sp>
      <p:sp>
        <p:nvSpPr>
          <p:cNvPr id="326" name="Google Shape;326;p20"/>
          <p:cNvSpPr/>
          <p:nvPr/>
        </p:nvSpPr>
        <p:spPr>
          <a:xfrm>
            <a:off x="69197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5G NR</a:t>
            </a:r>
            <a:endParaRPr sz="1150" b="0" i="0" u="none" strike="noStrike" cap="none">
              <a:solidFill>
                <a:schemeClr val="dk1"/>
              </a:solidFill>
              <a:latin typeface="Calibri"/>
              <a:ea typeface="Calibri"/>
              <a:cs typeface="Calibri"/>
              <a:sym typeface="Calibri"/>
            </a:endParaRPr>
          </a:p>
        </p:txBody>
      </p:sp>
      <p:sp>
        <p:nvSpPr>
          <p:cNvPr id="327" name="Google Shape;327;p20"/>
          <p:cNvSpPr/>
          <p:nvPr/>
        </p:nvSpPr>
        <p:spPr>
          <a:xfrm>
            <a:off x="2949550" y="3292673"/>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Real-time control via URLLC in private campus networks</a:t>
            </a:r>
            <a:endParaRPr sz="1150" b="0" i="0" u="none" strike="noStrike" cap="none">
              <a:solidFill>
                <a:schemeClr val="dk1"/>
              </a:solidFill>
              <a:latin typeface="Calibri"/>
              <a:ea typeface="Calibri"/>
              <a:cs typeface="Calibri"/>
              <a:sym typeface="Calibri"/>
            </a:endParaRPr>
          </a:p>
        </p:txBody>
      </p:sp>
      <p:sp>
        <p:nvSpPr>
          <p:cNvPr id="328" name="Google Shape;328;p20"/>
          <p:cNvSpPr/>
          <p:nvPr/>
        </p:nvSpPr>
        <p:spPr>
          <a:xfrm>
            <a:off x="649344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Higher cost &amp; complexity</a:t>
            </a:r>
            <a:endParaRPr sz="1150" b="0" i="0" u="none" strike="noStrike" cap="none">
              <a:solidFill>
                <a:schemeClr val="dk1"/>
              </a:solidFill>
              <a:latin typeface="Calibri"/>
              <a:ea typeface="Calibri"/>
              <a:cs typeface="Calibri"/>
              <a:sym typeface="Calibri"/>
            </a:endParaRPr>
          </a:p>
        </p:txBody>
      </p:sp>
      <p:sp>
        <p:nvSpPr>
          <p:cNvPr id="329" name="Google Shape;329;p20"/>
          <p:cNvSpPr/>
          <p:nvPr/>
        </p:nvSpPr>
        <p:spPr>
          <a:xfrm>
            <a:off x="540023" y="4003402"/>
            <a:ext cx="8063954" cy="555501"/>
          </a:xfrm>
          <a:prstGeom prst="roundRect">
            <a:avLst>
              <a:gd name="adj" fmla="val 39713"/>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30" name="Google Shape;330;p20" descr="preencoded.png"/>
          <p:cNvPicPr preferRelativeResize="0"/>
          <p:nvPr/>
        </p:nvPicPr>
        <p:blipFill rotWithShape="1">
          <a:blip r:embed="rId3">
            <a:alphaModFix/>
          </a:blip>
          <a:srcRect/>
          <a:stretch/>
        </p:blipFill>
        <p:spPr>
          <a:xfrm>
            <a:off x="687065" y="4210943"/>
            <a:ext cx="183803" cy="147042"/>
          </a:xfrm>
          <a:prstGeom prst="rect">
            <a:avLst/>
          </a:prstGeom>
          <a:noFill/>
          <a:ln>
            <a:noFill/>
          </a:ln>
        </p:spPr>
      </p:pic>
      <p:sp>
        <p:nvSpPr>
          <p:cNvPr id="331" name="Google Shape;331;p20"/>
          <p:cNvSpPr/>
          <p:nvPr/>
        </p:nvSpPr>
        <p:spPr>
          <a:xfrm>
            <a:off x="1017910" y="4166295"/>
            <a:ext cx="7896225"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Key Takeaway:</a:t>
            </a:r>
            <a:r>
              <a:rPr lang="en" sz="1150" b="0" i="0" u="none" strike="noStrike" cap="none">
                <a:solidFill>
                  <a:srgbClr val="000000"/>
                </a:solidFill>
                <a:latin typeface="Raleway Medium"/>
                <a:ea typeface="Raleway Medium"/>
                <a:cs typeface="Raleway Medium"/>
                <a:sym typeface="Raleway Medium"/>
              </a:rPr>
              <a:t> The optimal solution combines all three — matching each standard to its ideal use case.</a:t>
            </a:r>
            <a:endParaRPr sz="1150" b="0" i="0" u="none" strike="noStrike" cap="none">
              <a:solidFill>
                <a:schemeClr val="dk1"/>
              </a:solidFill>
              <a:latin typeface="Calibri"/>
              <a:ea typeface="Calibri"/>
              <a:cs typeface="Calibri"/>
              <a:sym typeface="Calibri"/>
            </a:endParaRPr>
          </a:p>
        </p:txBody>
      </p:sp>
      <p:pic>
        <p:nvPicPr>
          <p:cNvPr id="332" name="Google Shape;332;p20"/>
          <p:cNvPicPr preferRelativeResize="0"/>
          <p:nvPr/>
        </p:nvPicPr>
        <p:blipFill rotWithShape="1">
          <a:blip r:embed="rId4">
            <a:alphaModFix/>
          </a:blip>
          <a:srcRect/>
          <a:stretch/>
        </p:blipFill>
        <p:spPr>
          <a:xfrm>
            <a:off x="6966825" y="4734975"/>
            <a:ext cx="2177175" cy="4085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1"/>
          <p:cNvSpPr/>
          <p:nvPr/>
        </p:nvSpPr>
        <p:spPr>
          <a:xfrm>
            <a:off x="875109" y="452884"/>
            <a:ext cx="7672908" cy="33486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100"/>
              <a:buFont typeface="Comfortaa"/>
              <a:buNone/>
            </a:pPr>
            <a:r>
              <a:rPr lang="en" sz="2100" b="1" i="0" u="none" strike="noStrike" cap="none">
                <a:solidFill>
                  <a:srgbClr val="1B2DBA"/>
                </a:solidFill>
                <a:latin typeface="Comfortaa"/>
                <a:ea typeface="Comfortaa"/>
                <a:cs typeface="Comfortaa"/>
                <a:sym typeface="Comfortaa"/>
              </a:rPr>
              <a:t>Future Direction: Toward Reliable Wireless Factories</a:t>
            </a:r>
            <a:endParaRPr sz="2100" b="0" i="0" u="none" strike="noStrike" cap="none">
              <a:solidFill>
                <a:schemeClr val="dk1"/>
              </a:solidFill>
              <a:latin typeface="Calibri"/>
              <a:ea typeface="Calibri"/>
              <a:cs typeface="Calibri"/>
              <a:sym typeface="Calibri"/>
            </a:endParaRPr>
          </a:p>
        </p:txBody>
      </p:sp>
      <p:pic>
        <p:nvPicPr>
          <p:cNvPr id="339" name="Google Shape;339;p21" descr="preencoded.png"/>
          <p:cNvPicPr preferRelativeResize="0"/>
          <p:nvPr/>
        </p:nvPicPr>
        <p:blipFill rotWithShape="1">
          <a:blip r:embed="rId3">
            <a:alphaModFix/>
          </a:blip>
          <a:srcRect/>
          <a:stretch/>
        </p:blipFill>
        <p:spPr>
          <a:xfrm>
            <a:off x="875109" y="1023262"/>
            <a:ext cx="3549848" cy="3549848"/>
          </a:xfrm>
          <a:prstGeom prst="rect">
            <a:avLst/>
          </a:prstGeom>
          <a:noFill/>
          <a:ln>
            <a:noFill/>
          </a:ln>
        </p:spPr>
      </p:pic>
      <p:sp>
        <p:nvSpPr>
          <p:cNvPr id="340" name="Google Shape;340;p21"/>
          <p:cNvSpPr/>
          <p:nvPr/>
        </p:nvSpPr>
        <p:spPr>
          <a:xfrm>
            <a:off x="4723805" y="1990874"/>
            <a:ext cx="2140669" cy="167432"/>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050"/>
              <a:buFont typeface="Comfortaa"/>
              <a:buNone/>
            </a:pPr>
            <a:r>
              <a:rPr lang="en" sz="1050" b="1" i="0" u="none" strike="noStrike" cap="none">
                <a:solidFill>
                  <a:srgbClr val="1B2DBA"/>
                </a:solidFill>
                <a:latin typeface="Comfortaa"/>
                <a:ea typeface="Comfortaa"/>
                <a:cs typeface="Comfortaa"/>
                <a:sym typeface="Comfortaa"/>
              </a:rPr>
              <a:t>Challenges Still to Solve</a:t>
            </a:r>
            <a:endParaRPr sz="1050" b="0" i="0" u="none" strike="noStrike" cap="none">
              <a:solidFill>
                <a:schemeClr val="dk1"/>
              </a:solidFill>
              <a:latin typeface="Calibri"/>
              <a:ea typeface="Calibri"/>
              <a:cs typeface="Calibri"/>
              <a:sym typeface="Calibri"/>
            </a:endParaRPr>
          </a:p>
        </p:txBody>
      </p:sp>
      <p:sp>
        <p:nvSpPr>
          <p:cNvPr id="341" name="Google Shape;341;p21"/>
          <p:cNvSpPr/>
          <p:nvPr/>
        </p:nvSpPr>
        <p:spPr>
          <a:xfrm>
            <a:off x="4723805" y="2252439"/>
            <a:ext cx="3549848" cy="785664"/>
          </a:xfrm>
          <a:prstGeom prst="rect">
            <a:avLst/>
          </a:prstGeom>
          <a:noFill/>
          <a:ln>
            <a:noFill/>
          </a:ln>
        </p:spPr>
        <p:txBody>
          <a:bodyPr spcFirstLastPara="1" wrap="square" lIns="0" tIns="0" rIns="0" bIns="0" anchor="t" anchorCtr="0">
            <a:noAutofit/>
          </a:bodyPr>
          <a:lstStyle/>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EMI and metal reflections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2.4 GHz band congestion</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Cybersecurity risks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Deterministic timing gaps</a:t>
            </a:r>
            <a:endParaRPr sz="900" b="0" i="0" u="none" strike="noStrike" cap="none">
              <a:solidFill>
                <a:schemeClr val="dk1"/>
              </a:solidFill>
              <a:latin typeface="Calibri"/>
              <a:ea typeface="Calibri"/>
              <a:cs typeface="Calibri"/>
              <a:sym typeface="Calibri"/>
            </a:endParaRPr>
          </a:p>
        </p:txBody>
      </p:sp>
      <p:sp>
        <p:nvSpPr>
          <p:cNvPr id="342" name="Google Shape;342;p21"/>
          <p:cNvSpPr/>
          <p:nvPr/>
        </p:nvSpPr>
        <p:spPr>
          <a:xfrm>
            <a:off x="4723805" y="3122861"/>
            <a:ext cx="3549848" cy="515243"/>
          </a:xfrm>
          <a:prstGeom prst="rect">
            <a:avLst/>
          </a:prstGeom>
          <a:noFill/>
          <a:ln>
            <a:noFill/>
          </a:ln>
        </p:spPr>
        <p:txBody>
          <a:bodyPr spcFirstLastPara="1" wrap="square" lIns="0" tIns="0" rIns="0" bIns="0" anchor="t" anchorCtr="0">
            <a:noAutofit/>
          </a:bodyPr>
          <a:lstStyle/>
          <a:p>
            <a:pPr marL="0" marR="0" lvl="0" indent="0" algn="l" rtl="0">
              <a:lnSpc>
                <a:spcPct val="119000"/>
              </a:lnSpc>
              <a:spcBef>
                <a:spcPts val="0"/>
              </a:spcBef>
              <a:spcAft>
                <a:spcPts val="0"/>
              </a:spcAft>
              <a:buClr>
                <a:srgbClr val="000000"/>
              </a:buClr>
              <a:buSzPts val="900"/>
              <a:buFont typeface="Raleway Medium"/>
              <a:buNone/>
            </a:pPr>
            <a:r>
              <a:rPr lang="en" sz="900" b="0" i="0" u="none" strike="noStrike" cap="none">
                <a:solidFill>
                  <a:srgbClr val="000000"/>
                </a:solidFill>
                <a:latin typeface="Raleway Medium"/>
                <a:ea typeface="Raleway Medium"/>
                <a:cs typeface="Raleway Medium"/>
                <a:sym typeface="Raleway Medium"/>
              </a:rPr>
              <a:t>Wi-Fi 7, private 5G, and Wireless TSN are closing the gap with wired systems. </a:t>
            </a:r>
            <a:r>
              <a:rPr lang="en" sz="900" b="1" i="0" u="none" strike="noStrike" cap="none">
                <a:solidFill>
                  <a:srgbClr val="000000"/>
                </a:solidFill>
                <a:latin typeface="Raleway Medium"/>
                <a:ea typeface="Raleway Medium"/>
                <a:cs typeface="Raleway Medium"/>
                <a:sym typeface="Raleway Medium"/>
              </a:rPr>
              <a:t>Wireless won't replace every cable — but it will become central to flexible, mobile Industry 4.0 factories.</a:t>
            </a:r>
            <a:endParaRPr sz="900" b="0" i="0" u="none" strike="noStrike" cap="none">
              <a:solidFill>
                <a:schemeClr val="dk1"/>
              </a:solidFill>
              <a:latin typeface="Calibri"/>
              <a:ea typeface="Calibri"/>
              <a:cs typeface="Calibri"/>
              <a:sym typeface="Calibri"/>
            </a:endParaRPr>
          </a:p>
        </p:txBody>
      </p:sp>
      <p:pic>
        <p:nvPicPr>
          <p:cNvPr id="343" name="Google Shape;343;p21"/>
          <p:cNvPicPr preferRelativeResize="0"/>
          <p:nvPr/>
        </p:nvPicPr>
        <p:blipFill rotWithShape="1">
          <a:blip r:embed="rId4">
            <a:alphaModFix/>
          </a:blip>
          <a:srcRect/>
          <a:stretch/>
        </p:blipFill>
        <p:spPr>
          <a:xfrm>
            <a:off x="6966825" y="4808625"/>
            <a:ext cx="2177175" cy="334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3" name="Google Shape;103;p1"/>
          <p:cNvSpPr/>
          <p:nvPr/>
        </p:nvSpPr>
        <p:spPr>
          <a:xfrm>
            <a:off x="3969023" y="1168400"/>
            <a:ext cx="998860" cy="290066"/>
          </a:xfrm>
          <a:prstGeom prst="roundRect">
            <a:avLst>
              <a:gd name="adj" fmla="val 63836"/>
            </a:avLst>
          </a:prstGeom>
          <a:solidFill>
            <a:srgbClr val="E6E6E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
          <p:cNvSpPr/>
          <p:nvPr/>
        </p:nvSpPr>
        <p:spPr>
          <a:xfrm>
            <a:off x="4061594" y="1219200"/>
            <a:ext cx="1270918" cy="19749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950" b="0" i="0" u="none" strike="noStrike" cap="none">
                <a:solidFill>
                  <a:srgbClr val="000000"/>
                </a:solidFill>
                <a:latin typeface="Raleway Medium"/>
                <a:ea typeface="Raleway Medium"/>
                <a:cs typeface="Raleway Medium"/>
                <a:sym typeface="Raleway Medium"/>
              </a:rPr>
              <a:t>DISCUSSION</a:t>
            </a:r>
          </a:p>
        </p:txBody>
      </p:sp>
      <p:sp>
        <p:nvSpPr>
          <p:cNvPr id="105" name="Google Shape;105;p1"/>
          <p:cNvSpPr/>
          <p:nvPr/>
        </p:nvSpPr>
        <p:spPr>
          <a:xfrm>
            <a:off x="3975100" y="1905000"/>
            <a:ext cx="4724400" cy="8890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None/>
            </a:pPr>
            <a:r>
              <a:rPr lang="en" sz="3600" b="1" i="0" u="none" strike="noStrike" cap="none">
                <a:solidFill>
                  <a:srgbClr val="1B2DBA"/>
                </a:solidFill>
                <a:latin typeface="Comfortaa"/>
                <a:ea typeface="Comfortaa"/>
                <a:cs typeface="Comfortaa"/>
                <a:sym typeface="Comfortaa"/>
              </a:rPr>
              <a:t>Thank You</a:t>
            </a:r>
          </a:p>
        </p:txBody>
      </p:sp>
      <p:sp>
        <p:nvSpPr>
          <p:cNvPr id="106" name="Google Shape;106;p1"/>
          <p:cNvSpPr/>
          <p:nvPr/>
        </p:nvSpPr>
        <p:spPr>
          <a:xfrm>
            <a:off x="3975100" y="2819400"/>
            <a:ext cx="4572000" cy="8890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None/>
            </a:pPr>
            <a:r>
              <a:rPr lang="en" sz="1600" b="0" i="0" u="none" strike="noStrike" cap="none">
                <a:solidFill>
                  <a:srgbClr val="595959"/>
                </a:solidFill>
                <a:latin typeface="Raleway Medium"/>
                <a:ea typeface="Raleway Medium"/>
                <a:cs typeface="Raleway Medium"/>
                <a:sym typeface="Raleway Medium"/>
              </a:rPr>
              <a:t>Questions and discussion welcome</a:t>
            </a:r>
          </a:p>
        </p:txBody>
      </p:sp>
      <p:pic>
        <p:nvPicPr>
          <p:cNvPr id="107" name="Google Shape;107;p1"/>
          <p:cNvPicPr preferRelativeResize="0"/>
          <p:nvPr/>
        </p:nvPicPr>
        <p:blipFill rotWithShape="1">
          <a:blip r:embed="rId3">
            <a:alphaModFix/>
          </a:blip>
          <a:srcRect/>
          <a:stretch/>
        </p:blipFill>
        <p:spPr>
          <a:xfrm>
            <a:off x="6966825" y="4337447"/>
            <a:ext cx="2177174" cy="806053"/>
          </a:xfrm>
          <a:prstGeom prst="rect">
            <a:avLst/>
          </a:prstGeom>
          <a:noFill/>
          <a:ln>
            <a:noFill/>
          </a:ln>
        </p:spPr>
      </p:pic>
      <p:sp>
        <p:nvSpPr>
          <p:cNvPr id="900" name="Band Base"/>
          <p:cNvSpPr/>
          <p:nvPr/>
        </p:nvSpPr>
        <p:spPr>
          <a:xfrm>
            <a:off x="0" y="0"/>
            <a:ext cx="3429000" cy="5143500"/>
          </a:xfrm>
          <a:prstGeom prst="rect">
            <a:avLst/>
          </a:prstGeom>
          <a:gradFill>
            <a:gsLst>
              <a:gs pos="0">
                <a:srgbClr val="2A3BCB"/>
              </a:gs>
              <a:gs pos="55000">
                <a:srgbClr val="1B2DBA"/>
              </a:gs>
              <a:gs pos="100000">
                <a:srgbClr val="0B1452"/>
              </a:gs>
            </a:gsLst>
            <a:lin ang="3600000" scaled="1"/>
          </a:gradFill>
          <a:ln>
            <a:noFill/>
          </a:ln>
        </p:spPr>
        <p:txBody>
          <a:bodyPr/>
          <a:lstStyle/>
          <a:p>
            <a:endParaRPr/>
          </a:p>
        </p:txBody>
      </p:sp>
      <p:sp>
        <p:nvSpPr>
          <p:cNvPr id="901" name="Ring"/>
          <p:cNvSpPr/>
          <p:nvPr/>
        </p:nvSpPr>
        <p:spPr>
          <a:xfrm>
            <a:off x="1270000" y="1778000"/>
            <a:ext cx="889000" cy="889000"/>
          </a:xfrm>
          <a:prstGeom prst="ellipse">
            <a:avLst/>
          </a:prstGeom>
          <a:noFill/>
          <a:ln w="19050">
            <a:solidFill>
              <a:srgbClr val="FFFFFF">
                <a:alpha val="30000"/>
              </a:srgbClr>
            </a:solidFill>
          </a:ln>
        </p:spPr>
        <p:txBody>
          <a:bodyPr/>
          <a:lstStyle/>
          <a:p>
            <a:endParaRPr/>
          </a:p>
        </p:txBody>
      </p:sp>
      <p:sp>
        <p:nvSpPr>
          <p:cNvPr id="902" name="Ring"/>
          <p:cNvSpPr/>
          <p:nvPr/>
        </p:nvSpPr>
        <p:spPr>
          <a:xfrm>
            <a:off x="927100" y="1435100"/>
            <a:ext cx="1574800" cy="1574800"/>
          </a:xfrm>
          <a:prstGeom prst="ellipse">
            <a:avLst/>
          </a:prstGeom>
          <a:noFill/>
          <a:ln w="19050">
            <a:solidFill>
              <a:srgbClr val="FFFFFF">
                <a:alpha val="22000"/>
              </a:srgbClr>
            </a:solidFill>
          </a:ln>
        </p:spPr>
        <p:txBody>
          <a:bodyPr/>
          <a:lstStyle/>
          <a:p>
            <a:endParaRPr/>
          </a:p>
        </p:txBody>
      </p:sp>
      <p:sp>
        <p:nvSpPr>
          <p:cNvPr id="903" name="Ring"/>
          <p:cNvSpPr/>
          <p:nvPr/>
        </p:nvSpPr>
        <p:spPr>
          <a:xfrm>
            <a:off x="571500" y="1079500"/>
            <a:ext cx="2286000" cy="2286000"/>
          </a:xfrm>
          <a:prstGeom prst="ellipse">
            <a:avLst/>
          </a:prstGeom>
          <a:noFill/>
          <a:ln w="19050">
            <a:solidFill>
              <a:srgbClr val="FFFFFF">
                <a:alpha val="15000"/>
              </a:srgbClr>
            </a:solidFill>
          </a:ln>
        </p:spPr>
        <p:txBody>
          <a:bodyPr/>
          <a:lstStyle/>
          <a:p>
            <a:endParaRPr/>
          </a:p>
        </p:txBody>
      </p:sp>
      <p:sp>
        <p:nvSpPr>
          <p:cNvPr id="904" name="Ring"/>
          <p:cNvSpPr/>
          <p:nvPr/>
        </p:nvSpPr>
        <p:spPr>
          <a:xfrm>
            <a:off x="190500" y="698500"/>
            <a:ext cx="3048000" cy="3048000"/>
          </a:xfrm>
          <a:prstGeom prst="ellipse">
            <a:avLst/>
          </a:prstGeom>
          <a:noFill/>
          <a:ln w="19050">
            <a:solidFill>
              <a:srgbClr val="FFFFFF">
                <a:alpha val="10000"/>
              </a:srgbClr>
            </a:solidFill>
          </a:ln>
        </p:spPr>
        <p:txBody>
          <a:bodyPr/>
          <a:lstStyle/>
          <a:p>
            <a:endParaRPr/>
          </a:p>
        </p:txBody>
      </p:sp>
      <p:sp>
        <p:nvSpPr>
          <p:cNvPr id="905" name="Node"/>
          <p:cNvSpPr/>
          <p:nvPr/>
        </p:nvSpPr>
        <p:spPr>
          <a:xfrm>
            <a:off x="1638300" y="2146300"/>
            <a:ext cx="152400" cy="152400"/>
          </a:xfrm>
          <a:prstGeom prst="ellipse">
            <a:avLst/>
          </a:prstGeom>
          <a:solidFill>
            <a:srgbClr val="FFFFFF">
              <a:alpha val="92000"/>
            </a:srgbClr>
          </a:solidFill>
          <a:ln>
            <a:noFill/>
          </a:ln>
        </p:spPr>
        <p:txBody>
          <a:bodyPr/>
          <a:lstStyle/>
          <a:p>
            <a:endParaRPr/>
          </a:p>
        </p:txBody>
      </p:sp>
      <p:sp>
        <p:nvSpPr>
          <p:cNvPr id="906" name="Dot"/>
          <p:cNvSpPr/>
          <p:nvPr/>
        </p:nvSpPr>
        <p:spPr>
          <a:xfrm>
            <a:off x="762000" y="3683000"/>
            <a:ext cx="101600" cy="101600"/>
          </a:xfrm>
          <a:prstGeom prst="ellipse">
            <a:avLst/>
          </a:prstGeom>
          <a:solidFill>
            <a:srgbClr val="FFFFFF">
              <a:alpha val="70000"/>
            </a:srgbClr>
          </a:solidFill>
          <a:ln>
            <a:noFill/>
          </a:ln>
        </p:spPr>
        <p:txBody>
          <a:bodyPr/>
          <a:lstStyle/>
          <a:p>
            <a:endParaRPr/>
          </a:p>
        </p:txBody>
      </p:sp>
      <p:sp>
        <p:nvSpPr>
          <p:cNvPr id="907" name="Dot"/>
          <p:cNvSpPr/>
          <p:nvPr/>
        </p:nvSpPr>
        <p:spPr>
          <a:xfrm>
            <a:off x="1778000" y="4191000"/>
            <a:ext cx="101600" cy="101600"/>
          </a:xfrm>
          <a:prstGeom prst="ellipse">
            <a:avLst/>
          </a:prstGeom>
          <a:solidFill>
            <a:srgbClr val="FFFFFF">
              <a:alpha val="70000"/>
            </a:srgbClr>
          </a:solidFill>
          <a:ln>
            <a:noFill/>
          </a:ln>
        </p:spPr>
        <p:txBody>
          <a:bodyPr/>
          <a:lstStyle/>
          <a:p>
            <a:endParaRPr/>
          </a:p>
        </p:txBody>
      </p:sp>
      <p:sp>
        <p:nvSpPr>
          <p:cNvPr id="908" name="Dot"/>
          <p:cNvSpPr/>
          <p:nvPr/>
        </p:nvSpPr>
        <p:spPr>
          <a:xfrm>
            <a:off x="2603500" y="4572000"/>
            <a:ext cx="101600" cy="101600"/>
          </a:xfrm>
          <a:prstGeom prst="ellipse">
            <a:avLst/>
          </a:prstGeom>
          <a:solidFill>
            <a:srgbClr val="FFFFFF">
              <a:alpha val="70000"/>
            </a:srgbClr>
          </a:solidFill>
          <a:ln>
            <a:noFill/>
          </a:ln>
        </p:spPr>
        <p:txBody>
          <a:bodyPr/>
          <a:lstStyle/>
          <a:p>
            <a:endParaRPr/>
          </a:p>
        </p:txBody>
      </p:sp>
      <p:cxnSp>
        <p:nvCxnSpPr>
          <p:cNvPr id="909" name="Link909"/>
          <p:cNvCxnSpPr/>
          <p:nvPr/>
        </p:nvCxnSpPr>
        <p:spPr>
          <a:xfrm>
            <a:off x="812800" y="3733800"/>
            <a:ext cx="1016000" cy="508000"/>
          </a:xfrm>
          <a:prstGeom prst="line">
            <a:avLst/>
          </a:prstGeom>
          <a:ln w="9525">
            <a:solidFill>
              <a:srgbClr val="FFFFFF">
                <a:alpha val="25000"/>
              </a:srgbClr>
            </a:solidFill>
          </a:ln>
        </p:spPr>
      </p:cxnSp>
      <p:cxnSp>
        <p:nvCxnSpPr>
          <p:cNvPr id="910" name="Link910"/>
          <p:cNvCxnSpPr/>
          <p:nvPr/>
        </p:nvCxnSpPr>
        <p:spPr>
          <a:xfrm>
            <a:off x="1828800" y="4241800"/>
            <a:ext cx="825500" cy="381000"/>
          </a:xfrm>
          <a:prstGeom prst="line">
            <a:avLst/>
          </a:prstGeom>
          <a:ln w="9525">
            <a:solidFill>
              <a:srgbClr val="FFFFFF">
                <a:alpha val="25000"/>
              </a:srgbClr>
            </a:solidFill>
          </a:ln>
        </p:spPr>
      </p:cxnSp>
    </p:spTree>
    <p:extLst>
      <p:ext uri="{BB962C8B-B14F-4D97-AF65-F5344CB8AC3E}">
        <p14:creationId xmlns:p14="http://schemas.microsoft.com/office/powerpoint/2010/main" val="3782094657"/>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56CE767-4A79-1546-A3AF-216F7DCDCF42}">
  <we:reference id="wa200010001" version="1.0.0.1" store="en-US" storeType="OMEX"/>
  <we:alternateReferences>
    <we:reference id="WA200010001" version="1.0.0.1" store="WA200010001" storeType="OMEX"/>
  </we:alternateReferences>
  <we:properties>
    <we:property name="claude.fileId" value="&quot;60cad7ae-2fc8-49b7-871c-05b8dcfce40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411</TotalTime>
  <Words>1323</Words>
  <Application>Microsoft Macintosh PowerPoint</Application>
  <PresentationFormat>On-screen Show (16:9)</PresentationFormat>
  <Paragraphs>185</Paragraphs>
  <Slides>21</Slides>
  <Notes>21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21</vt:i4>
      </vt:variant>
    </vt:vector>
  </HeadingPairs>
  <TitlesOfParts>
    <vt:vector size="27" baseType="lpstr">
      <vt:lpstr>Comfortaa</vt:lpstr>
      <vt:lpstr>Arial</vt:lpstr>
      <vt:lpstr>Raleway Medium</vt:lpstr>
      <vt:lpstr>Calibri</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victor odaudu</cp:lastModifiedBy>
  <cp:revision>2</cp:revision>
  <dcterms:modified xsi:type="dcterms:W3CDTF">2026-06-16T14:43:10Z</dcterms:modified>
</cp:coreProperties>
</file>